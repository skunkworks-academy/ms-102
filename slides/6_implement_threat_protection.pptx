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8263"/>
  <p:notesSz cx="5148263"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23CB63-A529-4A8B-87D5-9E1913691531}" v="10" dt="2025-12-18T22:12:14.983"/>
  </p1510:revLst>
</p1510:revInfo>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9370" autoAdjust="0"/>
  </p:normalViewPr>
  <p:slideViewPr>
    <p:cSldViewPr snapToGrid="0" snapToObjects="1">
      <p:cViewPr varScale="1">
        <p:scale>
          <a:sx n="90" d="100"/>
          <a:sy n="90" d="100"/>
        </p:scale>
        <p:origin x="125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ydo Matthee" userId="259e028f13680ef9" providerId="LiveId" clId="{6AC1AFA1-16AA-487C-B473-8260DD30DC01}"/>
    <pc:docChg chg="undo custSel modSld">
      <pc:chgData name="Raydo Matthee" userId="259e028f13680ef9" providerId="LiveId" clId="{6AC1AFA1-16AA-487C-B473-8260DD30DC01}" dt="2025-12-18T22:11:58.103" v="61" actId="20577"/>
      <pc:docMkLst>
        <pc:docMk/>
      </pc:docMkLst>
      <pc:sldChg chg="addSp delSp modSp mod setBg setClrOvrMap modNotesTx">
        <pc:chgData name="Raydo Matthee" userId="259e028f13680ef9" providerId="LiveId" clId="{6AC1AFA1-16AA-487C-B473-8260DD30DC01}" dt="2025-12-18T22:11:58.103" v="61" actId="20577"/>
        <pc:sldMkLst>
          <pc:docMk/>
          <pc:sldMk cId="0" sldId="256"/>
        </pc:sldMkLst>
        <pc:spChg chg="mod">
          <ac:chgData name="Raydo Matthee" userId="259e028f13680ef9" providerId="LiveId" clId="{6AC1AFA1-16AA-487C-B473-8260DD30DC01}" dt="2025-12-18T21:45:25.065" v="8" actId="26606"/>
          <ac:spMkLst>
            <pc:docMk/>
            <pc:sldMk cId="0" sldId="256"/>
            <ac:spMk id="2" creationId="{00000000-0000-0000-0000-000000000000}"/>
          </ac:spMkLst>
        </pc:spChg>
        <pc:spChg chg="mod ord">
          <ac:chgData name="Raydo Matthee" userId="259e028f13680ef9" providerId="LiveId" clId="{6AC1AFA1-16AA-487C-B473-8260DD30DC01}" dt="2025-12-18T21:45:30.433" v="10" actId="403"/>
          <ac:spMkLst>
            <pc:docMk/>
            <pc:sldMk cId="0" sldId="256"/>
            <ac:spMk id="3" creationId="{00000000-0000-0000-0000-000000000000}"/>
          </ac:spMkLst>
        </pc:spChg>
        <pc:spChg chg="mod">
          <ac:chgData name="Raydo Matthee" userId="259e028f13680ef9" providerId="LiveId" clId="{6AC1AFA1-16AA-487C-B473-8260DD30DC01}" dt="2025-12-18T21:45:25.065" v="8" actId="26606"/>
          <ac:spMkLst>
            <pc:docMk/>
            <pc:sldMk cId="0" sldId="256"/>
            <ac:spMk id="5" creationId="{00000000-0000-0000-0000-000000000000}"/>
          </ac:spMkLst>
        </pc:spChg>
        <pc:spChg chg="add del">
          <ac:chgData name="Raydo Matthee" userId="259e028f13680ef9" providerId="LiveId" clId="{6AC1AFA1-16AA-487C-B473-8260DD30DC01}" dt="2025-12-18T21:45:14.839" v="3" actId="26606"/>
          <ac:spMkLst>
            <pc:docMk/>
            <pc:sldMk cId="0" sldId="256"/>
            <ac:spMk id="10" creationId="{3AFE8227-C443-417B-BA91-520EB1EF4559}"/>
          </ac:spMkLst>
        </pc:spChg>
        <pc:spChg chg="add del">
          <ac:chgData name="Raydo Matthee" userId="259e028f13680ef9" providerId="LiveId" clId="{6AC1AFA1-16AA-487C-B473-8260DD30DC01}" dt="2025-12-18T21:45:14.839" v="3" actId="26606"/>
          <ac:spMkLst>
            <pc:docMk/>
            <pc:sldMk cId="0" sldId="256"/>
            <ac:spMk id="12" creationId="{907741FC-B544-4A6E-B831-6789D042333D}"/>
          </ac:spMkLst>
        </pc:spChg>
        <pc:spChg chg="add del">
          <ac:chgData name="Raydo Matthee" userId="259e028f13680ef9" providerId="LiveId" clId="{6AC1AFA1-16AA-487C-B473-8260DD30DC01}" dt="2025-12-18T21:45:14.839" v="3" actId="26606"/>
          <ac:spMkLst>
            <pc:docMk/>
            <pc:sldMk cId="0" sldId="256"/>
            <ac:spMk id="14" creationId="{3F0BE7ED-7814-4273-B18A-F26CC0380380}"/>
          </ac:spMkLst>
        </pc:spChg>
        <pc:spChg chg="add del">
          <ac:chgData name="Raydo Matthee" userId="259e028f13680ef9" providerId="LiveId" clId="{6AC1AFA1-16AA-487C-B473-8260DD30DC01}" dt="2025-12-18T21:45:21.052" v="5" actId="26606"/>
          <ac:spMkLst>
            <pc:docMk/>
            <pc:sldMk cId="0" sldId="256"/>
            <ac:spMk id="16" creationId="{04812C46-200A-4DEB-A05E-3ED6C68C2387}"/>
          </ac:spMkLst>
        </pc:spChg>
        <pc:spChg chg="add del">
          <ac:chgData name="Raydo Matthee" userId="259e028f13680ef9" providerId="LiveId" clId="{6AC1AFA1-16AA-487C-B473-8260DD30DC01}" dt="2025-12-18T21:45:21.052" v="5" actId="26606"/>
          <ac:spMkLst>
            <pc:docMk/>
            <pc:sldMk cId="0" sldId="256"/>
            <ac:spMk id="17" creationId="{D1EA859B-E555-4109-94F3-6700E046E008}"/>
          </ac:spMkLst>
        </pc:spChg>
        <pc:spChg chg="add del">
          <ac:chgData name="Raydo Matthee" userId="259e028f13680ef9" providerId="LiveId" clId="{6AC1AFA1-16AA-487C-B473-8260DD30DC01}" dt="2025-12-18T21:45:24.954" v="7" actId="26606"/>
          <ac:spMkLst>
            <pc:docMk/>
            <pc:sldMk cId="0" sldId="256"/>
            <ac:spMk id="19" creationId="{9228552E-C8B1-4A80-8448-0787CE0FC704}"/>
          </ac:spMkLst>
        </pc:spChg>
        <pc:spChg chg="add">
          <ac:chgData name="Raydo Matthee" userId="259e028f13680ef9" providerId="LiveId" clId="{6AC1AFA1-16AA-487C-B473-8260DD30DC01}" dt="2025-12-18T21:45:25.065" v="8" actId="26606"/>
          <ac:spMkLst>
            <pc:docMk/>
            <pc:sldMk cId="0" sldId="256"/>
            <ac:spMk id="21" creationId="{8F90786E-B72D-4C32-BDCE-A170B007822D}"/>
          </ac:spMkLst>
        </pc:spChg>
        <pc:spChg chg="add">
          <ac:chgData name="Raydo Matthee" userId="259e028f13680ef9" providerId="LiveId" clId="{6AC1AFA1-16AA-487C-B473-8260DD30DC01}" dt="2025-12-18T21:45:25.065" v="8" actId="26606"/>
          <ac:spMkLst>
            <pc:docMk/>
            <pc:sldMk cId="0" sldId="256"/>
            <ac:spMk id="22" creationId="{5E46F2E7-848F-4A6C-A098-4764FDEA771A}"/>
          </ac:spMkLst>
        </pc:spChg>
        <pc:picChg chg="mod ord">
          <ac:chgData name="Raydo Matthee" userId="259e028f13680ef9" providerId="LiveId" clId="{6AC1AFA1-16AA-487C-B473-8260DD30DC01}" dt="2025-12-18T21:45:25.065" v="8" actId="26606"/>
          <ac:picMkLst>
            <pc:docMk/>
            <pc:sldMk cId="0" sldId="256"/>
            <ac:picMk id="4" creationId="{00000000-0000-0000-0000-000000000000}"/>
          </ac:picMkLst>
        </pc:picChg>
      </pc:sldChg>
      <pc:sldChg chg="addSp delSp modSp mod setBg">
        <pc:chgData name="Raydo Matthee" userId="259e028f13680ef9" providerId="LiveId" clId="{6AC1AFA1-16AA-487C-B473-8260DD30DC01}" dt="2025-12-18T22:04:11.492" v="58" actId="12"/>
        <pc:sldMkLst>
          <pc:docMk/>
          <pc:sldMk cId="0" sldId="257"/>
        </pc:sldMkLst>
        <pc:spChg chg="mod">
          <ac:chgData name="Raydo Matthee" userId="259e028f13680ef9" providerId="LiveId" clId="{6AC1AFA1-16AA-487C-B473-8260DD30DC01}" dt="2025-12-18T22:04:07.400" v="56" actId="26606"/>
          <ac:spMkLst>
            <pc:docMk/>
            <pc:sldMk cId="0" sldId="257"/>
            <ac:spMk id="2" creationId="{00000000-0000-0000-0000-000000000000}"/>
          </ac:spMkLst>
        </pc:spChg>
        <pc:spChg chg="del">
          <ac:chgData name="Raydo Matthee" userId="259e028f13680ef9" providerId="LiveId" clId="{6AC1AFA1-16AA-487C-B473-8260DD30DC01}" dt="2025-12-18T22:02:24.512" v="24" actId="478"/>
          <ac:spMkLst>
            <pc:docMk/>
            <pc:sldMk cId="0" sldId="257"/>
            <ac:spMk id="3" creationId="{00000000-0000-0000-0000-000000000000}"/>
          </ac:spMkLst>
        </pc:spChg>
        <pc:spChg chg="mod">
          <ac:chgData name="Raydo Matthee" userId="259e028f13680ef9" providerId="LiveId" clId="{6AC1AFA1-16AA-487C-B473-8260DD30DC01}" dt="2025-12-18T22:04:11.492" v="58" actId="12"/>
          <ac:spMkLst>
            <pc:docMk/>
            <pc:sldMk cId="0" sldId="257"/>
            <ac:spMk id="4" creationId="{00000000-0000-0000-0000-000000000000}"/>
          </ac:spMkLst>
        </pc:spChg>
        <pc:spChg chg="del">
          <ac:chgData name="Raydo Matthee" userId="259e028f13680ef9" providerId="LiveId" clId="{6AC1AFA1-16AA-487C-B473-8260DD30DC01}" dt="2025-12-18T22:02:24.512" v="24" actId="478"/>
          <ac:spMkLst>
            <pc:docMk/>
            <pc:sldMk cId="0" sldId="257"/>
            <ac:spMk id="5" creationId="{00000000-0000-0000-0000-000000000000}"/>
          </ac:spMkLst>
        </pc:spChg>
        <pc:spChg chg="del mod">
          <ac:chgData name="Raydo Matthee" userId="259e028f13680ef9" providerId="LiveId" clId="{6AC1AFA1-16AA-487C-B473-8260DD30DC01}" dt="2025-12-18T22:03:46.781" v="48" actId="478"/>
          <ac:spMkLst>
            <pc:docMk/>
            <pc:sldMk cId="0" sldId="257"/>
            <ac:spMk id="6" creationId="{00000000-0000-0000-0000-000000000000}"/>
          </ac:spMkLst>
        </pc:spChg>
        <pc:spChg chg="del">
          <ac:chgData name="Raydo Matthee" userId="259e028f13680ef9" providerId="LiveId" clId="{6AC1AFA1-16AA-487C-B473-8260DD30DC01}" dt="2025-12-18T22:02:24.512" v="24" actId="478"/>
          <ac:spMkLst>
            <pc:docMk/>
            <pc:sldMk cId="0" sldId="257"/>
            <ac:spMk id="7" creationId="{00000000-0000-0000-0000-000000000000}"/>
          </ac:spMkLst>
        </pc:spChg>
        <pc:spChg chg="del mod">
          <ac:chgData name="Raydo Matthee" userId="259e028f13680ef9" providerId="LiveId" clId="{6AC1AFA1-16AA-487C-B473-8260DD30DC01}" dt="2025-12-18T22:03:46.781" v="48" actId="478"/>
          <ac:spMkLst>
            <pc:docMk/>
            <pc:sldMk cId="0" sldId="257"/>
            <ac:spMk id="8" creationId="{00000000-0000-0000-0000-000000000000}"/>
          </ac:spMkLst>
        </pc:spChg>
        <pc:spChg chg="del">
          <ac:chgData name="Raydo Matthee" userId="259e028f13680ef9" providerId="LiveId" clId="{6AC1AFA1-16AA-487C-B473-8260DD30DC01}" dt="2025-12-18T22:02:24.512" v="24" actId="478"/>
          <ac:spMkLst>
            <pc:docMk/>
            <pc:sldMk cId="0" sldId="257"/>
            <ac:spMk id="9" creationId="{00000000-0000-0000-0000-000000000000}"/>
          </ac:spMkLst>
        </pc:spChg>
        <pc:spChg chg="del mod">
          <ac:chgData name="Raydo Matthee" userId="259e028f13680ef9" providerId="LiveId" clId="{6AC1AFA1-16AA-487C-B473-8260DD30DC01}" dt="2025-12-18T22:03:46.781" v="48" actId="478"/>
          <ac:spMkLst>
            <pc:docMk/>
            <pc:sldMk cId="0" sldId="257"/>
            <ac:spMk id="10" creationId="{00000000-0000-0000-0000-000000000000}"/>
          </ac:spMkLst>
        </pc:spChg>
        <pc:spChg chg="mod">
          <ac:chgData name="Raydo Matthee" userId="259e028f13680ef9" providerId="LiveId" clId="{6AC1AFA1-16AA-487C-B473-8260DD30DC01}" dt="2025-12-18T22:04:07.400" v="56" actId="26606"/>
          <ac:spMkLst>
            <pc:docMk/>
            <pc:sldMk cId="0" sldId="257"/>
            <ac:spMk id="11" creationId="{00000000-0000-0000-0000-000000000000}"/>
          </ac:spMkLst>
        </pc:spChg>
        <pc:spChg chg="add">
          <ac:chgData name="Raydo Matthee" userId="259e028f13680ef9" providerId="LiveId" clId="{6AC1AFA1-16AA-487C-B473-8260DD30DC01}" dt="2025-12-18T22:04:07.400" v="56" actId="26606"/>
          <ac:spMkLst>
            <pc:docMk/>
            <pc:sldMk cId="0" sldId="257"/>
            <ac:spMk id="16" creationId="{09588DA8-065E-4F6F-8EFD-43104AB2E0CF}"/>
          </ac:spMkLst>
        </pc:spChg>
        <pc:spChg chg="add">
          <ac:chgData name="Raydo Matthee" userId="259e028f13680ef9" providerId="LiveId" clId="{6AC1AFA1-16AA-487C-B473-8260DD30DC01}" dt="2025-12-18T22:04:07.400" v="56" actId="26606"/>
          <ac:spMkLst>
            <pc:docMk/>
            <pc:sldMk cId="0" sldId="257"/>
            <ac:spMk id="18" creationId="{C4285719-470E-454C-AF62-8323075F1F5B}"/>
          </ac:spMkLst>
        </pc:spChg>
        <pc:spChg chg="add">
          <ac:chgData name="Raydo Matthee" userId="259e028f13680ef9" providerId="LiveId" clId="{6AC1AFA1-16AA-487C-B473-8260DD30DC01}" dt="2025-12-18T22:04:07.400" v="56" actId="26606"/>
          <ac:spMkLst>
            <pc:docMk/>
            <pc:sldMk cId="0" sldId="257"/>
            <ac:spMk id="20" creationId="{CD9FE4EF-C4D8-49A0-B2FF-81D8DB7D8A24}"/>
          </ac:spMkLst>
        </pc:spChg>
        <pc:spChg chg="add">
          <ac:chgData name="Raydo Matthee" userId="259e028f13680ef9" providerId="LiveId" clId="{6AC1AFA1-16AA-487C-B473-8260DD30DC01}" dt="2025-12-18T22:04:07.400" v="56" actId="26606"/>
          <ac:spMkLst>
            <pc:docMk/>
            <pc:sldMk cId="0" sldId="257"/>
            <ac:spMk id="22" creationId="{4300840D-0A0B-4512-BACA-B439D5B9C57C}"/>
          </ac:spMkLst>
        </pc:spChg>
        <pc:spChg chg="add">
          <ac:chgData name="Raydo Matthee" userId="259e028f13680ef9" providerId="LiveId" clId="{6AC1AFA1-16AA-487C-B473-8260DD30DC01}" dt="2025-12-18T22:04:07.400" v="56" actId="26606"/>
          <ac:spMkLst>
            <pc:docMk/>
            <pc:sldMk cId="0" sldId="257"/>
            <ac:spMk id="24" creationId="{D2B78728-A580-49A7-84F9-6EF6F583ADE0}"/>
          </ac:spMkLst>
        </pc:spChg>
        <pc:spChg chg="add">
          <ac:chgData name="Raydo Matthee" userId="259e028f13680ef9" providerId="LiveId" clId="{6AC1AFA1-16AA-487C-B473-8260DD30DC01}" dt="2025-12-18T22:04:07.400" v="56" actId="26606"/>
          <ac:spMkLst>
            <pc:docMk/>
            <pc:sldMk cId="0" sldId="257"/>
            <ac:spMk id="26" creationId="{38FAA1A1-D861-433F-88FA-1E9D6FD31D11}"/>
          </ac:spMkLst>
        </pc:spChg>
        <pc:spChg chg="add">
          <ac:chgData name="Raydo Matthee" userId="259e028f13680ef9" providerId="LiveId" clId="{6AC1AFA1-16AA-487C-B473-8260DD30DC01}" dt="2025-12-18T22:04:07.400" v="56" actId="26606"/>
          <ac:spMkLst>
            <pc:docMk/>
            <pc:sldMk cId="0" sldId="257"/>
            <ac:spMk id="28" creationId="{8D71EDA1-87BF-4D5D-AB79-F346FD19278A}"/>
          </ac:spMkLst>
        </pc:spChg>
      </pc:sldChg>
      <pc:sldChg chg="addSp modSp mod setBg">
        <pc:chgData name="Raydo Matthee" userId="259e028f13680ef9" providerId="LiveId" clId="{6AC1AFA1-16AA-487C-B473-8260DD30DC01}" dt="2025-12-18T21:45:39.099" v="11" actId="26606"/>
        <pc:sldMkLst>
          <pc:docMk/>
          <pc:sldMk cId="0" sldId="258"/>
        </pc:sldMkLst>
        <pc:spChg chg="mod">
          <ac:chgData name="Raydo Matthee" userId="259e028f13680ef9" providerId="LiveId" clId="{6AC1AFA1-16AA-487C-B473-8260DD30DC01}" dt="2025-12-18T21:45:39.099" v="11" actId="26606"/>
          <ac:spMkLst>
            <pc:docMk/>
            <pc:sldMk cId="0" sldId="258"/>
            <ac:spMk id="2" creationId="{00000000-0000-0000-0000-000000000000}"/>
          </ac:spMkLst>
        </pc:spChg>
        <pc:spChg chg="mod">
          <ac:chgData name="Raydo Matthee" userId="259e028f13680ef9" providerId="LiveId" clId="{6AC1AFA1-16AA-487C-B473-8260DD30DC01}" dt="2025-12-18T21:45:39.099" v="11" actId="26606"/>
          <ac:spMkLst>
            <pc:docMk/>
            <pc:sldMk cId="0" sldId="258"/>
            <ac:spMk id="3" creationId="{00000000-0000-0000-0000-000000000000}"/>
          </ac:spMkLst>
        </pc:spChg>
        <pc:spChg chg="add">
          <ac:chgData name="Raydo Matthee" userId="259e028f13680ef9" providerId="LiveId" clId="{6AC1AFA1-16AA-487C-B473-8260DD30DC01}" dt="2025-12-18T21:45:39.099" v="11" actId="26606"/>
          <ac:spMkLst>
            <pc:docMk/>
            <pc:sldMk cId="0" sldId="258"/>
            <ac:spMk id="9" creationId="{A8384FB5-9ADC-4DDC-881B-597D56F5B15D}"/>
          </ac:spMkLst>
        </pc:spChg>
        <pc:spChg chg="add">
          <ac:chgData name="Raydo Matthee" userId="259e028f13680ef9" providerId="LiveId" clId="{6AC1AFA1-16AA-487C-B473-8260DD30DC01}" dt="2025-12-18T21:45:39.099" v="11" actId="26606"/>
          <ac:spMkLst>
            <pc:docMk/>
            <pc:sldMk cId="0" sldId="258"/>
            <ac:spMk id="11" creationId="{1199E1B1-A8C0-4FE8-A5A8-1CB41D69F857}"/>
          </ac:spMkLst>
        </pc:spChg>
        <pc:spChg chg="add">
          <ac:chgData name="Raydo Matthee" userId="259e028f13680ef9" providerId="LiveId" clId="{6AC1AFA1-16AA-487C-B473-8260DD30DC01}" dt="2025-12-18T21:45:39.099" v="11" actId="26606"/>
          <ac:spMkLst>
            <pc:docMk/>
            <pc:sldMk cId="0" sldId="258"/>
            <ac:spMk id="13" creationId="{84A8DE83-DE75-4B41-9DB4-A7EC0B0DEC0B}"/>
          </ac:spMkLst>
        </pc:spChg>
        <pc:spChg chg="add">
          <ac:chgData name="Raydo Matthee" userId="259e028f13680ef9" providerId="LiveId" clId="{6AC1AFA1-16AA-487C-B473-8260DD30DC01}" dt="2025-12-18T21:45:39.099" v="11" actId="26606"/>
          <ac:spMkLst>
            <pc:docMk/>
            <pc:sldMk cId="0" sldId="258"/>
            <ac:spMk id="15" creationId="{A7009A0A-BEF5-4EAC-AF15-E4F9F002E239}"/>
          </ac:spMkLst>
        </pc:spChg>
        <pc:graphicFrameChg chg="add mod ord">
          <ac:chgData name="Raydo Matthee" userId="259e028f13680ef9" providerId="LiveId" clId="{6AC1AFA1-16AA-487C-B473-8260DD30DC01}" dt="2025-12-18T21:45:39.099" v="11" actId="26606"/>
          <ac:graphicFrameMkLst>
            <pc:docMk/>
            <pc:sldMk cId="0" sldId="258"/>
            <ac:graphicFrameMk id="4" creationId="{00000000-0000-0000-0000-000000000000}"/>
          </ac:graphicFrameMkLst>
        </pc:graphicFrameChg>
      </pc:sldChg>
      <pc:sldChg chg="modSp mod">
        <pc:chgData name="Raydo Matthee" userId="259e028f13680ef9" providerId="LiveId" clId="{6AC1AFA1-16AA-487C-B473-8260DD30DC01}" dt="2025-12-18T21:45:55.565" v="23" actId="20577"/>
        <pc:sldMkLst>
          <pc:docMk/>
          <pc:sldMk cId="0" sldId="259"/>
        </pc:sldMkLst>
        <pc:spChg chg="mod">
          <ac:chgData name="Raydo Matthee" userId="259e028f13680ef9" providerId="LiveId" clId="{6AC1AFA1-16AA-487C-B473-8260DD30DC01}" dt="2025-12-18T21:45:55.565" v="23" actId="20577"/>
          <ac:spMkLst>
            <pc:docMk/>
            <pc:sldMk cId="0" sldId="259"/>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5162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learn.microsoft.com/en-us/training/modules/explore-threat-intelligence-microsoft-365-defender/#:~:text=,the%20Microsoft%20Intelligent%20Security%20Graph"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learn.microsoft.com/en-us/training/modules/implement-threat-protection-use-microsoft-defender-office-365/#:~:text=,Microsoft%20Defender%20for%20Office%20365"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learn.microsoft.com/en-us/training/modules/explore-threat-intelligence-microsoft-365-defender/#:~:text=,the%20Microsoft%20Intelligent%20Security%20Graph" TargetMode="External"/><Relationship Id="rId2" Type="http://schemas.openxmlformats.org/officeDocument/2006/relationships/slide" Target="../slides/slide2.xml"/><Relationship Id="rId1" Type="http://schemas.openxmlformats.org/officeDocument/2006/relationships/notesMaster" Target="../notesMasters/notesMaster1.xml"/><Relationship Id="rId6" Type="http://schemas.openxmlformats.org/officeDocument/2006/relationships/hyperlink" Target="https://learn.microsoft.com/en-us/training/modules/implement-threat-protection-use-microsoft-defender-office-365/#:~:text=,Microsoft%20Defender%20for%20Office%20365" TargetMode="External"/><Relationship Id="rId5" Type="http://schemas.openxmlformats.org/officeDocument/2006/relationships/hyperlink" Target="https://learn.microsoft.com/en-us/training/modules/implement-endpoint-protection-use-microsoft-defender-endpoint/#:~:text=,and%20respond%20to%20advanced%20threats" TargetMode="External"/><Relationship Id="rId4" Type="http://schemas.openxmlformats.org/officeDocument/2006/relationships/hyperlink" Target="https://learn.microsoft.com/en-us/training/modules/implement-app-protection-use-microsoft-defender-cloud-apps/#:~:text=,critical%20data%20across%20cloud%20applications"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learn.microsoft.com/en-us/training/modules/explore-threat-intelligence-microsoft-365-defender/#:~:text=,the%20Microsoft%20Intelligent%20Security%20Graph" TargetMode="External"/><Relationship Id="rId2" Type="http://schemas.openxmlformats.org/officeDocument/2006/relationships/slide" Target="../slides/slide3.xml"/><Relationship Id="rId1" Type="http://schemas.openxmlformats.org/officeDocument/2006/relationships/notesMaster" Target="../notesMasters/notesMaster1.xml"/><Relationship Id="rId6" Type="http://schemas.openxmlformats.org/officeDocument/2006/relationships/hyperlink" Target="https://learn.microsoft.com/en-us/training/modules/implement-threat-protection-use-microsoft-defender-office-365/#:~:text=,Microsoft%20Defender%20for%20Office%20365" TargetMode="External"/><Relationship Id="rId5" Type="http://schemas.openxmlformats.org/officeDocument/2006/relationships/hyperlink" Target="https://learn.microsoft.com/en-us/training/modules/implement-endpoint-protection-use-microsoft-defender-endpoint/#:~:text=,and%20respond%20to%20advanced%20threats" TargetMode="External"/><Relationship Id="rId4" Type="http://schemas.openxmlformats.org/officeDocument/2006/relationships/hyperlink" Target="https://learn.microsoft.com/en-us/training/modules/implement-app-protection-use-microsoft-defender-cloud-apps/#:~:text=,critical%20data%20across%20cloud%20applications"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learn.microsoft.com/en-us/training/modules/explore-threat-intelligence-microsoft-365-defender/#:~:text=,the%20Microsoft%20Intelligent%20Security%20Graph"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learn.microsoft.com/en-us/training/modules/implement-threat-protection-use-microsoft-defender-office-365/#:~:text=,Microsoft%20Defender%20for%20Office%20365" TargetMode="External"/><Relationship Id="rId5" Type="http://schemas.openxmlformats.org/officeDocument/2006/relationships/hyperlink" Target="https://learn.microsoft.com/en-us/training/modules/implement-endpoint-protection-use-microsoft-defender-endpoint/#:~:text=,and%20respond%20to%20advanced%20threats" TargetMode="External"/><Relationship Id="rId4" Type="http://schemas.openxmlformats.org/officeDocument/2006/relationships/hyperlink" Target="https://learn.microsoft.com/en-us/training/modules/implement-app-protection-use-microsoft-defender-cloud-apps/#:~:text=,critical%20data%20across%20cloud%20applications"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1: Implement threat protection using Microsoft Defender XDR – Learning Path Overview</a:t>
            </a:r>
          </a:p>
          <a:p>
            <a:r>
              <a:rPr lang="en-US" sz="1200" b="1" i="0" kern="1200" dirty="0">
                <a:solidFill>
                  <a:schemeClr val="tx1"/>
                </a:solidFill>
                <a:effectLst/>
                <a:latin typeface="+mn-lt"/>
                <a:ea typeface="+mn-ea"/>
                <a:cs typeface="+mn-cs"/>
              </a:rPr>
              <a:t>1. Slide Intent</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Learners must understand the scope of threat protection in Microsoft 365 and why integrating intelligence across apps, endpoints, and email is essential for defending against modern threats.</a:t>
            </a:r>
          </a:p>
          <a:p>
            <a:r>
              <a:rPr lang="en-US" sz="1200" b="0" i="0" kern="1200" dirty="0">
                <a:solidFill>
                  <a:schemeClr val="tx1"/>
                </a:solidFill>
                <a:effectLst/>
                <a:latin typeface="+mn-lt"/>
                <a:ea typeface="+mn-ea"/>
                <a:cs typeface="+mn-cs"/>
              </a:rPr>
              <a:t>This concept is critical because today’s threats are multi-vector and require a unified, proactive </a:t>
            </a:r>
            <a:r>
              <a:rPr lang="en-US" sz="1200" b="0" i="0" kern="1200" dirty="0" err="1">
                <a:solidFill>
                  <a:schemeClr val="tx1"/>
                </a:solidFill>
                <a:effectLst/>
                <a:latin typeface="+mn-lt"/>
                <a:ea typeface="+mn-ea"/>
                <a:cs typeface="+mn-cs"/>
              </a:rPr>
              <a:t>defence</a:t>
            </a:r>
            <a:r>
              <a:rPr lang="en-US" sz="1200" b="0" i="0" kern="1200" dirty="0">
                <a:solidFill>
                  <a:schemeClr val="tx1"/>
                </a:solidFill>
                <a:effectLst/>
                <a:latin typeface="+mn-lt"/>
                <a:ea typeface="+mn-ea"/>
                <a:cs typeface="+mn-cs"/>
              </a:rPr>
              <a:t> strategy.</a:t>
            </a:r>
          </a:p>
          <a:p>
            <a:r>
              <a:rPr lang="en-US" sz="1200" b="1" i="0" kern="1200" dirty="0">
                <a:solidFill>
                  <a:schemeClr val="tx1"/>
                </a:solidFill>
                <a:effectLst/>
                <a:latin typeface="+mn-lt"/>
                <a:ea typeface="+mn-ea"/>
                <a:cs typeface="+mn-cs"/>
              </a:rPr>
              <a:t>2. Key Talking Points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Microsoft Defender XDR combines threat intelligence and automation to protect against malware, phishing, and advanced attacks.</a:t>
            </a:r>
          </a:p>
          <a:p>
            <a:r>
              <a:rPr lang="en-US" sz="1200" b="0" i="0" kern="1200" dirty="0">
                <a:solidFill>
                  <a:schemeClr val="tx1"/>
                </a:solidFill>
                <a:effectLst/>
                <a:latin typeface="+mn-lt"/>
                <a:ea typeface="+mn-ea"/>
                <a:cs typeface="+mn-cs"/>
              </a:rPr>
              <a:t>The “security shield” visual represents layered </a:t>
            </a:r>
            <a:r>
              <a:rPr lang="en-US" sz="1200" b="0" i="0" kern="1200" dirty="0" err="1">
                <a:solidFill>
                  <a:schemeClr val="tx1"/>
                </a:solidFill>
                <a:effectLst/>
                <a:latin typeface="+mn-lt"/>
                <a:ea typeface="+mn-ea"/>
                <a:cs typeface="+mn-cs"/>
              </a:rPr>
              <a:t>defence</a:t>
            </a:r>
            <a:r>
              <a:rPr lang="en-US" sz="1200" b="0" i="0" kern="1200" dirty="0">
                <a:solidFill>
                  <a:schemeClr val="tx1"/>
                </a:solidFill>
                <a:effectLst/>
                <a:latin typeface="+mn-lt"/>
                <a:ea typeface="+mn-ea"/>
                <a:cs typeface="+mn-cs"/>
              </a:rPr>
              <a:t>; orbiting icons (virus, skull, alert) illustrate diverse threat types.</a:t>
            </a:r>
          </a:p>
          <a:p>
            <a:r>
              <a:rPr lang="en-US" sz="1200" b="0" i="0" kern="1200" dirty="0">
                <a:solidFill>
                  <a:schemeClr val="tx1"/>
                </a:solidFill>
                <a:effectLst/>
                <a:latin typeface="+mn-lt"/>
                <a:ea typeface="+mn-ea"/>
                <a:cs typeface="+mn-cs"/>
              </a:rPr>
              <a:t>The learning path covers app, endpoint, and email protection, all powered by Microsoft’s security graph.</a:t>
            </a:r>
          </a:p>
          <a:p>
            <a:r>
              <a:rPr lang="en-US" sz="1200" b="1" i="0" kern="1200" dirty="0">
                <a:solidFill>
                  <a:schemeClr val="tx1"/>
                </a:solidFill>
                <a:effectLst/>
                <a:latin typeface="+mn-lt"/>
                <a:ea typeface="+mn-ea"/>
                <a:cs typeface="+mn-cs"/>
              </a:rPr>
              <a:t>3. Technical Depth / Behind the Scenes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Defender XDR leverages the Microsoft Intelligent Security Graph, aggregating signals from billions of devices and cloud services.</a:t>
            </a:r>
          </a:p>
          <a:p>
            <a:r>
              <a:rPr lang="en-US" sz="1200" b="0" i="0" kern="1200" dirty="0">
                <a:solidFill>
                  <a:schemeClr val="tx1"/>
                </a:solidFill>
                <a:effectLst/>
                <a:latin typeface="+mn-lt"/>
                <a:ea typeface="+mn-ea"/>
                <a:cs typeface="+mn-cs"/>
              </a:rPr>
              <a:t>Automated investigation and response (AIR) reduce manual workload and speed up threat mitigation.</a:t>
            </a:r>
          </a:p>
          <a:p>
            <a:r>
              <a:rPr lang="en-US" sz="1200" b="0" i="0" kern="1200" dirty="0">
                <a:solidFill>
                  <a:schemeClr val="tx1"/>
                </a:solidFill>
                <a:effectLst/>
                <a:latin typeface="+mn-lt"/>
                <a:ea typeface="+mn-ea"/>
                <a:cs typeface="+mn-cs"/>
              </a:rPr>
              <a:t>Integration across Defender for Endpoint, Cloud Apps, and Office 365 enables correlated detection and response.</a:t>
            </a:r>
          </a:p>
          <a:p>
            <a:r>
              <a:rPr lang="en-US" sz="1200" b="1" i="0" kern="1200" dirty="0">
                <a:solidFill>
                  <a:schemeClr val="tx1"/>
                </a:solidFill>
                <a:effectLst/>
                <a:latin typeface="+mn-lt"/>
                <a:ea typeface="+mn-ea"/>
                <a:cs typeface="+mn-cs"/>
              </a:rPr>
              <a:t>4. Real-World Example or Scenario</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 ransomware campaign targets both endpoints and email; Defender XDR detects lateral movement and blocks malicious attachments before data is exfiltrated.</a:t>
            </a:r>
          </a:p>
          <a:p>
            <a:r>
              <a:rPr lang="en-US" sz="1200" b="1" i="0" kern="1200" dirty="0">
                <a:solidFill>
                  <a:schemeClr val="tx1"/>
                </a:solidFill>
                <a:effectLst/>
                <a:latin typeface="+mn-lt"/>
                <a:ea typeface="+mn-ea"/>
                <a:cs typeface="+mn-cs"/>
              </a:rPr>
              <a:t>5. Common Mistakes &amp; Misconceptions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Assuming traditional antivirus is sufficient for cloud and hybrid environments.</a:t>
            </a:r>
          </a:p>
          <a:p>
            <a:r>
              <a:rPr lang="en-US" sz="1200" b="0" i="0" kern="1200" dirty="0">
                <a:solidFill>
                  <a:schemeClr val="tx1"/>
                </a:solidFill>
                <a:effectLst/>
                <a:latin typeface="+mn-lt"/>
                <a:ea typeface="+mn-ea"/>
                <a:cs typeface="+mn-cs"/>
              </a:rPr>
              <a:t>Believing that threat protection is “set and forget”—it requires ongoing tuning and monitoring.</a:t>
            </a:r>
          </a:p>
          <a:p>
            <a:r>
              <a:rPr lang="en-US" sz="1200" b="1" i="0" kern="1200" dirty="0">
                <a:solidFill>
                  <a:schemeClr val="tx1"/>
                </a:solidFill>
                <a:effectLst/>
                <a:latin typeface="+mn-lt"/>
                <a:ea typeface="+mn-ea"/>
                <a:cs typeface="+mn-cs"/>
              </a:rPr>
              <a:t>6. Best Practices &amp; Recommendations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Enable all relevant Defender modules for comprehensive coverage.</a:t>
            </a:r>
          </a:p>
          <a:p>
            <a:r>
              <a:rPr lang="en-US" sz="1200" b="0" i="0" kern="1200" dirty="0">
                <a:solidFill>
                  <a:schemeClr val="tx1"/>
                </a:solidFill>
                <a:effectLst/>
                <a:latin typeface="+mn-lt"/>
                <a:ea typeface="+mn-ea"/>
                <a:cs typeface="+mn-cs"/>
              </a:rPr>
              <a:t>Regularly review threat analytics and update policies based on emerging risks.</a:t>
            </a:r>
          </a:p>
          <a:p>
            <a:r>
              <a:rPr lang="en-US" sz="1200" b="1" i="0" kern="1200" dirty="0">
                <a:solidFill>
                  <a:schemeClr val="tx1"/>
                </a:solidFill>
                <a:effectLst/>
                <a:latin typeface="+mn-lt"/>
                <a:ea typeface="+mn-ea"/>
                <a:cs typeface="+mn-cs"/>
              </a:rPr>
              <a:t>7. Exam &amp; Assessment Notes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Expect questions on the role of the security graph and the integration of Defender components.</a:t>
            </a:r>
          </a:p>
          <a:p>
            <a:r>
              <a:rPr lang="en-US" sz="1200" b="1" i="0" kern="1200" dirty="0">
                <a:solidFill>
                  <a:schemeClr val="tx1"/>
                </a:solidFill>
                <a:effectLst/>
                <a:latin typeface="+mn-lt"/>
                <a:ea typeface="+mn-ea"/>
                <a:cs typeface="+mn-cs"/>
              </a:rPr>
              <a:t>8. Instructor Prompts / Engagement Cues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Ask: “What types of threats have you seen target both endpoints and cloud apps in your environment?”</a:t>
            </a:r>
          </a:p>
          <a:p>
            <a:r>
              <a:rPr lang="en-US" sz="1200" b="1" i="0" kern="1200" dirty="0">
                <a:solidFill>
                  <a:schemeClr val="tx1"/>
                </a:solidFill>
                <a:effectLst/>
                <a:latin typeface="+mn-lt"/>
                <a:ea typeface="+mn-ea"/>
                <a:cs typeface="+mn-cs"/>
              </a:rPr>
              <a:t>9. References &amp; Further Reading</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Microsoft Learn: </a:t>
            </a:r>
            <a:r>
              <a:rPr lang="en-US" sz="1200" b="0" i="0" u="none" strike="noStrike" kern="1200" dirty="0">
                <a:solidFill>
                  <a:schemeClr val="tx1"/>
                </a:solidFill>
                <a:effectLst/>
                <a:latin typeface="+mn-lt"/>
                <a:ea typeface="+mn-ea"/>
                <a:cs typeface="+mn-cs"/>
                <a:hlinkClick r:id="rId3"/>
              </a:rPr>
              <a:t>https://learn.microsoft.com/en-us/training/modules/explore-threat-intelligence-microsoft-365-defender/#:~:text=,the%20Microsoft%20Intelligent%20Security%20Graph</a:t>
            </a:r>
            <a:endParaRPr lang="en-US" sz="1200" b="0" i="0"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hlinkClick r:id="rId4"/>
              </a:rPr>
              <a:t>%20365</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2: Learning Objectives</a:t>
            </a:r>
          </a:p>
          <a:p>
            <a:r>
              <a:rPr lang="en-US" sz="1200" b="1" i="0" kern="1200" dirty="0">
                <a:solidFill>
                  <a:schemeClr val="tx1"/>
                </a:solidFill>
                <a:effectLst/>
                <a:latin typeface="+mn-lt"/>
                <a:ea typeface="+mn-ea"/>
                <a:cs typeface="+mn-cs"/>
              </a:rPr>
              <a:t>1. Slide Intent</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Learners should know the specific skills and knowledge they will gain: understanding threat intelligence, and implementing protection for apps, endpoints, and email.</a:t>
            </a:r>
          </a:p>
          <a:p>
            <a:r>
              <a:rPr lang="en-US" sz="1200" b="1" i="0" kern="1200" dirty="0">
                <a:solidFill>
                  <a:schemeClr val="tx1"/>
                </a:solidFill>
                <a:effectLst/>
                <a:latin typeface="+mn-lt"/>
                <a:ea typeface="+mn-ea"/>
                <a:cs typeface="+mn-cs"/>
              </a:rPr>
              <a:t>2. Key Talking Points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Microsoft threat intelligence and the security graph underpin all Defender XDR capabilities.</a:t>
            </a:r>
          </a:p>
          <a:p>
            <a:r>
              <a:rPr lang="en-US" sz="1200" b="0" i="0" kern="1200" dirty="0">
                <a:solidFill>
                  <a:schemeClr val="tx1"/>
                </a:solidFill>
                <a:effectLst/>
                <a:latin typeface="+mn-lt"/>
                <a:ea typeface="+mn-ea"/>
                <a:cs typeface="+mn-cs"/>
              </a:rPr>
              <a:t>Defender for Cloud Apps: deployment, policy creation, and alert management.</a:t>
            </a:r>
          </a:p>
          <a:p>
            <a:r>
              <a:rPr lang="en-US" sz="1200" b="0" i="0" kern="1200" dirty="0">
                <a:solidFill>
                  <a:schemeClr val="tx1"/>
                </a:solidFill>
                <a:effectLst/>
                <a:latin typeface="+mn-lt"/>
                <a:ea typeface="+mn-ea"/>
                <a:cs typeface="+mn-cs"/>
              </a:rPr>
              <a:t>Defender for Endpoint: onboarding, attack surface reduction, vulnerability remediation.</a:t>
            </a:r>
          </a:p>
          <a:p>
            <a:r>
              <a:rPr lang="en-US" sz="1200" b="0" i="0" kern="1200" dirty="0">
                <a:solidFill>
                  <a:schemeClr val="tx1"/>
                </a:solidFill>
                <a:effectLst/>
                <a:latin typeface="+mn-lt"/>
                <a:ea typeface="+mn-ea"/>
                <a:cs typeface="+mn-cs"/>
              </a:rPr>
              <a:t>Defender for Office 365: Threat Explorer, Threat Tracker, and attack simulation.</a:t>
            </a:r>
          </a:p>
          <a:p>
            <a:r>
              <a:rPr lang="en-US" sz="1200" b="1" i="0" kern="1200" dirty="0">
                <a:solidFill>
                  <a:schemeClr val="tx1"/>
                </a:solidFill>
                <a:effectLst/>
                <a:latin typeface="+mn-lt"/>
                <a:ea typeface="+mn-ea"/>
                <a:cs typeface="+mn-cs"/>
              </a:rPr>
              <a:t>3. Technical Depth / Behind the Scenes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Security graph correlates signals from multiple sources for holistic detection.</a:t>
            </a:r>
          </a:p>
          <a:p>
            <a:r>
              <a:rPr lang="en-US" sz="1200" b="0" i="0" kern="1200" dirty="0">
                <a:solidFill>
                  <a:schemeClr val="tx1"/>
                </a:solidFill>
                <a:effectLst/>
                <a:latin typeface="+mn-lt"/>
                <a:ea typeface="+mn-ea"/>
                <a:cs typeface="+mn-cs"/>
              </a:rPr>
              <a:t>Defender for Cloud Apps uses API connectors and discovery tools to monitor sanctioned and unsanctioned apps.</a:t>
            </a:r>
          </a:p>
          <a:p>
            <a:r>
              <a:rPr lang="en-US" sz="1200" b="0" i="0" kern="1200" dirty="0">
                <a:solidFill>
                  <a:schemeClr val="tx1"/>
                </a:solidFill>
                <a:effectLst/>
                <a:latin typeface="+mn-lt"/>
                <a:ea typeface="+mn-ea"/>
                <a:cs typeface="+mn-cs"/>
              </a:rPr>
              <a:t>Endpoint protection includes EDR, AV, and vulnerability management.</a:t>
            </a:r>
          </a:p>
          <a:p>
            <a:r>
              <a:rPr lang="en-US" sz="1200" b="0" i="0" kern="1200" dirty="0">
                <a:solidFill>
                  <a:schemeClr val="tx1"/>
                </a:solidFill>
                <a:effectLst/>
                <a:latin typeface="+mn-lt"/>
                <a:ea typeface="+mn-ea"/>
                <a:cs typeface="+mn-cs"/>
              </a:rPr>
              <a:t>Office 365 protection leverages real-time scanning, sandboxing, and user simulation.</a:t>
            </a:r>
          </a:p>
          <a:p>
            <a:r>
              <a:rPr lang="en-US" sz="1200" b="1" i="0" kern="1200" dirty="0">
                <a:solidFill>
                  <a:schemeClr val="tx1"/>
                </a:solidFill>
                <a:effectLst/>
                <a:latin typeface="+mn-lt"/>
                <a:ea typeface="+mn-ea"/>
                <a:cs typeface="+mn-cs"/>
              </a:rPr>
              <a:t>4. Real-World Example or Scenario</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An organisation uses Threat Explorer to trace a phishing campaign from email to endpoint infection, then remediates affected devices.</a:t>
            </a:r>
          </a:p>
          <a:p>
            <a:r>
              <a:rPr lang="en-US" sz="1200" b="1" i="0" kern="1200" dirty="0">
                <a:solidFill>
                  <a:schemeClr val="tx1"/>
                </a:solidFill>
                <a:effectLst/>
                <a:latin typeface="+mn-lt"/>
                <a:ea typeface="+mn-ea"/>
                <a:cs typeface="+mn-cs"/>
              </a:rPr>
              <a:t>5. Common Mistakes &amp; Misconceptions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Overlooking the need to onboard all devices for full endpoint visibility.</a:t>
            </a:r>
          </a:p>
          <a:p>
            <a:r>
              <a:rPr lang="en-US" sz="1200" b="0" i="0" kern="1200" dirty="0">
                <a:solidFill>
                  <a:schemeClr val="tx1"/>
                </a:solidFill>
                <a:effectLst/>
                <a:latin typeface="+mn-lt"/>
                <a:ea typeface="+mn-ea"/>
                <a:cs typeface="+mn-cs"/>
              </a:rPr>
              <a:t>Not </a:t>
            </a:r>
            <a:r>
              <a:rPr lang="en-US" sz="1200" b="0" i="0" kern="1200" dirty="0" err="1">
                <a:solidFill>
                  <a:schemeClr val="tx1"/>
                </a:solidFill>
                <a:effectLst/>
                <a:latin typeface="+mn-lt"/>
                <a:ea typeface="+mn-ea"/>
                <a:cs typeface="+mn-cs"/>
              </a:rPr>
              <a:t>customising</a:t>
            </a:r>
            <a:r>
              <a:rPr lang="en-US" sz="1200" b="0" i="0" kern="1200" dirty="0">
                <a:solidFill>
                  <a:schemeClr val="tx1"/>
                </a:solidFill>
                <a:effectLst/>
                <a:latin typeface="+mn-lt"/>
                <a:ea typeface="+mn-ea"/>
                <a:cs typeface="+mn-cs"/>
              </a:rPr>
              <a:t> policies for specific app or user risk profiles.</a:t>
            </a:r>
          </a:p>
          <a:p>
            <a:r>
              <a:rPr lang="en-US" sz="1200" b="1" i="0" kern="1200" dirty="0">
                <a:solidFill>
                  <a:schemeClr val="tx1"/>
                </a:solidFill>
                <a:effectLst/>
                <a:latin typeface="+mn-lt"/>
                <a:ea typeface="+mn-ea"/>
                <a:cs typeface="+mn-cs"/>
              </a:rPr>
              <a:t>6. Best Practices &amp; Recommendations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Use attack simulation to train users and test </a:t>
            </a:r>
            <a:r>
              <a:rPr lang="en-US" sz="1200" b="0" i="0" kern="1200" dirty="0" err="1">
                <a:solidFill>
                  <a:schemeClr val="tx1"/>
                </a:solidFill>
                <a:effectLst/>
                <a:latin typeface="+mn-lt"/>
                <a:ea typeface="+mn-ea"/>
                <a:cs typeface="+mn-cs"/>
              </a:rPr>
              <a:t>defences</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Continuously monitor and adjust policies as threats evolve.</a:t>
            </a:r>
          </a:p>
          <a:p>
            <a:r>
              <a:rPr lang="en-US" sz="1200" b="1" i="0" kern="1200" dirty="0">
                <a:solidFill>
                  <a:schemeClr val="tx1"/>
                </a:solidFill>
                <a:effectLst/>
                <a:latin typeface="+mn-lt"/>
                <a:ea typeface="+mn-ea"/>
                <a:cs typeface="+mn-cs"/>
              </a:rPr>
              <a:t>7. Exam &amp; Assessment Notes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Focus on deployment steps, policy configuration, and the role of threat intelligence.</a:t>
            </a:r>
          </a:p>
          <a:p>
            <a:r>
              <a:rPr lang="en-US" sz="1200" b="1" i="0" kern="1200" dirty="0">
                <a:solidFill>
                  <a:schemeClr val="tx1"/>
                </a:solidFill>
                <a:effectLst/>
                <a:latin typeface="+mn-lt"/>
                <a:ea typeface="+mn-ea"/>
                <a:cs typeface="+mn-cs"/>
              </a:rPr>
              <a:t>8. Instructor Prompts / Engagement Cues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Quick check: “Who can explain how Defender for Cloud Apps discovers Shadow IT?”</a:t>
            </a:r>
          </a:p>
          <a:p>
            <a:r>
              <a:rPr lang="en-US" sz="1200" b="1" i="0" kern="1200" dirty="0">
                <a:solidFill>
                  <a:schemeClr val="tx1"/>
                </a:solidFill>
                <a:effectLst/>
                <a:latin typeface="+mn-lt"/>
                <a:ea typeface="+mn-ea"/>
                <a:cs typeface="+mn-cs"/>
              </a:rPr>
              <a:t>9. References &amp; Further Reading</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Microsoft Learn:</a:t>
            </a:r>
          </a:p>
          <a:p>
            <a:pPr lvl="1"/>
            <a:r>
              <a:rPr lang="en-US" sz="1200" b="0" i="0" u="none" strike="noStrike" kern="1200" dirty="0">
                <a:solidFill>
                  <a:schemeClr val="tx1"/>
                </a:solidFill>
                <a:effectLst/>
                <a:latin typeface="+mn-lt"/>
                <a:ea typeface="+mn-ea"/>
                <a:cs typeface="+mn-cs"/>
                <a:hlinkClick r:id="rId3"/>
              </a:rPr>
              <a:t>https://learn.microsoft.com/en-us/training/modules/explore-threat-intelligence-microsoft-365-defender/#:~:text=,the%20Microsoft%20Intelligent%20Security%20Graph</a:t>
            </a:r>
            <a:endParaRPr lang="en-US" sz="1200" b="0" i="0" kern="1200" dirty="0">
              <a:solidFill>
                <a:schemeClr val="tx1"/>
              </a:solidFill>
              <a:effectLst/>
              <a:latin typeface="+mn-lt"/>
              <a:ea typeface="+mn-ea"/>
              <a:cs typeface="+mn-cs"/>
            </a:endParaRPr>
          </a:p>
          <a:p>
            <a:pPr lvl="1"/>
            <a:r>
              <a:rPr lang="en-US" sz="1200" b="0" i="0" u="none" strike="noStrike" kern="1200" dirty="0">
                <a:solidFill>
                  <a:schemeClr val="tx1"/>
                </a:solidFill>
                <a:effectLst/>
                <a:latin typeface="+mn-lt"/>
                <a:ea typeface="+mn-ea"/>
                <a:cs typeface="+mn-cs"/>
                <a:hlinkClick r:id="rId4"/>
              </a:rPr>
              <a:t>https://learn.microsoft.com/en-us/training/modules/implement-app-protection-use-microsoft-defender-cloud-apps/#:~:text=,critical%20data%20across%20cloud%20applications</a:t>
            </a:r>
            <a:endParaRPr lang="en-US" sz="1200" b="0" i="0" kern="1200" dirty="0">
              <a:solidFill>
                <a:schemeClr val="tx1"/>
              </a:solidFill>
              <a:effectLst/>
              <a:latin typeface="+mn-lt"/>
              <a:ea typeface="+mn-ea"/>
              <a:cs typeface="+mn-cs"/>
            </a:endParaRPr>
          </a:p>
          <a:p>
            <a:pPr lvl="1"/>
            <a:r>
              <a:rPr lang="en-US" sz="1200" b="0" i="0" u="none" strike="noStrike" kern="1200" dirty="0">
                <a:solidFill>
                  <a:schemeClr val="tx1"/>
                </a:solidFill>
                <a:effectLst/>
                <a:latin typeface="+mn-lt"/>
                <a:ea typeface="+mn-ea"/>
                <a:cs typeface="+mn-cs"/>
                <a:hlinkClick r:id="rId5"/>
              </a:rPr>
              <a:t>https://learn.microsoft.com/en-us/training/modules/implement-endpoint-protection-use-microsoft-defender-endpoint/#:~:text=,and%20respond%20to%20advanced%20threats</a:t>
            </a:r>
            <a:endParaRPr lang="en-US" sz="1200" b="0" i="0" kern="1200" dirty="0">
              <a:solidFill>
                <a:schemeClr val="tx1"/>
              </a:solidFill>
              <a:effectLst/>
              <a:latin typeface="+mn-lt"/>
              <a:ea typeface="+mn-ea"/>
              <a:cs typeface="+mn-cs"/>
            </a:endParaRPr>
          </a:p>
          <a:p>
            <a:pPr lvl="1"/>
            <a:r>
              <a:rPr lang="en-US" sz="1200" b="0" i="0" u="none" strike="noStrike" kern="1200">
                <a:solidFill>
                  <a:schemeClr val="tx1"/>
                </a:solidFill>
                <a:effectLst/>
                <a:latin typeface="+mn-lt"/>
                <a:ea typeface="+mn-ea"/>
                <a:cs typeface="+mn-cs"/>
                <a:hlinkClick r:id="rId6"/>
              </a:rPr>
              <a:t>https://learn.microsoft.com/en-us/training/modules/implement-threat-protection-use-microsoft-defender-office-365/#:~:text=,Microsoft%20Defender%20for%20Office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3: Modules Overview</a:t>
            </a:r>
          </a:p>
          <a:p>
            <a:r>
              <a:rPr lang="en-US" sz="1200" b="1" i="0" kern="1200" dirty="0">
                <a:solidFill>
                  <a:schemeClr val="tx1"/>
                </a:solidFill>
                <a:effectLst/>
                <a:latin typeface="+mn-lt"/>
                <a:ea typeface="+mn-ea"/>
                <a:cs typeface="+mn-cs"/>
              </a:rPr>
              <a:t>1. Slide Intent</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Learners must see the course structure and how each module builds towards comprehensive threat protection.</a:t>
            </a:r>
          </a:p>
          <a:p>
            <a:r>
              <a:rPr lang="en-US" sz="1200" b="1" i="0" kern="1200" dirty="0">
                <a:solidFill>
                  <a:schemeClr val="tx1"/>
                </a:solidFill>
                <a:effectLst/>
                <a:latin typeface="+mn-lt"/>
                <a:ea typeface="+mn-ea"/>
                <a:cs typeface="+mn-cs"/>
              </a:rPr>
              <a:t>2. Key Talking Points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Four modules: Threat intelligence, App protection, Endpoint protection, Email threat protection.</a:t>
            </a:r>
          </a:p>
          <a:p>
            <a:r>
              <a:rPr lang="en-US" sz="1200" b="0" i="0" kern="1200" dirty="0">
                <a:solidFill>
                  <a:schemeClr val="tx1"/>
                </a:solidFill>
                <a:effectLst/>
                <a:latin typeface="+mn-lt"/>
                <a:ea typeface="+mn-ea"/>
                <a:cs typeface="+mn-cs"/>
              </a:rPr>
              <a:t>Each module addresses specific topics: security graph, policies, onboarding, remediation, simulation.</a:t>
            </a:r>
          </a:p>
          <a:p>
            <a:r>
              <a:rPr lang="en-US" sz="1200" b="0" i="0" kern="1200" dirty="0">
                <a:solidFill>
                  <a:schemeClr val="tx1"/>
                </a:solidFill>
                <a:effectLst/>
                <a:latin typeface="+mn-lt"/>
                <a:ea typeface="+mn-ea"/>
                <a:cs typeface="+mn-cs"/>
              </a:rPr>
              <a:t>The table clarifies which skills and concepts are addressed in each module.</a:t>
            </a:r>
          </a:p>
          <a:p>
            <a:r>
              <a:rPr lang="en-US" sz="1200" b="1" i="0" kern="1200" dirty="0">
                <a:solidFill>
                  <a:schemeClr val="tx1"/>
                </a:solidFill>
                <a:effectLst/>
                <a:latin typeface="+mn-lt"/>
                <a:ea typeface="+mn-ea"/>
                <a:cs typeface="+mn-cs"/>
              </a:rPr>
              <a:t>3. Technical Depth / Behind the Scenes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Security graph powers automated investigation and threat hunting.</a:t>
            </a:r>
          </a:p>
          <a:p>
            <a:r>
              <a:rPr lang="en-US" sz="1200" b="0" i="0" kern="1200" dirty="0">
                <a:solidFill>
                  <a:schemeClr val="tx1"/>
                </a:solidFill>
                <a:effectLst/>
                <a:latin typeface="+mn-lt"/>
                <a:ea typeface="+mn-ea"/>
                <a:cs typeface="+mn-cs"/>
              </a:rPr>
              <a:t>Cloud App policies use activity logs and anomaly detection.</a:t>
            </a:r>
          </a:p>
          <a:p>
            <a:r>
              <a:rPr lang="en-US" sz="1200" b="0" i="0" kern="1200" dirty="0">
                <a:solidFill>
                  <a:schemeClr val="tx1"/>
                </a:solidFill>
                <a:effectLst/>
                <a:latin typeface="+mn-lt"/>
                <a:ea typeface="+mn-ea"/>
                <a:cs typeface="+mn-cs"/>
              </a:rPr>
              <a:t>Endpoint onboarding supports Windows, macOS, Linux, and mobile.</a:t>
            </a:r>
          </a:p>
          <a:p>
            <a:r>
              <a:rPr lang="en-US" sz="1200" b="0" i="0" kern="1200" dirty="0">
                <a:solidFill>
                  <a:schemeClr val="tx1"/>
                </a:solidFill>
                <a:effectLst/>
                <a:latin typeface="+mn-lt"/>
                <a:ea typeface="+mn-ea"/>
                <a:cs typeface="+mn-cs"/>
              </a:rPr>
              <a:t>Email protection includes multi-layered filtering and user education.</a:t>
            </a:r>
          </a:p>
          <a:p>
            <a:r>
              <a:rPr lang="en-US" sz="1200" b="1" i="0" kern="1200" dirty="0">
                <a:solidFill>
                  <a:schemeClr val="tx1"/>
                </a:solidFill>
                <a:effectLst/>
                <a:latin typeface="+mn-lt"/>
                <a:ea typeface="+mn-ea"/>
                <a:cs typeface="+mn-cs"/>
              </a:rPr>
              <a:t>4. Real-World Example or Scenario</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 multinational company uses Cloud Discovery to identify unsanctioned SaaS apps, then applies policies to block risky usage.</a:t>
            </a:r>
          </a:p>
          <a:p>
            <a:r>
              <a:rPr lang="en-US" sz="1200" b="1" i="0" kern="1200" dirty="0">
                <a:solidFill>
                  <a:schemeClr val="tx1"/>
                </a:solidFill>
                <a:effectLst/>
                <a:latin typeface="+mn-lt"/>
                <a:ea typeface="+mn-ea"/>
                <a:cs typeface="+mn-cs"/>
              </a:rPr>
              <a:t>5. Common Mistakes &amp; Misconceptions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Treating modules as siloed; effective </a:t>
            </a:r>
            <a:r>
              <a:rPr lang="en-US" sz="1200" b="0" i="0" kern="1200" dirty="0" err="1">
                <a:solidFill>
                  <a:schemeClr val="tx1"/>
                </a:solidFill>
                <a:effectLst/>
                <a:latin typeface="+mn-lt"/>
                <a:ea typeface="+mn-ea"/>
                <a:cs typeface="+mn-cs"/>
              </a:rPr>
              <a:t>defence</a:t>
            </a:r>
            <a:r>
              <a:rPr lang="en-US" sz="1200" b="0" i="0" kern="1200" dirty="0">
                <a:solidFill>
                  <a:schemeClr val="tx1"/>
                </a:solidFill>
                <a:effectLst/>
                <a:latin typeface="+mn-lt"/>
                <a:ea typeface="+mn-ea"/>
                <a:cs typeface="+mn-cs"/>
              </a:rPr>
              <a:t> requires integration across all areas.</a:t>
            </a:r>
          </a:p>
          <a:p>
            <a:r>
              <a:rPr lang="en-US" sz="1200" b="1" i="0" kern="1200" dirty="0">
                <a:solidFill>
                  <a:schemeClr val="tx1"/>
                </a:solidFill>
                <a:effectLst/>
                <a:latin typeface="+mn-lt"/>
                <a:ea typeface="+mn-ea"/>
                <a:cs typeface="+mn-cs"/>
              </a:rPr>
              <a:t>6. Best Practices &amp; Recommendations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Map each module to specific </a:t>
            </a:r>
            <a:r>
              <a:rPr lang="en-US" sz="1200" b="0" i="0" kern="1200" dirty="0" err="1">
                <a:solidFill>
                  <a:schemeClr val="tx1"/>
                </a:solidFill>
                <a:effectLst/>
                <a:latin typeface="+mn-lt"/>
                <a:ea typeface="+mn-ea"/>
                <a:cs typeface="+mn-cs"/>
              </a:rPr>
              <a:t>organisational</a:t>
            </a:r>
            <a:r>
              <a:rPr lang="en-US" sz="1200" b="0" i="0" kern="1200" dirty="0">
                <a:solidFill>
                  <a:schemeClr val="tx1"/>
                </a:solidFill>
                <a:effectLst/>
                <a:latin typeface="+mn-lt"/>
                <a:ea typeface="+mn-ea"/>
                <a:cs typeface="+mn-cs"/>
              </a:rPr>
              <a:t> roles and responsibilities.</a:t>
            </a:r>
          </a:p>
          <a:p>
            <a:r>
              <a:rPr lang="en-US" sz="1200" b="0" i="0" kern="1200" dirty="0">
                <a:solidFill>
                  <a:schemeClr val="tx1"/>
                </a:solidFill>
                <a:effectLst/>
                <a:latin typeface="+mn-lt"/>
                <a:ea typeface="+mn-ea"/>
                <a:cs typeface="+mn-cs"/>
              </a:rPr>
              <a:t>Encourage cross-team collaboration during implementation.</a:t>
            </a:r>
          </a:p>
          <a:p>
            <a:r>
              <a:rPr lang="en-US" sz="1200" b="1" i="0" kern="1200" dirty="0">
                <a:solidFill>
                  <a:schemeClr val="tx1"/>
                </a:solidFill>
                <a:effectLst/>
                <a:latin typeface="+mn-lt"/>
                <a:ea typeface="+mn-ea"/>
                <a:cs typeface="+mn-cs"/>
              </a:rPr>
              <a:t>7. Exam &amp; Assessment Notes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Scenario-based questions may require linking concepts from multiple modules.</a:t>
            </a:r>
          </a:p>
          <a:p>
            <a:r>
              <a:rPr lang="en-US" sz="1200" b="1" i="0" kern="1200" dirty="0">
                <a:solidFill>
                  <a:schemeClr val="tx1"/>
                </a:solidFill>
                <a:effectLst/>
                <a:latin typeface="+mn-lt"/>
                <a:ea typeface="+mn-ea"/>
                <a:cs typeface="+mn-cs"/>
              </a:rPr>
              <a:t>8. Instructor Prompts / Engagement Cues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Discussion: “Which module do you anticipate will be most challenging for your team?”</a:t>
            </a:r>
          </a:p>
          <a:p>
            <a:r>
              <a:rPr lang="en-US" sz="1200" b="1" i="0" kern="1200" dirty="0">
                <a:solidFill>
                  <a:schemeClr val="tx1"/>
                </a:solidFill>
                <a:effectLst/>
                <a:latin typeface="+mn-lt"/>
                <a:ea typeface="+mn-ea"/>
                <a:cs typeface="+mn-cs"/>
              </a:rPr>
              <a:t>9. References &amp; Further Reading</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Microsoft Learn:</a:t>
            </a:r>
          </a:p>
          <a:p>
            <a:pPr lvl="1"/>
            <a:r>
              <a:rPr lang="en-US" sz="1200" b="0" i="0" u="none" strike="noStrike" kern="1200" dirty="0">
                <a:solidFill>
                  <a:schemeClr val="tx1"/>
                </a:solidFill>
                <a:effectLst/>
                <a:latin typeface="+mn-lt"/>
                <a:ea typeface="+mn-ea"/>
                <a:cs typeface="+mn-cs"/>
                <a:hlinkClick r:id="rId3"/>
              </a:rPr>
              <a:t>https://learn.microsoft.com/en-us/training/modules/explore-threat-intelligence-microsoft-365-defender/#:~:text=,the%20Microsoft%20Intelligent%20Security%20Graph</a:t>
            </a:r>
            <a:endParaRPr lang="en-US" sz="1200" b="0" i="0" kern="1200" dirty="0">
              <a:solidFill>
                <a:schemeClr val="tx1"/>
              </a:solidFill>
              <a:effectLst/>
              <a:latin typeface="+mn-lt"/>
              <a:ea typeface="+mn-ea"/>
              <a:cs typeface="+mn-cs"/>
            </a:endParaRPr>
          </a:p>
          <a:p>
            <a:pPr lvl="1"/>
            <a:r>
              <a:rPr lang="en-US" sz="1200" b="0" i="0" u="none" strike="noStrike" kern="1200" dirty="0">
                <a:solidFill>
                  <a:schemeClr val="tx1"/>
                </a:solidFill>
                <a:effectLst/>
                <a:latin typeface="+mn-lt"/>
                <a:ea typeface="+mn-ea"/>
                <a:cs typeface="+mn-cs"/>
                <a:hlinkClick r:id="rId4"/>
              </a:rPr>
              <a:t>https://learn.microsoft.com/en-us/training/modules/implement-app-protection-use-microsoft-defender-cloud-apps/#:~:text=,critical%20data%20across%20cloud%20applications</a:t>
            </a:r>
            <a:endParaRPr lang="en-US" sz="1200" b="0" i="0" kern="1200" dirty="0">
              <a:solidFill>
                <a:schemeClr val="tx1"/>
              </a:solidFill>
              <a:effectLst/>
              <a:latin typeface="+mn-lt"/>
              <a:ea typeface="+mn-ea"/>
              <a:cs typeface="+mn-cs"/>
            </a:endParaRPr>
          </a:p>
          <a:p>
            <a:pPr lvl="1"/>
            <a:r>
              <a:rPr lang="en-US" sz="1200" b="0" i="0" u="none" strike="noStrike" kern="1200" dirty="0">
                <a:solidFill>
                  <a:schemeClr val="tx1"/>
                </a:solidFill>
                <a:effectLst/>
                <a:latin typeface="+mn-lt"/>
                <a:ea typeface="+mn-ea"/>
                <a:cs typeface="+mn-cs"/>
                <a:hlinkClick r:id="rId5"/>
              </a:rPr>
              <a:t>https://learn.microsoft.com/en-us/training/modules/implement-endpoint-protection-use-microsoft-defender-endpoint/#:~:text=,and%20respond%20to%20advanced%20threats</a:t>
            </a:r>
            <a:endParaRPr lang="en-US" sz="1200" b="0" i="0" kern="1200" dirty="0">
              <a:solidFill>
                <a:schemeClr val="tx1"/>
              </a:solidFill>
              <a:effectLst/>
              <a:latin typeface="+mn-lt"/>
              <a:ea typeface="+mn-ea"/>
              <a:cs typeface="+mn-cs"/>
            </a:endParaRPr>
          </a:p>
          <a:p>
            <a:pPr lvl="1"/>
            <a:r>
              <a:rPr lang="en-US" sz="1200" b="0" i="0" u="none" strike="noStrike" kern="1200" dirty="0">
                <a:solidFill>
                  <a:schemeClr val="tx1"/>
                </a:solidFill>
                <a:effectLst/>
                <a:latin typeface="+mn-lt"/>
                <a:ea typeface="+mn-ea"/>
                <a:cs typeface="+mn-cs"/>
                <a:hlinkClick r:id="rId6"/>
              </a:rPr>
              <a:t>https://learn.microsoft.com/en-us/training/modules/implement-threat-protection-use-microsoft-defender-office-365/#:~:text=,Microsoft%20Defender%20for%20Office%20365</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Slide 4: Summary &amp; Next Steps</a:t>
            </a:r>
          </a:p>
          <a:p>
            <a:r>
              <a:rPr lang="en-US" sz="1200" b="1" i="0" kern="1200" dirty="0">
                <a:solidFill>
                  <a:schemeClr val="tx1"/>
                </a:solidFill>
                <a:effectLst/>
                <a:latin typeface="+mn-lt"/>
                <a:ea typeface="+mn-ea"/>
                <a:cs typeface="+mn-cs"/>
              </a:rPr>
              <a:t>1. Slide Intent</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Learners should consolidate their understanding and know the next steps: proactive threat hunting, securing cloud apps, protecting endpoints, and using attack simulation.</a:t>
            </a:r>
          </a:p>
          <a:p>
            <a:r>
              <a:rPr lang="en-US" sz="1200" b="1" i="0" kern="1200" dirty="0">
                <a:solidFill>
                  <a:schemeClr val="tx1"/>
                </a:solidFill>
                <a:effectLst/>
                <a:latin typeface="+mn-lt"/>
                <a:ea typeface="+mn-ea"/>
                <a:cs typeface="+mn-cs"/>
              </a:rPr>
              <a:t>2. Key Talking Points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Use Microsoft threat intelligence for proactive detection and hunting.</a:t>
            </a:r>
          </a:p>
          <a:p>
            <a:r>
              <a:rPr lang="en-US" sz="1200" b="0" i="0" kern="1200" dirty="0">
                <a:solidFill>
                  <a:schemeClr val="tx1"/>
                </a:solidFill>
                <a:effectLst/>
                <a:latin typeface="+mn-lt"/>
                <a:ea typeface="+mn-ea"/>
                <a:cs typeface="+mn-cs"/>
              </a:rPr>
              <a:t>Secure cloud apps with policies and alerts to address Shadow IT and sensitive data.</a:t>
            </a:r>
          </a:p>
          <a:p>
            <a:r>
              <a:rPr lang="en-US" sz="1200" b="0" i="0" kern="1200" dirty="0">
                <a:solidFill>
                  <a:schemeClr val="tx1"/>
                </a:solidFill>
                <a:effectLst/>
                <a:latin typeface="+mn-lt"/>
                <a:ea typeface="+mn-ea"/>
                <a:cs typeface="+mn-cs"/>
              </a:rPr>
              <a:t>Onboard devices and remediate vulnerabilities for endpoint protection.</a:t>
            </a:r>
          </a:p>
          <a:p>
            <a:r>
              <a:rPr lang="en-US" sz="1200" b="0" i="0" kern="1200" dirty="0">
                <a:solidFill>
                  <a:schemeClr val="tx1"/>
                </a:solidFill>
                <a:effectLst/>
                <a:latin typeface="+mn-lt"/>
                <a:ea typeface="+mn-ea"/>
                <a:cs typeface="+mn-cs"/>
              </a:rPr>
              <a:t>Use Defender for Office 365 to investigate threats and educate users.</a:t>
            </a:r>
          </a:p>
          <a:p>
            <a:r>
              <a:rPr lang="en-US" sz="1200" b="1" i="0" kern="1200" dirty="0">
                <a:solidFill>
                  <a:schemeClr val="tx1"/>
                </a:solidFill>
                <a:effectLst/>
                <a:latin typeface="+mn-lt"/>
                <a:ea typeface="+mn-ea"/>
                <a:cs typeface="+mn-cs"/>
              </a:rPr>
              <a:t>3. Technical Depth / Behind the Scenes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Threat intelligence is continuously updated from global telemetry.</a:t>
            </a:r>
          </a:p>
          <a:p>
            <a:r>
              <a:rPr lang="en-US" sz="1200" b="0" i="0" kern="1200" dirty="0">
                <a:solidFill>
                  <a:schemeClr val="tx1"/>
                </a:solidFill>
                <a:effectLst/>
                <a:latin typeface="+mn-lt"/>
                <a:ea typeface="+mn-ea"/>
                <a:cs typeface="+mn-cs"/>
              </a:rPr>
              <a:t>Policies and alerts are enforced in real time across cloud and endpoint workloads.</a:t>
            </a:r>
          </a:p>
          <a:p>
            <a:r>
              <a:rPr lang="en-US" sz="1200" b="0" i="0" kern="1200" dirty="0">
                <a:solidFill>
                  <a:schemeClr val="tx1"/>
                </a:solidFill>
                <a:effectLst/>
                <a:latin typeface="+mn-lt"/>
                <a:ea typeface="+mn-ea"/>
                <a:cs typeface="+mn-cs"/>
              </a:rPr>
              <a:t>Attack simulation provides metrics for user readiness and policy effectiveness.</a:t>
            </a:r>
          </a:p>
          <a:p>
            <a:r>
              <a:rPr lang="en-US" sz="1200" b="1" i="0" kern="1200" dirty="0">
                <a:solidFill>
                  <a:schemeClr val="tx1"/>
                </a:solidFill>
                <a:effectLst/>
                <a:latin typeface="+mn-lt"/>
                <a:ea typeface="+mn-ea"/>
                <a:cs typeface="+mn-cs"/>
              </a:rPr>
              <a:t>4. Real-World Example or Scenario</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After a phishing simulation, an organisation identifies users who need additional training and updates policies to block similar threats.</a:t>
            </a:r>
          </a:p>
          <a:p>
            <a:r>
              <a:rPr lang="en-US" sz="1200" b="1" i="0" kern="1200" dirty="0">
                <a:solidFill>
                  <a:schemeClr val="tx1"/>
                </a:solidFill>
                <a:effectLst/>
                <a:latin typeface="+mn-lt"/>
                <a:ea typeface="+mn-ea"/>
                <a:cs typeface="+mn-cs"/>
              </a:rPr>
              <a:t>5. Common Mistakes &amp; Misconceptions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Neglecting ongoing monitoring and review of threat protection controls.</a:t>
            </a:r>
          </a:p>
          <a:p>
            <a:r>
              <a:rPr lang="en-US" sz="1200" b="0" i="0" kern="1200" dirty="0">
                <a:solidFill>
                  <a:schemeClr val="tx1"/>
                </a:solidFill>
                <a:effectLst/>
                <a:latin typeface="+mn-lt"/>
                <a:ea typeface="+mn-ea"/>
                <a:cs typeface="+mn-cs"/>
              </a:rPr>
              <a:t>Failing to update policies as new threats emerge.</a:t>
            </a:r>
          </a:p>
          <a:p>
            <a:r>
              <a:rPr lang="en-US" sz="1200" b="1" i="0" kern="1200" dirty="0">
                <a:solidFill>
                  <a:schemeClr val="tx1"/>
                </a:solidFill>
                <a:effectLst/>
                <a:latin typeface="+mn-lt"/>
                <a:ea typeface="+mn-ea"/>
                <a:cs typeface="+mn-cs"/>
              </a:rPr>
              <a:t>6. Best Practices &amp; Recommendations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Schedule regular reviews of threat analytics and policy effectiveness.</a:t>
            </a:r>
          </a:p>
          <a:p>
            <a:r>
              <a:rPr lang="en-US" sz="1200" b="0" i="0" kern="1200" dirty="0">
                <a:solidFill>
                  <a:schemeClr val="tx1"/>
                </a:solidFill>
                <a:effectLst/>
                <a:latin typeface="+mn-lt"/>
                <a:ea typeface="+mn-ea"/>
                <a:cs typeface="+mn-cs"/>
              </a:rPr>
              <a:t>Use adaptive protection to respond to emerging threats.</a:t>
            </a:r>
          </a:p>
          <a:p>
            <a:r>
              <a:rPr lang="en-US" sz="1200" b="1" i="0" kern="1200" dirty="0">
                <a:solidFill>
                  <a:schemeClr val="tx1"/>
                </a:solidFill>
                <a:effectLst/>
                <a:latin typeface="+mn-lt"/>
                <a:ea typeface="+mn-ea"/>
                <a:cs typeface="+mn-cs"/>
              </a:rPr>
              <a:t>7. Exam &amp; Assessment Notes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Look for questions on threat hunting, policy management, and incident response.</a:t>
            </a:r>
          </a:p>
          <a:p>
            <a:r>
              <a:rPr lang="en-US" sz="1200" b="1" i="0" kern="1200" dirty="0">
                <a:solidFill>
                  <a:schemeClr val="tx1"/>
                </a:solidFill>
                <a:effectLst/>
                <a:latin typeface="+mn-lt"/>
                <a:ea typeface="+mn-ea"/>
                <a:cs typeface="+mn-cs"/>
              </a:rPr>
              <a:t>8. Instructor Prompts / Engagement Cues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Ask: “What’s your next step in improving threat protection at your organisation?”</a:t>
            </a:r>
          </a:p>
          <a:p>
            <a:r>
              <a:rPr lang="en-US" sz="1200" b="1" i="0" kern="1200" dirty="0">
                <a:solidFill>
                  <a:schemeClr val="tx1"/>
                </a:solidFill>
                <a:effectLst/>
                <a:latin typeface="+mn-lt"/>
                <a:ea typeface="+mn-ea"/>
                <a:cs typeface="+mn-cs"/>
              </a:rPr>
              <a:t>9. References &amp; Further Reading</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Microsoft Learn:</a:t>
            </a:r>
          </a:p>
          <a:p>
            <a:pPr lvl="1"/>
            <a:r>
              <a:rPr lang="en-US" sz="1200" b="0" i="0" u="none" strike="noStrike" kern="1200" dirty="0">
                <a:solidFill>
                  <a:schemeClr val="tx1"/>
                </a:solidFill>
                <a:effectLst/>
                <a:latin typeface="+mn-lt"/>
                <a:ea typeface="+mn-ea"/>
                <a:cs typeface="+mn-cs"/>
                <a:hlinkClick r:id="rId3"/>
              </a:rPr>
              <a:t>https://learn.microsoft.com/en-us/training/modules/explore-threat-intelligence-microsoft-365-defender/#:~:text=,the%20Microsoft%20Intelligent%20Security%20Graph</a:t>
            </a:r>
            <a:endParaRPr lang="en-US" sz="1200" b="0" i="0" kern="1200" dirty="0">
              <a:solidFill>
                <a:schemeClr val="tx1"/>
              </a:solidFill>
              <a:effectLst/>
              <a:latin typeface="+mn-lt"/>
              <a:ea typeface="+mn-ea"/>
              <a:cs typeface="+mn-cs"/>
            </a:endParaRPr>
          </a:p>
          <a:p>
            <a:pPr lvl="1"/>
            <a:r>
              <a:rPr lang="en-US" sz="1200" b="0" i="0" u="none" strike="noStrike" kern="1200" dirty="0">
                <a:solidFill>
                  <a:schemeClr val="tx1"/>
                </a:solidFill>
                <a:effectLst/>
                <a:latin typeface="+mn-lt"/>
                <a:ea typeface="+mn-ea"/>
                <a:cs typeface="+mn-cs"/>
                <a:hlinkClick r:id="rId4"/>
              </a:rPr>
              <a:t>https://learn.microsoft.com/en-us/training/modules/implement-app-protection-use-microsoft-defender-cloud-apps/#:~:text=,critical%20data%20across%20cloud%20applications</a:t>
            </a:r>
            <a:endParaRPr lang="en-US" sz="1200" b="0" i="0" kern="1200" dirty="0">
              <a:solidFill>
                <a:schemeClr val="tx1"/>
              </a:solidFill>
              <a:effectLst/>
              <a:latin typeface="+mn-lt"/>
              <a:ea typeface="+mn-ea"/>
              <a:cs typeface="+mn-cs"/>
            </a:endParaRPr>
          </a:p>
          <a:p>
            <a:pPr lvl="1"/>
            <a:r>
              <a:rPr lang="en-US" sz="1200" b="0" i="0" u="none" strike="noStrike" kern="1200" dirty="0">
                <a:solidFill>
                  <a:schemeClr val="tx1"/>
                </a:solidFill>
                <a:effectLst/>
                <a:latin typeface="+mn-lt"/>
                <a:ea typeface="+mn-ea"/>
                <a:cs typeface="+mn-cs"/>
                <a:hlinkClick r:id="rId5"/>
              </a:rPr>
              <a:t>https://learn.microsoft.com/en-us/training/modules/implement-endpoint-protection-use-microsoft-defender-endpoint/#:~:text=,and%20respond%20to%20advanced%20threats</a:t>
            </a:r>
            <a:endParaRPr lang="en-US" sz="1200" b="0" i="0" kern="1200" dirty="0">
              <a:solidFill>
                <a:schemeClr val="tx1"/>
              </a:solidFill>
              <a:effectLst/>
              <a:latin typeface="+mn-lt"/>
              <a:ea typeface="+mn-ea"/>
              <a:cs typeface="+mn-cs"/>
            </a:endParaRPr>
          </a:p>
          <a:p>
            <a:pPr lvl="1"/>
            <a:r>
              <a:rPr lang="en-US" sz="1200" b="0" i="0" u="none" strike="noStrike" kern="1200" dirty="0">
                <a:solidFill>
                  <a:schemeClr val="tx1"/>
                </a:solidFill>
                <a:effectLst/>
                <a:latin typeface="+mn-lt"/>
                <a:ea typeface="+mn-ea"/>
                <a:cs typeface="+mn-cs"/>
                <a:hlinkClick r:id="rId6"/>
              </a:rPr>
              <a:t>https://learn.microsoft.com/en-us/training/modules/implement-threat-protection-use-microsoft-defender-office-365/#:~:text=,Microsoft%20Defender%20for%20Office%20365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learn.microsoft.com/en-us/training/modules/explore-threat-intelligence-microsoft-365-defender/#:~:text=,the%20Microsoft%20Intelligent%20Security%20Graph"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learn.microsoft.com/en-us/training/modules/explore-threat-intelligence-microsoft-365-defender/#:~:text=,the%20Microsoft%20Intelligent%20Security%20Graph"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learn.microsoft.com/en-us/training/modules/implement-threat-protection-use-microsoft-defender-office-365/#:~:text=,Microsoft%20Defender%20for%20Office%20365" TargetMode="External"/><Relationship Id="rId5" Type="http://schemas.openxmlformats.org/officeDocument/2006/relationships/hyperlink" Target="https://learn.microsoft.com/en-us/training/modules/implement-endpoint-protection-use-microsoft-defender-endpoint/#:~:text=,and%20respond%20to%20advanced%20threats" TargetMode="External"/><Relationship Id="rId4" Type="http://schemas.openxmlformats.org/officeDocument/2006/relationships/hyperlink" Target="https://learn.microsoft.com/en-us/training/modules/implement-app-protection-use-microsoft-defender-cloud-apps/#:~:text=,critical%20data%20across%20cloud%20applications"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learn.microsoft.com/en-us/training/modules/explore-threat-intelligence-microsoft-365-defender/#:~:text=,the%20Microsoft%20Intelligent%20Security%20Graph"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learn.microsoft.com/en-us/training/modules/implement-threat-protection-use-microsoft-defender-office-365/#:~:text=,Microsoft%20Defender%20for%20Office%20365" TargetMode="External"/><Relationship Id="rId5" Type="http://schemas.openxmlformats.org/officeDocument/2006/relationships/hyperlink" Target="https://learn.microsoft.com/en-us/training/modules/implement-endpoint-protection-use-microsoft-defender-endpoint/#:~:text=,and%20respond%20to%20advanced%20threats" TargetMode="External"/><Relationship Id="rId4" Type="http://schemas.openxmlformats.org/officeDocument/2006/relationships/hyperlink" Target="https://learn.microsoft.com/en-us/training/modules/implement-app-protection-use-microsoft-defender-cloud-apps/#:~:text=,critical%20data%20across%20cloud%20application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learn.microsoft.com/en-us/training/modules/implement-threat-protection-use-microsoft-defender-office-365/#:~:text=,Microsoft%20Defender%20for%20Office%20365"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learn.microsoft.com/en-us/training/modules/implement-endpoint-protection-use-microsoft-defender-endpoint/#:~:text=,and%20respond%20to%20advanced%20threats" TargetMode="External"/><Relationship Id="rId5" Type="http://schemas.openxmlformats.org/officeDocument/2006/relationships/hyperlink" Target="https://learn.microsoft.com/en-us/training/modules/implement-app-protection-use-microsoft-defender-cloud-apps/#:~:text=,critical%20data%20across%20cloud%20applications" TargetMode="External"/><Relationship Id="rId4" Type="http://schemas.openxmlformats.org/officeDocument/2006/relationships/hyperlink" Target="https://learn.microsoft.com/en-us/training/modules/explore-threat-intelligence-microsoft-365-defender/#:~:text=,the%20Microsoft%20Intelligent%20Security%20Grap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F90786E-B72D-4C32-BDCE-A170B0078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82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5E46F2E7-848F-4A6C-A098-4764FDEA7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8262"/>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4" name="Image 0" descr="preencoded.png"/>
          <p:cNvPicPr>
            <a:picLocks noChangeAspect="1"/>
          </p:cNvPicPr>
          <p:nvPr/>
        </p:nvPicPr>
        <p:blipFill>
          <a:blip r:embed="rId3">
            <a:alphaModFix amt="60000"/>
          </a:blip>
          <a:srcRect t="6760" b="8892"/>
          <a:stretch>
            <a:fillRect/>
          </a:stretch>
        </p:blipFill>
        <p:spPr>
          <a:xfrm>
            <a:off x="20" y="10"/>
            <a:ext cx="9143980" cy="5148252"/>
          </a:xfrm>
          <a:prstGeom prst="rect">
            <a:avLst/>
          </a:prstGeom>
        </p:spPr>
      </p:pic>
      <p:sp>
        <p:nvSpPr>
          <p:cNvPr id="2" name="Text 0"/>
          <p:cNvSpPr/>
          <p:nvPr/>
        </p:nvSpPr>
        <p:spPr>
          <a:xfrm>
            <a:off x="628649" y="1254838"/>
            <a:ext cx="3866446" cy="3056861"/>
          </a:xfrm>
          <a:prstGeom prst="rect">
            <a:avLst/>
          </a:prstGeom>
        </p:spPr>
        <p:txBody>
          <a:bodyPr vert="horz" lIns="91440" tIns="45720" rIns="91440" bIns="45720" rtlCol="0" anchor="t">
            <a:normAutofit/>
          </a:bodyPr>
          <a:lstStyle/>
          <a:p>
            <a:pPr marL="0" indent="0">
              <a:lnSpc>
                <a:spcPct val="90000"/>
              </a:lnSpc>
              <a:spcBef>
                <a:spcPct val="0"/>
              </a:spcBef>
              <a:spcAft>
                <a:spcPts val="600"/>
              </a:spcAft>
            </a:pPr>
            <a:r>
              <a:rPr lang="en-US" sz="3400" b="1">
                <a:solidFill>
                  <a:srgbClr val="FFFFFF"/>
                </a:solidFill>
                <a:latin typeface="+mj-lt"/>
                <a:ea typeface="+mj-ea"/>
                <a:cs typeface="+mj-cs"/>
              </a:rPr>
              <a:t>Implement threat protection
using Microsoft Defender XDR</a:t>
            </a:r>
            <a:endParaRPr lang="en-US" sz="3400">
              <a:solidFill>
                <a:srgbClr val="FFFFFF"/>
              </a:solidFill>
              <a:latin typeface="+mj-lt"/>
              <a:ea typeface="+mj-ea"/>
              <a:cs typeface="+mj-cs"/>
            </a:endParaRPr>
          </a:p>
          <a:p>
            <a:pPr marL="0" indent="0">
              <a:lnSpc>
                <a:spcPct val="90000"/>
              </a:lnSpc>
              <a:spcBef>
                <a:spcPct val="0"/>
              </a:spcBef>
              <a:spcAft>
                <a:spcPts val="600"/>
              </a:spcAft>
            </a:pPr>
            <a:r>
              <a:rPr lang="en-US" sz="3400" i="1">
                <a:solidFill>
                  <a:srgbClr val="FFFFFF"/>
                </a:solidFill>
                <a:latin typeface="+mj-lt"/>
                <a:ea typeface="+mj-ea"/>
                <a:cs typeface="+mj-cs"/>
              </a:rPr>
              <a:t>Learning Path Overview</a:t>
            </a:r>
            <a:endParaRPr lang="en-US" sz="3400">
              <a:solidFill>
                <a:srgbClr val="FFFFFF"/>
              </a:solidFill>
              <a:latin typeface="+mj-lt"/>
              <a:ea typeface="+mj-ea"/>
              <a:cs typeface="+mj-cs"/>
            </a:endParaRPr>
          </a:p>
        </p:txBody>
      </p:sp>
      <p:sp>
        <p:nvSpPr>
          <p:cNvPr id="3" name="Text 1"/>
          <p:cNvSpPr/>
          <p:nvPr/>
        </p:nvSpPr>
        <p:spPr>
          <a:xfrm>
            <a:off x="4639489" y="1254835"/>
            <a:ext cx="3878146" cy="3056860"/>
          </a:xfrm>
          <a:prstGeom prst="rect">
            <a:avLst/>
          </a:prstGeom>
        </p:spPr>
        <p:txBody>
          <a:bodyPr vert="horz" lIns="91440" tIns="45720" rIns="91440" bIns="45720" rtlCol="0">
            <a:normAutofit/>
          </a:bodyPr>
          <a:lstStyle/>
          <a:p>
            <a:pPr marL="0" indent="-228600">
              <a:lnSpc>
                <a:spcPct val="90000"/>
              </a:lnSpc>
              <a:spcAft>
                <a:spcPts val="600"/>
              </a:spcAft>
              <a:buFont typeface="Arial" panose="020B0604020202020204" pitchFamily="34" charset="0"/>
              <a:buChar char="•"/>
            </a:pPr>
            <a:r>
              <a:rPr lang="en-US" dirty="0">
                <a:solidFill>
                  <a:srgbClr val="FFFFFF"/>
                </a:solidFill>
              </a:rPr>
              <a:t>Explore threat intelligence and implement app, endpoint and email protection to defend against modern threats.</a:t>
            </a:r>
          </a:p>
        </p:txBody>
      </p:sp>
      <p:sp>
        <p:nvSpPr>
          <p:cNvPr id="5" name="Text 2"/>
          <p:cNvSpPr/>
          <p:nvPr/>
        </p:nvSpPr>
        <p:spPr>
          <a:xfrm>
            <a:off x="457200" y="4754880"/>
            <a:ext cx="8229600" cy="274320"/>
          </a:xfrm>
          <a:prstGeom prst="rect">
            <a:avLst/>
          </a:prstGeom>
          <a:noFill/>
          <a:ln/>
        </p:spPr>
        <p:txBody>
          <a:bodyPr wrap="square" lIns="0" tIns="0" rIns="0" bIns="0" rtlCol="0" anchor="ctr"/>
          <a:lstStyle/>
          <a:p>
            <a:pPr marL="0" indent="0" algn="l">
              <a:spcAft>
                <a:spcPts val="600"/>
              </a:spcAft>
              <a:buNone/>
            </a:pPr>
            <a:r>
              <a:rPr lang="en-US" sz="600" u="sng">
                <a:solidFill>
                  <a:srgbClr val="4472C4"/>
                </a:solidFill>
                <a:hlinkClick r:id="rId4"/>
              </a:rPr>
              <a:t>[1]</a:t>
            </a:r>
            <a:endParaRPr lang="en-US" sz="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8262"/>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8262"/>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9944" y="1059943"/>
            <a:ext cx="5148263"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9945" y="1067553"/>
            <a:ext cx="5148262"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575074" y="2694958"/>
            <a:ext cx="1878222"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727961"/>
            <a:ext cx="2925267" cy="3137121"/>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Rectangle 2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9951" y="1052331"/>
            <a:ext cx="5148265"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350041" y="440548"/>
            <a:ext cx="2401025" cy="2542975"/>
          </a:xfrm>
          <a:prstGeom prst="rect">
            <a:avLst/>
          </a:prstGeom>
        </p:spPr>
        <p:txBody>
          <a:bodyPr vert="horz" lIns="91440" tIns="45720" rIns="91440" bIns="45720" rtlCol="0" anchor="b">
            <a:normAutofit/>
          </a:bodyPr>
          <a:lstStyle/>
          <a:p>
            <a:pPr marL="0" indent="0" algn="r">
              <a:lnSpc>
                <a:spcPct val="90000"/>
              </a:lnSpc>
              <a:spcBef>
                <a:spcPct val="0"/>
              </a:spcBef>
              <a:spcAft>
                <a:spcPts val="600"/>
              </a:spcAft>
            </a:pPr>
            <a:r>
              <a:rPr lang="en-US" sz="3000" kern="1200">
                <a:solidFill>
                  <a:srgbClr val="FFFFFF"/>
                </a:solidFill>
                <a:latin typeface="+mj-lt"/>
                <a:ea typeface="+mj-ea"/>
                <a:cs typeface="+mj-cs"/>
              </a:rPr>
              <a:t>Learning Objectives</a:t>
            </a:r>
          </a:p>
        </p:txBody>
      </p:sp>
      <p:sp>
        <p:nvSpPr>
          <p:cNvPr id="4" name="Text 2"/>
          <p:cNvSpPr/>
          <p:nvPr/>
        </p:nvSpPr>
        <p:spPr>
          <a:xfrm>
            <a:off x="3607694" y="487561"/>
            <a:ext cx="4916510" cy="4163386"/>
          </a:xfrm>
          <a:prstGeom prst="rect">
            <a:avLst/>
          </a:prstGeom>
        </p:spPr>
        <p:txBody>
          <a:bodyPr vert="horz" lIns="91440" tIns="45720" rIns="91440" bIns="45720" rtlCol="0" anchor="ctr">
            <a:normAutofit/>
          </a:bodyPr>
          <a:lstStyle/>
          <a:p>
            <a:pPr marL="285750" indent="-285750">
              <a:lnSpc>
                <a:spcPct val="90000"/>
              </a:lnSpc>
              <a:spcAft>
                <a:spcPts val="600"/>
              </a:spcAft>
              <a:buFont typeface="Arial" panose="020B0604020202020204" pitchFamily="34" charset="0"/>
              <a:buChar char="•"/>
            </a:pPr>
            <a:r>
              <a:rPr lang="en-US" sz="1500" dirty="0"/>
              <a:t>Describe how Microsoft threat intelligence and the security graph power Defender XDR.</a:t>
            </a:r>
          </a:p>
          <a:p>
            <a:pPr marL="285750" indent="-285750">
              <a:lnSpc>
                <a:spcPct val="90000"/>
              </a:lnSpc>
              <a:spcAft>
                <a:spcPts val="600"/>
              </a:spcAft>
              <a:buFont typeface="Arial" panose="020B0604020202020204" pitchFamily="34" charset="0"/>
              <a:buChar char="•"/>
            </a:pPr>
            <a:r>
              <a:rPr lang="en-US" sz="1500" dirty="0"/>
              <a:t>Protect cloud applications with Defender for Cloud Apps, including deployment, policies and alerts.</a:t>
            </a:r>
          </a:p>
          <a:p>
            <a:pPr marL="285750" indent="-285750">
              <a:lnSpc>
                <a:spcPct val="90000"/>
              </a:lnSpc>
              <a:spcAft>
                <a:spcPts val="600"/>
              </a:spcAft>
              <a:buFont typeface="Arial" panose="020B0604020202020204" pitchFamily="34" charset="0"/>
              <a:buChar char="•"/>
            </a:pPr>
            <a:r>
              <a:rPr lang="en-US" sz="1500" dirty="0"/>
              <a:t>Implement endpoint protection with Defender for Endpoint: onboard devices, reduce attack surfaces, remediate vulnerabilities.</a:t>
            </a:r>
          </a:p>
          <a:p>
            <a:pPr marL="285750" indent="-285750">
              <a:lnSpc>
                <a:spcPct val="90000"/>
              </a:lnSpc>
              <a:spcAft>
                <a:spcPts val="600"/>
              </a:spcAft>
              <a:buFont typeface="Arial" panose="020B0604020202020204" pitchFamily="34" charset="0"/>
              <a:buChar char="•"/>
            </a:pPr>
            <a:r>
              <a:rPr lang="en-US" sz="1500" dirty="0"/>
              <a:t>Enhance email protection with Defender for Office 365: use Threat Explorer, Threat Tracker and Attack Simulation.</a:t>
            </a:r>
          </a:p>
        </p:txBody>
      </p:sp>
      <p:sp>
        <p:nvSpPr>
          <p:cNvPr id="11" name="Text 9"/>
          <p:cNvSpPr/>
          <p:nvPr/>
        </p:nvSpPr>
        <p:spPr>
          <a:xfrm>
            <a:off x="457200" y="4754880"/>
            <a:ext cx="8229600" cy="274320"/>
          </a:xfrm>
          <a:prstGeom prst="rect">
            <a:avLst/>
          </a:prstGeom>
          <a:noFill/>
          <a:ln/>
        </p:spPr>
        <p:txBody>
          <a:bodyPr wrap="square" lIns="0" tIns="0" rIns="0" bIns="0" rtlCol="0" anchor="ctr"/>
          <a:lstStyle/>
          <a:p>
            <a:pPr marL="0" indent="0" algn="l">
              <a:spcAft>
                <a:spcPts val="600"/>
              </a:spcAft>
              <a:buNone/>
            </a:pPr>
            <a:r>
              <a:rPr lang="en-US" sz="600" u="sng" dirty="0">
                <a:solidFill>
                  <a:srgbClr val="4472C4"/>
                </a:solidFill>
                <a:hlinkClick r:id="rId3"/>
              </a:rPr>
              <a:t>[2]</a:t>
            </a:r>
            <a:r>
              <a:rPr lang="en-US" sz="600" dirty="0">
                <a:solidFill>
                  <a:srgbClr val="000000"/>
                </a:solidFill>
              </a:rPr>
              <a:t>  </a:t>
            </a:r>
            <a:r>
              <a:rPr lang="en-US" sz="600" u="sng" dirty="0">
                <a:solidFill>
                  <a:srgbClr val="4472C4"/>
                </a:solidFill>
                <a:hlinkClick r:id="rId4"/>
              </a:rPr>
              <a:t>[3]</a:t>
            </a:r>
            <a:r>
              <a:rPr lang="en-US" sz="600" dirty="0">
                <a:solidFill>
                  <a:srgbClr val="000000"/>
                </a:solidFill>
              </a:rPr>
              <a:t>  </a:t>
            </a:r>
            <a:r>
              <a:rPr lang="en-US" sz="600" u="sng" dirty="0">
                <a:solidFill>
                  <a:srgbClr val="4472C4"/>
                </a:solidFill>
                <a:hlinkClick r:id="rId5"/>
              </a:rPr>
              <a:t>[4]</a:t>
            </a:r>
            <a:r>
              <a:rPr lang="en-US" sz="600" dirty="0">
                <a:solidFill>
                  <a:srgbClr val="000000"/>
                </a:solidFill>
              </a:rPr>
              <a:t>  </a:t>
            </a:r>
            <a:r>
              <a:rPr lang="en-US" sz="600" u="sng" dirty="0">
                <a:solidFill>
                  <a:srgbClr val="4472C4"/>
                </a:solidFill>
                <a:hlinkClick r:id="rId6"/>
              </a:rPr>
              <a:t>[5]</a:t>
            </a:r>
            <a:endParaRPr lang="en-US" sz="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8262"/>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183060"/>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182689"/>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9144001" cy="1181825"/>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524784" y="186200"/>
            <a:ext cx="5297791" cy="870205"/>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3000" b="1" kern="1200">
                <a:solidFill>
                  <a:srgbClr val="FFFFFF"/>
                </a:solidFill>
                <a:latin typeface="+mj-lt"/>
                <a:ea typeface="+mj-ea"/>
                <a:cs typeface="+mj-cs"/>
              </a:rPr>
              <a:t>Modules Overview</a:t>
            </a:r>
            <a:endParaRPr lang="en-US" sz="3000" kern="1200">
              <a:solidFill>
                <a:srgbClr val="FFFFFF"/>
              </a:solidFill>
              <a:latin typeface="+mj-lt"/>
              <a:ea typeface="+mj-ea"/>
              <a:cs typeface="+mj-cs"/>
            </a:endParaRPr>
          </a:p>
        </p:txBody>
      </p:sp>
      <p:sp>
        <p:nvSpPr>
          <p:cNvPr id="3" name="Text 1"/>
          <p:cNvSpPr/>
          <p:nvPr/>
        </p:nvSpPr>
        <p:spPr>
          <a:xfrm>
            <a:off x="6429374" y="293395"/>
            <a:ext cx="2425189" cy="655816"/>
          </a:xfrm>
          <a:prstGeom prst="rect">
            <a:avLst/>
          </a:prstGeom>
        </p:spPr>
        <p:txBody>
          <a:bodyPr vert="horz" lIns="91440" tIns="45720" rIns="91440" bIns="45720" rtlCol="0" anchor="ctr">
            <a:normAutofit/>
          </a:bodyPr>
          <a:lstStyle/>
          <a:p>
            <a:pPr>
              <a:lnSpc>
                <a:spcPct val="90000"/>
              </a:lnSpc>
              <a:spcBef>
                <a:spcPts val="1000"/>
              </a:spcBef>
            </a:pPr>
            <a:r>
              <a:rPr lang="en-US" sz="1500" u="sng" kern="1200">
                <a:solidFill>
                  <a:srgbClr val="FFFFFF"/>
                </a:solidFill>
                <a:latin typeface="+mn-lt"/>
                <a:ea typeface="+mn-ea"/>
                <a:cs typeface="+mn-cs"/>
                <a:hlinkClick r:id="rId3"/>
              </a:rPr>
              <a:t>[6]</a:t>
            </a:r>
            <a:r>
              <a:rPr lang="en-US" sz="1500" kern="1200">
                <a:solidFill>
                  <a:srgbClr val="FFFFFF"/>
                </a:solidFill>
                <a:latin typeface="+mn-lt"/>
                <a:ea typeface="+mn-ea"/>
                <a:cs typeface="+mn-cs"/>
              </a:rPr>
              <a:t>  </a:t>
            </a:r>
            <a:r>
              <a:rPr lang="en-US" sz="1500" u="sng" kern="1200">
                <a:solidFill>
                  <a:srgbClr val="FFFFFF"/>
                </a:solidFill>
                <a:latin typeface="+mn-lt"/>
                <a:ea typeface="+mn-ea"/>
                <a:cs typeface="+mn-cs"/>
                <a:hlinkClick r:id="rId4"/>
              </a:rPr>
              <a:t>[7]</a:t>
            </a:r>
            <a:r>
              <a:rPr lang="en-US" sz="1500" kern="1200">
                <a:solidFill>
                  <a:srgbClr val="FFFFFF"/>
                </a:solidFill>
                <a:latin typeface="+mn-lt"/>
                <a:ea typeface="+mn-ea"/>
                <a:cs typeface="+mn-cs"/>
              </a:rPr>
              <a:t>  </a:t>
            </a:r>
            <a:r>
              <a:rPr lang="en-US" sz="1500" u="sng" kern="1200">
                <a:solidFill>
                  <a:srgbClr val="FFFFFF"/>
                </a:solidFill>
                <a:latin typeface="+mn-lt"/>
                <a:ea typeface="+mn-ea"/>
                <a:cs typeface="+mn-cs"/>
                <a:hlinkClick r:id="rId5"/>
              </a:rPr>
              <a:t>[8]</a:t>
            </a:r>
            <a:r>
              <a:rPr lang="en-US" sz="1500" kern="1200">
                <a:solidFill>
                  <a:srgbClr val="FFFFFF"/>
                </a:solidFill>
                <a:latin typeface="+mn-lt"/>
                <a:ea typeface="+mn-ea"/>
                <a:cs typeface="+mn-cs"/>
              </a:rPr>
              <a:t>  </a:t>
            </a:r>
            <a:r>
              <a:rPr lang="en-US" sz="1500" u="sng" kern="1200">
                <a:solidFill>
                  <a:srgbClr val="FFFFFF"/>
                </a:solidFill>
                <a:latin typeface="+mn-lt"/>
                <a:ea typeface="+mn-ea"/>
                <a:cs typeface="+mn-cs"/>
                <a:hlinkClick r:id="rId6"/>
              </a:rPr>
              <a:t>[9]</a:t>
            </a:r>
            <a:endParaRPr lang="en-US" sz="1500" kern="1200">
              <a:solidFill>
                <a:srgbClr val="FFFFFF"/>
              </a:solidFill>
              <a:latin typeface="+mn-lt"/>
              <a:ea typeface="+mn-ea"/>
              <a:cs typeface="+mn-cs"/>
            </a:endParaRPr>
          </a:p>
        </p:txBody>
      </p:sp>
      <p:graphicFrame>
        <p:nvGraphicFramePr>
          <p:cNvPr id="4" name="Table 0"/>
          <p:cNvGraphicFramePr>
            <a:graphicFrameLocks noGrp="1"/>
          </p:cNvGraphicFramePr>
          <p:nvPr>
            <p:extLst>
              <p:ext uri="{D42A27DB-BD31-4B8C-83A1-F6EECF244321}">
                <p14:modId xmlns:p14="http://schemas.microsoft.com/office/powerpoint/2010/main" val="832659512"/>
              </p:ext>
            </p:extLst>
          </p:nvPr>
        </p:nvGraphicFramePr>
        <p:xfrm>
          <a:off x="324168" y="1677037"/>
          <a:ext cx="8495663" cy="2940311"/>
        </p:xfrm>
        <a:graphic>
          <a:graphicData uri="http://schemas.openxmlformats.org/drawingml/2006/table">
            <a:tbl>
              <a:tblPr firstRow="1" bandRow="1"/>
              <a:tblGrid>
                <a:gridCol w="4146456">
                  <a:extLst>
                    <a:ext uri="{9D8B030D-6E8A-4147-A177-3AD203B41FA5}">
                      <a16:colId xmlns:a16="http://schemas.microsoft.com/office/drawing/2014/main" val="20000"/>
                    </a:ext>
                  </a:extLst>
                </a:gridCol>
                <a:gridCol w="4349207">
                  <a:extLst>
                    <a:ext uri="{9D8B030D-6E8A-4147-A177-3AD203B41FA5}">
                      <a16:colId xmlns:a16="http://schemas.microsoft.com/office/drawing/2014/main" val="20001"/>
                    </a:ext>
                  </a:extLst>
                </a:gridCol>
              </a:tblGrid>
              <a:tr h="422411">
                <a:tc>
                  <a:txBody>
                    <a:bodyPr/>
                    <a:lstStyle/>
                    <a:p>
                      <a:pPr marL="0" indent="0" algn="l">
                        <a:buNone/>
                      </a:pPr>
                      <a:r>
                        <a:rPr lang="en-US" sz="1600" b="1">
                          <a:solidFill>
                            <a:srgbClr val="FFFFFF"/>
                          </a:solidFill>
                        </a:rPr>
                        <a:t>Module</a:t>
                      </a:r>
                      <a:endParaRPr lang="en-US" sz="1600"/>
                    </a:p>
                  </a:txBody>
                  <a:tcPr marL="124238" marR="124238" marT="62119" marB="62119">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1F4E79"/>
                    </a:solidFill>
                  </a:tcPr>
                </a:tc>
                <a:tc>
                  <a:txBody>
                    <a:bodyPr/>
                    <a:lstStyle/>
                    <a:p>
                      <a:pPr marL="0" indent="0" algn="l">
                        <a:buNone/>
                      </a:pPr>
                      <a:r>
                        <a:rPr lang="en-US" sz="1600" b="1">
                          <a:solidFill>
                            <a:srgbClr val="FFFFFF"/>
                          </a:solidFill>
                        </a:rPr>
                        <a:t>Key topics</a:t>
                      </a:r>
                      <a:endParaRPr lang="en-US" sz="1600"/>
                    </a:p>
                  </a:txBody>
                  <a:tcPr marL="124238" marR="124238" marT="62119" marB="62119">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629475">
                <a:tc>
                  <a:txBody>
                    <a:bodyPr/>
                    <a:lstStyle/>
                    <a:p>
                      <a:pPr marL="0" indent="0" algn="l">
                        <a:buNone/>
                      </a:pPr>
                      <a:r>
                        <a:rPr lang="en-US" sz="1500">
                          <a:solidFill>
                            <a:srgbClr val="1F4E79"/>
                          </a:solidFill>
                        </a:rPr>
                        <a:t>Threat intelligence in Defender XDR</a:t>
                      </a:r>
                      <a:endParaRPr lang="en-US" sz="1500"/>
                    </a:p>
                  </a:txBody>
                  <a:tcPr marL="124238" marR="124238" marT="62119" marB="62119"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6F9FC"/>
                    </a:solidFill>
                  </a:tcPr>
                </a:tc>
                <a:tc>
                  <a:txBody>
                    <a:bodyPr/>
                    <a:lstStyle/>
                    <a:p>
                      <a:pPr marL="0" indent="0" algn="l">
                        <a:buNone/>
                      </a:pPr>
                      <a:r>
                        <a:rPr lang="en-US" sz="1500">
                          <a:solidFill>
                            <a:srgbClr val="35547B"/>
                          </a:solidFill>
                        </a:rPr>
                        <a:t>Security graph, automated investigation &amp; response, threat hunting</a:t>
                      </a:r>
                      <a:endParaRPr lang="en-US" sz="1500"/>
                    </a:p>
                  </a:txBody>
                  <a:tcPr marL="124238" marR="124238" marT="62119" marB="62119"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6F9FC"/>
                    </a:solidFill>
                  </a:tcPr>
                </a:tc>
                <a:extLst>
                  <a:ext uri="{0D108BD9-81ED-4DB2-BD59-A6C34878D82A}">
                    <a16:rowId xmlns:a16="http://schemas.microsoft.com/office/drawing/2014/main" val="10001"/>
                  </a:ext>
                </a:extLst>
              </a:tr>
              <a:tr h="629475">
                <a:tc>
                  <a:txBody>
                    <a:bodyPr/>
                    <a:lstStyle/>
                    <a:p>
                      <a:pPr marL="0" indent="0" algn="l">
                        <a:buNone/>
                      </a:pPr>
                      <a:r>
                        <a:rPr lang="en-US" sz="1500">
                          <a:solidFill>
                            <a:srgbClr val="1F4E79"/>
                          </a:solidFill>
                        </a:rPr>
                        <a:t>App protection with Defender for Cloud Apps</a:t>
                      </a:r>
                      <a:endParaRPr lang="en-US" sz="1500"/>
                    </a:p>
                  </a:txBody>
                  <a:tcPr marL="124238" marR="124238" marT="62119" marB="62119"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FFFFF"/>
                    </a:solidFill>
                  </a:tcPr>
                </a:tc>
                <a:tc>
                  <a:txBody>
                    <a:bodyPr/>
                    <a:lstStyle/>
                    <a:p>
                      <a:pPr marL="0" indent="0" algn="l">
                        <a:buNone/>
                      </a:pPr>
                      <a:r>
                        <a:rPr lang="en-US" sz="1500">
                          <a:solidFill>
                            <a:srgbClr val="35547B"/>
                          </a:solidFill>
                        </a:rPr>
                        <a:t>Visibility, file &amp; app policies, alert management, Cloud Discovery</a:t>
                      </a:r>
                      <a:endParaRPr lang="en-US" sz="1500"/>
                    </a:p>
                  </a:txBody>
                  <a:tcPr marL="124238" marR="124238" marT="62119" marB="62119"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9475">
                <a:tc>
                  <a:txBody>
                    <a:bodyPr/>
                    <a:lstStyle/>
                    <a:p>
                      <a:pPr marL="0" indent="0" algn="l">
                        <a:buNone/>
                      </a:pPr>
                      <a:r>
                        <a:rPr lang="en-US" sz="1500">
                          <a:solidFill>
                            <a:srgbClr val="1F4E79"/>
                          </a:solidFill>
                        </a:rPr>
                        <a:t>Endpoint protection with Defender for Endpoint</a:t>
                      </a:r>
                      <a:endParaRPr lang="en-US" sz="1500"/>
                    </a:p>
                  </a:txBody>
                  <a:tcPr marL="124238" marR="124238" marT="62119" marB="62119"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6F9FC"/>
                    </a:solidFill>
                  </a:tcPr>
                </a:tc>
                <a:tc>
                  <a:txBody>
                    <a:bodyPr/>
                    <a:lstStyle/>
                    <a:p>
                      <a:pPr marL="0" indent="0" algn="l">
                        <a:buNone/>
                      </a:pPr>
                      <a:r>
                        <a:rPr lang="en-US" sz="1500">
                          <a:solidFill>
                            <a:srgbClr val="35547B"/>
                          </a:solidFill>
                        </a:rPr>
                        <a:t>Device onboarding, threat &amp; vulnerability management, remediation</a:t>
                      </a:r>
                      <a:endParaRPr lang="en-US" sz="1500"/>
                    </a:p>
                  </a:txBody>
                  <a:tcPr marL="124238" marR="124238" marT="62119" marB="62119"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6F9FC"/>
                    </a:solidFill>
                  </a:tcPr>
                </a:tc>
                <a:extLst>
                  <a:ext uri="{0D108BD9-81ED-4DB2-BD59-A6C34878D82A}">
                    <a16:rowId xmlns:a16="http://schemas.microsoft.com/office/drawing/2014/main" val="10003"/>
                  </a:ext>
                </a:extLst>
              </a:tr>
              <a:tr h="629475">
                <a:tc>
                  <a:txBody>
                    <a:bodyPr/>
                    <a:lstStyle/>
                    <a:p>
                      <a:pPr marL="0" indent="0" algn="l">
                        <a:buNone/>
                      </a:pPr>
                      <a:r>
                        <a:rPr lang="en-US" sz="1500">
                          <a:solidFill>
                            <a:srgbClr val="1F4E79"/>
                          </a:solidFill>
                        </a:rPr>
                        <a:t>Email threat protection in Defender for Office 365</a:t>
                      </a:r>
                      <a:endParaRPr lang="en-US" sz="1500"/>
                    </a:p>
                  </a:txBody>
                  <a:tcPr marL="124238" marR="124238" marT="62119" marB="62119"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FFFFF"/>
                    </a:solidFill>
                  </a:tcPr>
                </a:tc>
                <a:tc>
                  <a:txBody>
                    <a:bodyPr/>
                    <a:lstStyle/>
                    <a:p>
                      <a:pPr marL="0" indent="0" algn="l">
                        <a:buNone/>
                      </a:pPr>
                      <a:r>
                        <a:rPr lang="en-US" sz="1500">
                          <a:solidFill>
                            <a:srgbClr val="35547B"/>
                          </a:solidFill>
                        </a:rPr>
                        <a:t>Protection stack, Threat Explorer &amp; Tracker, Attack Simulation</a:t>
                      </a:r>
                      <a:endParaRPr lang="en-US" sz="1500"/>
                    </a:p>
                  </a:txBody>
                  <a:tcPr marL="124238" marR="124238" marT="62119" marB="62119"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marL="0" indent="0">
              <a:buNone/>
            </a:pPr>
            <a:r>
              <a:rPr lang="en-US" sz="2600" b="1" dirty="0">
                <a:solidFill>
                  <a:srgbClr val="1F4E79"/>
                </a:solidFill>
              </a:rPr>
              <a:t>Summary &amp; Next Steps</a:t>
            </a:r>
            <a:endParaRPr lang="en-US" sz="2600" dirty="0"/>
          </a:p>
        </p:txBody>
      </p:sp>
      <p:sp>
        <p:nvSpPr>
          <p:cNvPr id="3" name="Text 1"/>
          <p:cNvSpPr/>
          <p:nvPr/>
        </p:nvSpPr>
        <p:spPr>
          <a:xfrm>
            <a:off x="548640" y="1188720"/>
            <a:ext cx="5120640" cy="2377440"/>
          </a:xfrm>
          <a:prstGeom prst="rect">
            <a:avLst/>
          </a:prstGeom>
          <a:noFill/>
          <a:ln/>
        </p:spPr>
        <p:txBody>
          <a:bodyPr wrap="square" rtlCol="0" anchor="ctr"/>
          <a:lstStyle/>
          <a:p>
            <a:pPr marL="171450" indent="-171450">
              <a:buFont typeface="Arial" panose="020B0604020202020204" pitchFamily="34" charset="0"/>
              <a:buChar char="•"/>
            </a:pPr>
            <a:r>
              <a:rPr lang="en-US" sz="1200" dirty="0">
                <a:solidFill>
                  <a:srgbClr val="35547B"/>
                </a:solidFill>
              </a:rPr>
              <a:t>Harness Microsoft threat intelligence to detect and hunt threats proactively.
Secure your cloud apps with policies and alerts that address Shadow IT and sensitive data.
Protect endpoints by onboarding devices and remediating vulnerabilities based on prioritised recommendations.
Use Defender for Office 365 to investigate threats and educate users through realistic attack simulations.</a:t>
            </a:r>
            <a:endParaRPr lang="en-US" sz="1200" dirty="0"/>
          </a:p>
        </p:txBody>
      </p:sp>
      <p:sp>
        <p:nvSpPr>
          <p:cNvPr id="4" name="Shape 2"/>
          <p:cNvSpPr/>
          <p:nvPr/>
        </p:nvSpPr>
        <p:spPr>
          <a:xfrm>
            <a:off x="5852160" y="1188720"/>
            <a:ext cx="2926080" cy="1828800"/>
          </a:xfrm>
          <a:prstGeom prst="roundRect">
            <a:avLst>
              <a:gd name="adj" fmla="val 5000"/>
            </a:avLst>
          </a:prstGeom>
          <a:solidFill>
            <a:srgbClr val="E9F2FB"/>
          </a:solidFill>
          <a:ln w="12700">
            <a:solidFill>
              <a:srgbClr val="B3CCE6"/>
            </a:solidFill>
            <a:prstDash val="solid"/>
          </a:ln>
        </p:spPr>
        <p:txBody>
          <a:bodyPr/>
          <a:lstStyle/>
          <a:p>
            <a:endParaRPr/>
          </a:p>
        </p:txBody>
      </p:sp>
      <p:pic>
        <p:nvPicPr>
          <p:cNvPr id="5" name="Image 0" descr="preencoded.png"/>
          <p:cNvPicPr>
            <a:picLocks noChangeAspect="1"/>
          </p:cNvPicPr>
          <p:nvPr/>
        </p:nvPicPr>
        <p:blipFill>
          <a:blip r:embed="rId3"/>
          <a:stretch>
            <a:fillRect/>
          </a:stretch>
        </p:blipFill>
        <p:spPr>
          <a:xfrm>
            <a:off x="6035040" y="1371600"/>
            <a:ext cx="365760" cy="365760"/>
          </a:xfrm>
          <a:prstGeom prst="rect">
            <a:avLst/>
          </a:prstGeom>
        </p:spPr>
      </p:pic>
      <p:sp>
        <p:nvSpPr>
          <p:cNvPr id="6" name="Text 3"/>
          <p:cNvSpPr/>
          <p:nvPr/>
        </p:nvSpPr>
        <p:spPr>
          <a:xfrm>
            <a:off x="6492240" y="1371600"/>
            <a:ext cx="2103120" cy="731520"/>
          </a:xfrm>
          <a:prstGeom prst="rect">
            <a:avLst/>
          </a:prstGeom>
          <a:noFill/>
          <a:ln/>
        </p:spPr>
        <p:txBody>
          <a:bodyPr wrap="square" rtlCol="0" anchor="ctr"/>
          <a:lstStyle/>
          <a:p>
            <a:pPr marL="0" indent="0" algn="l">
              <a:buNone/>
            </a:pPr>
            <a:r>
              <a:rPr lang="en-US" sz="1200" b="1" dirty="0">
                <a:solidFill>
                  <a:srgbClr val="1F4E79"/>
                </a:solidFill>
              </a:rPr>
              <a:t>Proceed to 
</a:t>
            </a:r>
            <a:r>
              <a:rPr lang="en-US" sz="1200" i="1" dirty="0">
                <a:solidFill>
                  <a:srgbClr val="35547B"/>
                </a:solidFill>
              </a:rPr>
              <a:t>“Explore data governance”</a:t>
            </a:r>
            <a:endParaRPr lang="en-US" sz="1200" dirty="0"/>
          </a:p>
        </p:txBody>
      </p:sp>
      <p:sp>
        <p:nvSpPr>
          <p:cNvPr id="7" name="Text 4"/>
          <p:cNvSpPr/>
          <p:nvPr/>
        </p:nvSpPr>
        <p:spPr>
          <a:xfrm>
            <a:off x="6035040" y="2194560"/>
            <a:ext cx="2651760" cy="731520"/>
          </a:xfrm>
          <a:prstGeom prst="rect">
            <a:avLst/>
          </a:prstGeom>
          <a:noFill/>
          <a:ln/>
        </p:spPr>
        <p:txBody>
          <a:bodyPr wrap="square" rtlCol="0" anchor="ctr"/>
          <a:lstStyle/>
          <a:p>
            <a:pPr marL="0" indent="0">
              <a:buNone/>
            </a:pPr>
            <a:r>
              <a:rPr lang="en-US" sz="1000" dirty="0">
                <a:solidFill>
                  <a:srgbClr val="4A6588"/>
                </a:solidFill>
              </a:rPr>
              <a:t>Up next: learn about archiving, retention, information protection and insider risk management within Microsoft 365.</a:t>
            </a:r>
            <a:endParaRPr lang="en-US" sz="1000" dirty="0"/>
          </a:p>
        </p:txBody>
      </p:sp>
      <p:sp>
        <p:nvSpPr>
          <p:cNvPr id="8" name="Text 5"/>
          <p:cNvSpPr/>
          <p:nvPr/>
        </p:nvSpPr>
        <p:spPr>
          <a:xfrm>
            <a:off x="457200" y="4754880"/>
            <a:ext cx="8229600" cy="274320"/>
          </a:xfrm>
          <a:prstGeom prst="rect">
            <a:avLst/>
          </a:prstGeom>
          <a:noFill/>
          <a:ln/>
        </p:spPr>
        <p:txBody>
          <a:bodyPr wrap="square" lIns="0" tIns="0" rIns="0" bIns="0" rtlCol="0" anchor="ctr"/>
          <a:lstStyle/>
          <a:p>
            <a:pPr marL="0" indent="0" algn="l">
              <a:buNone/>
            </a:pPr>
            <a:r>
              <a:rPr lang="en-US" sz="600" u="sng" dirty="0">
                <a:solidFill>
                  <a:srgbClr val="4472C4"/>
                </a:solidFill>
                <a:hlinkClick r:id="rId4"/>
              </a:rPr>
              <a:t>[10]</a:t>
            </a:r>
            <a:r>
              <a:rPr lang="en-US" sz="600" dirty="0">
                <a:solidFill>
                  <a:srgbClr val="000000"/>
                </a:solidFill>
              </a:rPr>
              <a:t>  </a:t>
            </a:r>
            <a:r>
              <a:rPr lang="en-US" sz="600" u="sng" dirty="0">
                <a:solidFill>
                  <a:srgbClr val="4472C4"/>
                </a:solidFill>
                <a:hlinkClick r:id="rId5"/>
              </a:rPr>
              <a:t>[11]</a:t>
            </a:r>
            <a:r>
              <a:rPr lang="en-US" sz="600" dirty="0">
                <a:solidFill>
                  <a:srgbClr val="000000"/>
                </a:solidFill>
              </a:rPr>
              <a:t>  </a:t>
            </a:r>
            <a:r>
              <a:rPr lang="en-US" sz="600" u="sng" dirty="0">
                <a:solidFill>
                  <a:srgbClr val="4472C4"/>
                </a:solidFill>
                <a:hlinkClick r:id="rId6"/>
              </a:rPr>
              <a:t>[12]</a:t>
            </a:r>
            <a:r>
              <a:rPr lang="en-US" sz="600" dirty="0">
                <a:solidFill>
                  <a:srgbClr val="000000"/>
                </a:solidFill>
              </a:rPr>
              <a:t>  </a:t>
            </a:r>
            <a:r>
              <a:rPr lang="en-US" sz="600" u="sng" dirty="0">
                <a:solidFill>
                  <a:srgbClr val="4472C4"/>
                </a:solidFill>
                <a:hlinkClick r:id="rId7"/>
              </a:rPr>
              <a:t>[13]</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1782</Words>
  <Application>Microsoft Office PowerPoint</Application>
  <PresentationFormat>Custom</PresentationFormat>
  <Paragraphs>148</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Raydo</cp:lastModifiedBy>
  <cp:revision>1</cp:revision>
  <dcterms:created xsi:type="dcterms:W3CDTF">2025-12-18T20:34:19Z</dcterms:created>
  <dcterms:modified xsi:type="dcterms:W3CDTF">2025-12-18T22:12:21Z</dcterms:modified>
</cp:coreProperties>
</file>