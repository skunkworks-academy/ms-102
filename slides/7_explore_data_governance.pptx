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8263"/>
  <p:notesSz cx="5148263"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EEF09C-1D1E-4D54-8333-8B75E9CBF784}" v="9" dt="2025-12-18T22:05:30.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3196" autoAdjust="0"/>
  </p:normalViewPr>
  <p:slideViewPr>
    <p:cSldViewPr snapToGrid="0" snapToObjects="1">
      <p:cViewPr varScale="1">
        <p:scale>
          <a:sx n="81" d="100"/>
          <a:sy n="81" d="100"/>
        </p:scale>
        <p:origin x="152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do Matthee" userId="259e028f13680ef9" providerId="LiveId" clId="{6AC1AFA1-16AA-487C-B473-8260DD30DC01}"/>
    <pc:docChg chg="custSel modSld">
      <pc:chgData name="Raydo Matthee" userId="259e028f13680ef9" providerId="LiveId" clId="{6AC1AFA1-16AA-487C-B473-8260DD30DC01}" dt="2025-12-18T22:07:10.934" v="44" actId="12"/>
      <pc:docMkLst>
        <pc:docMk/>
      </pc:docMkLst>
      <pc:sldChg chg="addSp modSp mod setBg modNotesTx">
        <pc:chgData name="Raydo Matthee" userId="259e028f13680ef9" providerId="LiveId" clId="{6AC1AFA1-16AA-487C-B473-8260DD30DC01}" dt="2025-12-18T22:07:10.934" v="44" actId="12"/>
        <pc:sldMkLst>
          <pc:docMk/>
          <pc:sldMk cId="0" sldId="256"/>
        </pc:sldMkLst>
        <pc:spChg chg="mod">
          <ac:chgData name="Raydo Matthee" userId="259e028f13680ef9" providerId="LiveId" clId="{6AC1AFA1-16AA-487C-B473-8260DD30DC01}" dt="2025-12-18T21:46:23.428" v="0" actId="26606"/>
          <ac:spMkLst>
            <pc:docMk/>
            <pc:sldMk cId="0" sldId="256"/>
            <ac:spMk id="2" creationId="{00000000-0000-0000-0000-000000000000}"/>
          </ac:spMkLst>
        </pc:spChg>
        <pc:spChg chg="mod">
          <ac:chgData name="Raydo Matthee" userId="259e028f13680ef9" providerId="LiveId" clId="{6AC1AFA1-16AA-487C-B473-8260DD30DC01}" dt="2025-12-18T22:04:46.129" v="19" actId="5793"/>
          <ac:spMkLst>
            <pc:docMk/>
            <pc:sldMk cId="0" sldId="256"/>
            <ac:spMk id="3" creationId="{00000000-0000-0000-0000-000000000000}"/>
          </ac:spMkLst>
        </pc:spChg>
        <pc:spChg chg="mod">
          <ac:chgData name="Raydo Matthee" userId="259e028f13680ef9" providerId="LiveId" clId="{6AC1AFA1-16AA-487C-B473-8260DD30DC01}" dt="2025-12-18T21:46:23.428" v="0" actId="26606"/>
          <ac:spMkLst>
            <pc:docMk/>
            <pc:sldMk cId="0" sldId="256"/>
            <ac:spMk id="5" creationId="{00000000-0000-0000-0000-000000000000}"/>
          </ac:spMkLst>
        </pc:spChg>
        <pc:spChg chg="add">
          <ac:chgData name="Raydo Matthee" userId="259e028f13680ef9" providerId="LiveId" clId="{6AC1AFA1-16AA-487C-B473-8260DD30DC01}" dt="2025-12-18T21:46:23.428" v="0" actId="26606"/>
          <ac:spMkLst>
            <pc:docMk/>
            <pc:sldMk cId="0" sldId="256"/>
            <ac:spMk id="10" creationId="{C0A1ED06-4733-4020-9C60-81D4D801408D}"/>
          </ac:spMkLst>
        </pc:spChg>
        <pc:spChg chg="add">
          <ac:chgData name="Raydo Matthee" userId="259e028f13680ef9" providerId="LiveId" clId="{6AC1AFA1-16AA-487C-B473-8260DD30DC01}" dt="2025-12-18T21:46:23.428" v="0" actId="26606"/>
          <ac:spMkLst>
            <pc:docMk/>
            <pc:sldMk cId="0" sldId="256"/>
            <ac:spMk id="12" creationId="{B0CA3509-3AF9-45FE-93ED-57BB5D5E8E07}"/>
          </ac:spMkLst>
        </pc:spChg>
        <pc:picChg chg="mod ord">
          <ac:chgData name="Raydo Matthee" userId="259e028f13680ef9" providerId="LiveId" clId="{6AC1AFA1-16AA-487C-B473-8260DD30DC01}" dt="2025-12-18T21:46:23.428" v="0" actId="26606"/>
          <ac:picMkLst>
            <pc:docMk/>
            <pc:sldMk cId="0" sldId="256"/>
            <ac:picMk id="4" creationId="{00000000-0000-0000-0000-000000000000}"/>
          </ac:picMkLst>
        </pc:picChg>
      </pc:sldChg>
      <pc:sldChg chg="addSp delSp modSp mod setBg modNotesTx">
        <pc:chgData name="Raydo Matthee" userId="259e028f13680ef9" providerId="LiveId" clId="{6AC1AFA1-16AA-487C-B473-8260DD30DC01}" dt="2025-12-18T22:06:56.374" v="42" actId="12"/>
        <pc:sldMkLst>
          <pc:docMk/>
          <pc:sldMk cId="0" sldId="257"/>
        </pc:sldMkLst>
        <pc:spChg chg="mod">
          <ac:chgData name="Raydo Matthee" userId="259e028f13680ef9" providerId="LiveId" clId="{6AC1AFA1-16AA-487C-B473-8260DD30DC01}" dt="2025-12-18T22:00:55.064" v="18" actId="26606"/>
          <ac:spMkLst>
            <pc:docMk/>
            <pc:sldMk cId="0" sldId="257"/>
            <ac:spMk id="2" creationId="{00000000-0000-0000-0000-000000000000}"/>
          </ac:spMkLst>
        </pc:spChg>
        <pc:spChg chg="del">
          <ac:chgData name="Raydo Matthee" userId="259e028f13680ef9" providerId="LiveId" clId="{6AC1AFA1-16AA-487C-B473-8260DD30DC01}" dt="2025-12-18T21:59:40.438" v="2" actId="478"/>
          <ac:spMkLst>
            <pc:docMk/>
            <pc:sldMk cId="0" sldId="257"/>
            <ac:spMk id="3" creationId="{00000000-0000-0000-0000-000000000000}"/>
          </ac:spMkLst>
        </pc:spChg>
        <pc:spChg chg="mod">
          <ac:chgData name="Raydo Matthee" userId="259e028f13680ef9" providerId="LiveId" clId="{6AC1AFA1-16AA-487C-B473-8260DD30DC01}" dt="2025-12-18T22:00:55.064" v="18" actId="26606"/>
          <ac:spMkLst>
            <pc:docMk/>
            <pc:sldMk cId="0" sldId="257"/>
            <ac:spMk id="4" creationId="{00000000-0000-0000-0000-000000000000}"/>
          </ac:spMkLst>
        </pc:spChg>
        <pc:spChg chg="del">
          <ac:chgData name="Raydo Matthee" userId="259e028f13680ef9" providerId="LiveId" clId="{6AC1AFA1-16AA-487C-B473-8260DD30DC01}" dt="2025-12-18T21:59:40.438" v="2" actId="478"/>
          <ac:spMkLst>
            <pc:docMk/>
            <pc:sldMk cId="0" sldId="257"/>
            <ac:spMk id="5" creationId="{00000000-0000-0000-0000-000000000000}"/>
          </ac:spMkLst>
        </pc:spChg>
        <pc:spChg chg="del mod">
          <ac:chgData name="Raydo Matthee" userId="259e028f13680ef9" providerId="LiveId" clId="{6AC1AFA1-16AA-487C-B473-8260DD30DC01}" dt="2025-12-18T21:59:52.374" v="7" actId="478"/>
          <ac:spMkLst>
            <pc:docMk/>
            <pc:sldMk cId="0" sldId="257"/>
            <ac:spMk id="6" creationId="{00000000-0000-0000-0000-000000000000}"/>
          </ac:spMkLst>
        </pc:spChg>
        <pc:spChg chg="del">
          <ac:chgData name="Raydo Matthee" userId="259e028f13680ef9" providerId="LiveId" clId="{6AC1AFA1-16AA-487C-B473-8260DD30DC01}" dt="2025-12-18T21:59:40.438" v="2" actId="478"/>
          <ac:spMkLst>
            <pc:docMk/>
            <pc:sldMk cId="0" sldId="257"/>
            <ac:spMk id="7" creationId="{00000000-0000-0000-0000-000000000000}"/>
          </ac:spMkLst>
        </pc:spChg>
        <pc:spChg chg="del mod">
          <ac:chgData name="Raydo Matthee" userId="259e028f13680ef9" providerId="LiveId" clId="{6AC1AFA1-16AA-487C-B473-8260DD30DC01}" dt="2025-12-18T22:00:44.025" v="16" actId="478"/>
          <ac:spMkLst>
            <pc:docMk/>
            <pc:sldMk cId="0" sldId="257"/>
            <ac:spMk id="8" creationId="{00000000-0000-0000-0000-000000000000}"/>
          </ac:spMkLst>
        </pc:spChg>
        <pc:spChg chg="mod">
          <ac:chgData name="Raydo Matthee" userId="259e028f13680ef9" providerId="LiveId" clId="{6AC1AFA1-16AA-487C-B473-8260DD30DC01}" dt="2025-12-18T22:00:55.064" v="18" actId="26606"/>
          <ac:spMkLst>
            <pc:docMk/>
            <pc:sldMk cId="0" sldId="257"/>
            <ac:spMk id="9" creationId="{00000000-0000-0000-0000-000000000000}"/>
          </ac:spMkLst>
        </pc:spChg>
        <pc:spChg chg="add">
          <ac:chgData name="Raydo Matthee" userId="259e028f13680ef9" providerId="LiveId" clId="{6AC1AFA1-16AA-487C-B473-8260DD30DC01}" dt="2025-12-18T22:00:55.064" v="18" actId="26606"/>
          <ac:spMkLst>
            <pc:docMk/>
            <pc:sldMk cId="0" sldId="257"/>
            <ac:spMk id="14" creationId="{09588DA8-065E-4F6F-8EFD-43104AB2E0CF}"/>
          </ac:spMkLst>
        </pc:spChg>
        <pc:spChg chg="add">
          <ac:chgData name="Raydo Matthee" userId="259e028f13680ef9" providerId="LiveId" clId="{6AC1AFA1-16AA-487C-B473-8260DD30DC01}" dt="2025-12-18T22:00:55.064" v="18" actId="26606"/>
          <ac:spMkLst>
            <pc:docMk/>
            <pc:sldMk cId="0" sldId="257"/>
            <ac:spMk id="16" creationId="{C4285719-470E-454C-AF62-8323075F1F5B}"/>
          </ac:spMkLst>
        </pc:spChg>
        <pc:spChg chg="add">
          <ac:chgData name="Raydo Matthee" userId="259e028f13680ef9" providerId="LiveId" clId="{6AC1AFA1-16AA-487C-B473-8260DD30DC01}" dt="2025-12-18T22:00:55.064" v="18" actId="26606"/>
          <ac:spMkLst>
            <pc:docMk/>
            <pc:sldMk cId="0" sldId="257"/>
            <ac:spMk id="18" creationId="{CD9FE4EF-C4D8-49A0-B2FF-81D8DB7D8A24}"/>
          </ac:spMkLst>
        </pc:spChg>
        <pc:spChg chg="add">
          <ac:chgData name="Raydo Matthee" userId="259e028f13680ef9" providerId="LiveId" clId="{6AC1AFA1-16AA-487C-B473-8260DD30DC01}" dt="2025-12-18T22:00:55.064" v="18" actId="26606"/>
          <ac:spMkLst>
            <pc:docMk/>
            <pc:sldMk cId="0" sldId="257"/>
            <ac:spMk id="20" creationId="{4300840D-0A0B-4512-BACA-B439D5B9C57C}"/>
          </ac:spMkLst>
        </pc:spChg>
        <pc:spChg chg="add">
          <ac:chgData name="Raydo Matthee" userId="259e028f13680ef9" providerId="LiveId" clId="{6AC1AFA1-16AA-487C-B473-8260DD30DC01}" dt="2025-12-18T22:00:55.064" v="18" actId="26606"/>
          <ac:spMkLst>
            <pc:docMk/>
            <pc:sldMk cId="0" sldId="257"/>
            <ac:spMk id="22" creationId="{D2B78728-A580-49A7-84F9-6EF6F583ADE0}"/>
          </ac:spMkLst>
        </pc:spChg>
        <pc:spChg chg="add">
          <ac:chgData name="Raydo Matthee" userId="259e028f13680ef9" providerId="LiveId" clId="{6AC1AFA1-16AA-487C-B473-8260DD30DC01}" dt="2025-12-18T22:00:55.064" v="18" actId="26606"/>
          <ac:spMkLst>
            <pc:docMk/>
            <pc:sldMk cId="0" sldId="257"/>
            <ac:spMk id="24" creationId="{38FAA1A1-D861-433F-88FA-1E9D6FD31D11}"/>
          </ac:spMkLst>
        </pc:spChg>
        <pc:spChg chg="add">
          <ac:chgData name="Raydo Matthee" userId="259e028f13680ef9" providerId="LiveId" clId="{6AC1AFA1-16AA-487C-B473-8260DD30DC01}" dt="2025-12-18T22:00:55.064" v="18" actId="26606"/>
          <ac:spMkLst>
            <pc:docMk/>
            <pc:sldMk cId="0" sldId="257"/>
            <ac:spMk id="26" creationId="{8D71EDA1-87BF-4D5D-AB79-F346FD19278A}"/>
          </ac:spMkLst>
        </pc:spChg>
      </pc:sldChg>
      <pc:sldChg chg="addSp modSp mod setBg">
        <pc:chgData name="Raydo Matthee" userId="259e028f13680ef9" providerId="LiveId" clId="{6AC1AFA1-16AA-487C-B473-8260DD30DC01}" dt="2025-12-18T21:46:37.103" v="1" actId="26606"/>
        <pc:sldMkLst>
          <pc:docMk/>
          <pc:sldMk cId="0" sldId="258"/>
        </pc:sldMkLst>
        <pc:spChg chg="mod">
          <ac:chgData name="Raydo Matthee" userId="259e028f13680ef9" providerId="LiveId" clId="{6AC1AFA1-16AA-487C-B473-8260DD30DC01}" dt="2025-12-18T21:46:37.103" v="1" actId="26606"/>
          <ac:spMkLst>
            <pc:docMk/>
            <pc:sldMk cId="0" sldId="258"/>
            <ac:spMk id="2" creationId="{00000000-0000-0000-0000-000000000000}"/>
          </ac:spMkLst>
        </pc:spChg>
        <pc:spChg chg="mod">
          <ac:chgData name="Raydo Matthee" userId="259e028f13680ef9" providerId="LiveId" clId="{6AC1AFA1-16AA-487C-B473-8260DD30DC01}" dt="2025-12-18T21:46:37.103" v="1" actId="26606"/>
          <ac:spMkLst>
            <pc:docMk/>
            <pc:sldMk cId="0" sldId="258"/>
            <ac:spMk id="3" creationId="{00000000-0000-0000-0000-000000000000}"/>
          </ac:spMkLst>
        </pc:spChg>
        <pc:spChg chg="add">
          <ac:chgData name="Raydo Matthee" userId="259e028f13680ef9" providerId="LiveId" clId="{6AC1AFA1-16AA-487C-B473-8260DD30DC01}" dt="2025-12-18T21:46:37.103" v="1" actId="26606"/>
          <ac:spMkLst>
            <pc:docMk/>
            <pc:sldMk cId="0" sldId="258"/>
            <ac:spMk id="9" creationId="{A8384FB5-9ADC-4DDC-881B-597D56F5B15D}"/>
          </ac:spMkLst>
        </pc:spChg>
        <pc:spChg chg="add">
          <ac:chgData name="Raydo Matthee" userId="259e028f13680ef9" providerId="LiveId" clId="{6AC1AFA1-16AA-487C-B473-8260DD30DC01}" dt="2025-12-18T21:46:37.103" v="1" actId="26606"/>
          <ac:spMkLst>
            <pc:docMk/>
            <pc:sldMk cId="0" sldId="258"/>
            <ac:spMk id="11" creationId="{1199E1B1-A8C0-4FE8-A5A8-1CB41D69F857}"/>
          </ac:spMkLst>
        </pc:spChg>
        <pc:spChg chg="add">
          <ac:chgData name="Raydo Matthee" userId="259e028f13680ef9" providerId="LiveId" clId="{6AC1AFA1-16AA-487C-B473-8260DD30DC01}" dt="2025-12-18T21:46:37.103" v="1" actId="26606"/>
          <ac:spMkLst>
            <pc:docMk/>
            <pc:sldMk cId="0" sldId="258"/>
            <ac:spMk id="13" creationId="{84A8DE83-DE75-4B41-9DB4-A7EC0B0DEC0B}"/>
          </ac:spMkLst>
        </pc:spChg>
        <pc:spChg chg="add">
          <ac:chgData name="Raydo Matthee" userId="259e028f13680ef9" providerId="LiveId" clId="{6AC1AFA1-16AA-487C-B473-8260DD30DC01}" dt="2025-12-18T21:46:37.103" v="1" actId="26606"/>
          <ac:spMkLst>
            <pc:docMk/>
            <pc:sldMk cId="0" sldId="258"/>
            <ac:spMk id="15" creationId="{A7009A0A-BEF5-4EAC-AF15-E4F9F002E239}"/>
          </ac:spMkLst>
        </pc:spChg>
        <pc:graphicFrameChg chg="add mod ord">
          <ac:chgData name="Raydo Matthee" userId="259e028f13680ef9" providerId="LiveId" clId="{6AC1AFA1-16AA-487C-B473-8260DD30DC01}" dt="2025-12-18T21:46:37.103" v="1" actId="26606"/>
          <ac:graphicFrameMkLst>
            <pc:docMk/>
            <pc:sldMk cId="0" sldId="258"/>
            <ac:graphicFrameMk id="4" creationId="{00000000-0000-0000-0000-000000000000}"/>
          </ac:graphicFrameMkLst>
        </pc:graphicFrameChg>
      </pc:sldChg>
      <pc:sldChg chg="modNotesTx">
        <pc:chgData name="Raydo Matthee" userId="259e028f13680ef9" providerId="LiveId" clId="{6AC1AFA1-16AA-487C-B473-8260DD30DC01}" dt="2025-12-18T22:06:37.355" v="39" actId="12"/>
        <pc:sldMkLst>
          <pc:docMk/>
          <pc:sldMk cId="0" sldId="2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5177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1 Notes: Explore data governance in Microsoft 365</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Welcome everyone and introduce today’s topic: data governance in Microsoft 365.</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Explain that data governance is about protecting sensitive information, ensuring compliance, and managing data throughout its lifecycle.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Example: “Imagine your organisation needs to ensure that confidential HR files are only accessible to authorised personnel and are retained for the required period. Microsoft Purview and Microsoft 365 tools help automate and enforce these rules.”</a:t>
            </a:r>
          </a:p>
          <a:p>
            <a:r>
              <a:rPr lang="en-US" sz="1200" b="0" i="0" kern="1200" dirty="0">
                <a:solidFill>
                  <a:schemeClr val="tx1"/>
                </a:solidFill>
                <a:effectLst/>
                <a:latin typeface="+mn-lt"/>
                <a:ea typeface="+mn-ea"/>
                <a:cs typeface="+mn-cs"/>
              </a:rPr>
              <a:t>Highlight that this session will show practical ways to govern, archive, and retain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data using Microsoft Purview and Microsoft 365.</a:t>
            </a:r>
          </a:p>
          <a:p>
            <a:r>
              <a:rPr lang="en-US" sz="1200" b="0" i="0" kern="1200" dirty="0">
                <a:solidFill>
                  <a:schemeClr val="tx1"/>
                </a:solidFill>
                <a:effectLst/>
                <a:latin typeface="+mn-lt"/>
                <a:ea typeface="+mn-ea"/>
                <a:cs typeface="+mn-cs"/>
              </a:rPr>
              <a:t>Encourage participants to think about their own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data challenges as we go through the session.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2 Notes: Learning Objectives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Outline what participants will learn:</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Use Microsoft Purview to protect sensitive data, govern the data lifecycle, mitigate insider risks, and conduct eDiscovery.</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Example: “If an employee tries to share a confidential financial report externally, Purview can automatically detect and block this action.”</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Manage archived content by enabling archive mailboxes, running diagnostics, and restoring deleted items in Exchange and SharePoint.</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Example: “If a user accidentally deletes an important contract from SharePoint, you’ll know how to restore it quickly.”</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Design retention strategies by understanding the difference between retention policies and labels, their scopes, principles, and the role of preservation locks.</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Example: “Retention labels can be applied to legal documents to ensure they’re kept for seven years, even if someone tries to delete them.”</a:t>
            </a:r>
          </a:p>
          <a:p>
            <a:pPr marL="171450" indent="-171450">
              <a:buFont typeface="Arial" panose="020B0604020202020204" pitchFamily="34" charset="0"/>
              <a:buChar char="•"/>
            </a:pPr>
            <a:r>
              <a:rPr lang="en-US" sz="1200" b="0" i="0" kern="1200" dirty="0" err="1">
                <a:solidFill>
                  <a:schemeClr val="tx1"/>
                </a:solidFill>
                <a:effectLst/>
                <a:latin typeface="+mn-lt"/>
                <a:ea typeface="+mn-ea"/>
                <a:cs typeface="+mn-cs"/>
              </a:rPr>
              <a:t>Emphasise</a:t>
            </a:r>
            <a:r>
              <a:rPr lang="en-US" sz="1200" b="0" i="0" kern="1200" dirty="0">
                <a:solidFill>
                  <a:schemeClr val="tx1"/>
                </a:solidFill>
                <a:effectLst/>
                <a:latin typeface="+mn-lt"/>
                <a:ea typeface="+mn-ea"/>
                <a:cs typeface="+mn-cs"/>
              </a:rPr>
              <a:t> that these skills are essential for compliance and operational efficiency.</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Invite questions about current practices or challenges.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3 Notes: Modules Overview</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Present the three core modules and their key topics:</a:t>
            </a:r>
          </a:p>
          <a:p>
            <a:pPr lvl="1"/>
            <a:r>
              <a:rPr lang="en-US" sz="1200" b="1" i="0" kern="1200" dirty="0">
                <a:solidFill>
                  <a:schemeClr val="tx1"/>
                </a:solidFill>
                <a:effectLst/>
                <a:latin typeface="+mn-lt"/>
                <a:ea typeface="+mn-ea"/>
                <a:cs typeface="+mn-cs"/>
              </a:rPr>
              <a:t>Data governance solutions in Purview:</a:t>
            </a:r>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Discuss how Purview helps with information protection, data lifecycle management, insider risk management, and eDiscovery.</a:t>
            </a:r>
          </a:p>
          <a:p>
            <a:pPr lvl="2"/>
            <a:r>
              <a:rPr lang="en-US" sz="1200" b="0" i="0" kern="1200" dirty="0">
                <a:solidFill>
                  <a:schemeClr val="tx1"/>
                </a:solidFill>
                <a:effectLst/>
                <a:latin typeface="+mn-lt"/>
                <a:ea typeface="+mn-ea"/>
                <a:cs typeface="+mn-cs"/>
              </a:rPr>
              <a:t>Example: “Purview can classify sensitive data like credit card numbers and monitor for unusual access patterns, helping to prevent data leaks.”</a:t>
            </a:r>
          </a:p>
          <a:p>
            <a:pPr lvl="1"/>
            <a:r>
              <a:rPr lang="en-US" sz="1200" b="1" i="0" kern="1200" dirty="0">
                <a:solidFill>
                  <a:schemeClr val="tx1"/>
                </a:solidFill>
                <a:effectLst/>
                <a:latin typeface="+mn-lt"/>
                <a:ea typeface="+mn-ea"/>
                <a:cs typeface="+mn-cs"/>
              </a:rPr>
              <a:t>Data management practices in Microsoft 365:</a:t>
            </a:r>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Explain enabling/disabling archive mailboxes, running diagnostics, and restoring deleted data.</a:t>
            </a:r>
          </a:p>
          <a:p>
            <a:pPr lvl="2"/>
            <a:r>
              <a:rPr lang="en-US" sz="1200" b="0" i="0" kern="1200" dirty="0">
                <a:solidFill>
                  <a:schemeClr val="tx1"/>
                </a:solidFill>
                <a:effectLst/>
                <a:latin typeface="+mn-lt"/>
                <a:ea typeface="+mn-ea"/>
                <a:cs typeface="+mn-cs"/>
              </a:rPr>
              <a:t>Example: “If your organisation is running out of mailbox space, you can enable archive mailboxes to automatically move older emails, keeping users productive.”</a:t>
            </a:r>
          </a:p>
          <a:p>
            <a:pPr lvl="1"/>
            <a:r>
              <a:rPr lang="en-US" sz="1200" b="1" i="0" kern="1200" dirty="0">
                <a:solidFill>
                  <a:schemeClr val="tx1"/>
                </a:solidFill>
                <a:effectLst/>
                <a:latin typeface="+mn-lt"/>
                <a:ea typeface="+mn-ea"/>
                <a:cs typeface="+mn-cs"/>
              </a:rPr>
              <a:t>Retention in Microsoft 365:</a:t>
            </a:r>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Compare retention policies and labels, discussing when to use each.</a:t>
            </a:r>
          </a:p>
          <a:p>
            <a:pPr lvl="2"/>
            <a:r>
              <a:rPr lang="en-US" sz="1200" b="0" i="0" kern="1200" dirty="0">
                <a:solidFill>
                  <a:schemeClr val="tx1"/>
                </a:solidFill>
                <a:effectLst/>
                <a:latin typeface="+mn-lt"/>
                <a:ea typeface="+mn-ea"/>
                <a:cs typeface="+mn-cs"/>
              </a:rPr>
              <a:t>Example: “Use a retention policy to keep all emails for five years, but apply a retention label to specific project files that need to be kept for ten years.”</a:t>
            </a:r>
          </a:p>
          <a:p>
            <a:pPr lvl="2"/>
            <a:r>
              <a:rPr lang="en-US" sz="1200" b="0" i="0" kern="1200" dirty="0">
                <a:solidFill>
                  <a:schemeClr val="tx1"/>
                </a:solidFill>
                <a:effectLst/>
                <a:latin typeface="+mn-lt"/>
                <a:ea typeface="+mn-ea"/>
                <a:cs typeface="+mn-cs"/>
              </a:rPr>
              <a:t>Explain scope, principles of retention, and preservation lock, and why they matter for regulatory compliance.</a:t>
            </a:r>
          </a:p>
          <a:p>
            <a:pPr lvl="2"/>
            <a:r>
              <a:rPr lang="en-US" sz="1200" b="0" i="0" kern="1200" dirty="0">
                <a:solidFill>
                  <a:schemeClr val="tx1"/>
                </a:solidFill>
                <a:effectLst/>
                <a:latin typeface="+mn-lt"/>
                <a:ea typeface="+mn-ea"/>
                <a:cs typeface="+mn-cs"/>
              </a:rPr>
              <a:t>Example: “A preservation lock ensures that once a retention policy is applied, it can’t be changed or removed—even by administrators—helping you meet strict legal requirements.”</a:t>
            </a:r>
          </a:p>
          <a:p>
            <a:r>
              <a:rPr lang="en-US" sz="1200" b="0" i="0" kern="1200" dirty="0">
                <a:solidFill>
                  <a:schemeClr val="tx1"/>
                </a:solidFill>
                <a:effectLst/>
                <a:latin typeface="+mn-lt"/>
                <a:ea typeface="+mn-ea"/>
                <a:cs typeface="+mn-cs"/>
              </a:rPr>
              <a:t>Encourage participants to consider which module is most relevant to their role.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4 Notes: Summary &amp; Next Steps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Recap the main messages: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Microsoft Purview enables comprehensive data governance, including protection, lifecycle management, and risk mitigation.</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Example: “By using Purview’s risk management features, you can detect and investigate potential insider threats before they become incidents.”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Effective content management involves archiving, diagnostics, and recovery processes.</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Example: “Regularly running diagnostics on your Exchange environment can help you spot and resolve issues before they impact users.”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Retention policies and labels must be applied thoughtfully, with attention to scope and compliance requirements.</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Example: “Applying the right retention label to board meeting minutes ensures they’re preserved for the required period and can’t be deleted prematurely.”</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Highlight the importance of integrating these practices into daily operations.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Introduce the next steps: implementing compliance through data loss prevention, message encryption, and insider risk policies.</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Example: “Next, we’ll look at how to prevent accidental data leaks using data loss prevention policies and how to secure sensitive emails with encryption.”</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Encourage participants to review their current governance and compliance strategies and identify areas for improvement.</a:t>
            </a:r>
          </a:p>
          <a:p>
            <a:r>
              <a:rPr lang="en-US" sz="1200" b="0" i="0" kern="1200" dirty="0">
                <a:solidFill>
                  <a:schemeClr val="tx1"/>
                </a:solidFill>
                <a:effectLst/>
                <a:latin typeface="+mn-lt"/>
                <a:ea typeface="+mn-ea"/>
                <a:cs typeface="+mn-cs"/>
              </a:rPr>
              <a:t>Invite questions and provide resources for further learning.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learn.microsoft.com/en-us/training/modules/examine-data-governance-solutions-microsoft-purview/#:~:text=Learning%20objectives"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training/modules/examine-data-governance-solutions-microsoft-purview/#:~:text=,Microsoft%20Purview%20Information%20Protection"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learn.microsoft.com/en-us/training/modules/explore-retention-policies-labels-microsoft-365/#:~:text=This%20module%20examines%20how%20data,retention%20labels%20in%20retention%20policies" TargetMode="External"/><Relationship Id="rId4" Type="http://schemas.openxmlformats.org/officeDocument/2006/relationships/hyperlink" Target="https://learn.microsoft.com/en-us/training/modules/explore-data-management-practices/#:~:text=This%20module%20examines%20how%20Microsoft,Exchange%20Online%20and%20SharePoint%20Online"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training/modules/examine-data-governance-solutions-microsoft-purview/#:~:text=Learning%20objective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learn.microsoft.com/en-us/training/modules/explore-retention-policies-labels-microsoft-365/#:~:text=Learning%20objectives" TargetMode="External"/><Relationship Id="rId4" Type="http://schemas.openxmlformats.org/officeDocument/2006/relationships/hyperlink" Target="https://learn.microsoft.com/en-us/training/modules/explore-data-management-practices/#:~:text=This%20module%20examines%20how%20Microsoft,Exchange%20Online%20and%20SharePoint%20Onlin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learn.microsoft.com/en-us/training/modules/explore-retention-policies-labels-microsoft-365/#:~:text=Learning%20objectives" TargetMode="External"/><Relationship Id="rId5" Type="http://schemas.openxmlformats.org/officeDocument/2006/relationships/hyperlink" Target="https://learn.microsoft.com/en-us/training/modules/explore-data-management-practices/#:~:text=This%20module%20examines%20how%20Microsoft,Exchange%20Online%20and%20SharePoint%20Online" TargetMode="External"/><Relationship Id="rId4" Type="http://schemas.openxmlformats.org/officeDocument/2006/relationships/hyperlink" Target="https://learn.microsoft.com/en-us/training/modules/examine-data-governance-solutions-microsoft-purview/#:~:text=,Microsoft%20Purview%20Information%20Protec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82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0541" y="136308"/>
            <a:ext cx="8867727" cy="488033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0" descr="preencoded.png"/>
          <p:cNvPicPr>
            <a:picLocks noChangeAspect="1"/>
          </p:cNvPicPr>
          <p:nvPr/>
        </p:nvPicPr>
        <p:blipFill>
          <a:blip r:embed="rId3">
            <a:alphaModFix amt="60000"/>
          </a:blip>
          <a:srcRect t="3919" r="-1" b="13648"/>
          <a:stretch>
            <a:fillRect/>
          </a:stretch>
        </p:blipFill>
        <p:spPr>
          <a:xfrm>
            <a:off x="135731" y="137287"/>
            <a:ext cx="8867728" cy="4879351"/>
          </a:xfrm>
          <a:prstGeom prst="rect">
            <a:avLst/>
          </a:prstGeom>
        </p:spPr>
      </p:pic>
      <p:sp>
        <p:nvSpPr>
          <p:cNvPr id="2" name="Text 0"/>
          <p:cNvSpPr/>
          <p:nvPr/>
        </p:nvSpPr>
        <p:spPr>
          <a:xfrm>
            <a:off x="628650" y="394260"/>
            <a:ext cx="7623913" cy="2106829"/>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3000" b="1">
                <a:solidFill>
                  <a:srgbClr val="FFFFFF"/>
                </a:solidFill>
                <a:latin typeface="+mj-lt"/>
                <a:ea typeface="+mj-ea"/>
                <a:cs typeface="+mj-cs"/>
              </a:rPr>
              <a:t>Explore data governance
in Microsoft 365</a:t>
            </a:r>
            <a:endParaRPr lang="en-US" sz="3000">
              <a:solidFill>
                <a:srgbClr val="FFFFFF"/>
              </a:solidFill>
              <a:latin typeface="+mj-lt"/>
              <a:ea typeface="+mj-ea"/>
              <a:cs typeface="+mj-cs"/>
            </a:endParaRPr>
          </a:p>
          <a:p>
            <a:pPr marL="0" indent="0">
              <a:lnSpc>
                <a:spcPct val="90000"/>
              </a:lnSpc>
              <a:spcBef>
                <a:spcPct val="0"/>
              </a:spcBef>
              <a:spcAft>
                <a:spcPts val="600"/>
              </a:spcAft>
            </a:pPr>
            <a:r>
              <a:rPr lang="en-US" sz="3000" i="1">
                <a:solidFill>
                  <a:srgbClr val="FFFFFF"/>
                </a:solidFill>
                <a:latin typeface="+mj-lt"/>
                <a:ea typeface="+mj-ea"/>
                <a:cs typeface="+mj-cs"/>
              </a:rPr>
              <a:t>Learning Path Overview</a:t>
            </a:r>
            <a:endParaRPr lang="en-US" sz="3000">
              <a:solidFill>
                <a:srgbClr val="FFFFFF"/>
              </a:solidFill>
              <a:latin typeface="+mj-lt"/>
              <a:ea typeface="+mj-ea"/>
              <a:cs typeface="+mj-cs"/>
            </a:endParaRPr>
          </a:p>
        </p:txBody>
      </p:sp>
      <p:sp>
        <p:nvSpPr>
          <p:cNvPr id="3" name="Text 1"/>
          <p:cNvSpPr/>
          <p:nvPr/>
        </p:nvSpPr>
        <p:spPr>
          <a:xfrm>
            <a:off x="628650" y="2647173"/>
            <a:ext cx="7623913" cy="1943141"/>
          </a:xfrm>
          <a:prstGeom prst="rect">
            <a:avLst/>
          </a:prstGeom>
        </p:spPr>
        <p:txBody>
          <a:bodyPr vert="horz" lIns="91440" tIns="45720" rIns="91440" bIns="45720" rtlCol="0">
            <a:normAutofit/>
          </a:bodyPr>
          <a:lstStyle/>
          <a:p>
            <a:pPr>
              <a:lnSpc>
                <a:spcPct val="90000"/>
              </a:lnSpc>
              <a:spcAft>
                <a:spcPts val="600"/>
              </a:spcAft>
            </a:pPr>
            <a:r>
              <a:rPr lang="en-US" sz="1500" dirty="0">
                <a:solidFill>
                  <a:srgbClr val="FFFFFF"/>
                </a:solidFill>
              </a:rPr>
              <a:t>Understand how to govern, archive and retain your </a:t>
            </a:r>
            <a:r>
              <a:rPr lang="en-US" sz="1500" dirty="0" err="1">
                <a:solidFill>
                  <a:srgbClr val="FFFFFF"/>
                </a:solidFill>
              </a:rPr>
              <a:t>organisational</a:t>
            </a:r>
            <a:r>
              <a:rPr lang="en-US" sz="1500" dirty="0">
                <a:solidFill>
                  <a:srgbClr val="FFFFFF"/>
                </a:solidFill>
              </a:rPr>
              <a:t> data using Microsoft Purview and Microsoft 365 tools.</a:t>
            </a:r>
          </a:p>
        </p:txBody>
      </p:sp>
      <p:sp>
        <p:nvSpPr>
          <p:cNvPr id="5" name="Text 2"/>
          <p:cNvSpPr/>
          <p:nvPr/>
        </p:nvSpPr>
        <p:spPr>
          <a:xfrm>
            <a:off x="457200" y="4754880"/>
            <a:ext cx="8229600" cy="274320"/>
          </a:xfrm>
          <a:prstGeom prst="rect">
            <a:avLst/>
          </a:prstGeom>
          <a:noFill/>
          <a:ln/>
        </p:spPr>
        <p:txBody>
          <a:bodyPr wrap="square" lIns="0" tIns="0" rIns="0" bIns="0" rtlCol="0" anchor="ctr"/>
          <a:lstStyle/>
          <a:p>
            <a:pPr marL="0" indent="0" algn="l">
              <a:spcAft>
                <a:spcPts val="600"/>
              </a:spcAft>
              <a:buNone/>
            </a:pPr>
            <a:r>
              <a:rPr lang="en-US" sz="600" u="sng" dirty="0">
                <a:solidFill>
                  <a:srgbClr val="4472C4"/>
                </a:solidFill>
                <a:hlinkClick r:id="rId4"/>
              </a:rPr>
              <a:t>[1]</a:t>
            </a:r>
            <a:endParaRPr lang="en-US" sz="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4" y="1059943"/>
            <a:ext cx="5148263"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5" y="1067553"/>
            <a:ext cx="5148262"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074" y="2694958"/>
            <a:ext cx="1878222"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961"/>
            <a:ext cx="2925267" cy="3137121"/>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51" y="1052331"/>
            <a:ext cx="5148265"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50041" y="440548"/>
            <a:ext cx="2401025" cy="2542975"/>
          </a:xfrm>
          <a:prstGeom prst="rect">
            <a:avLst/>
          </a:prstGeom>
        </p:spPr>
        <p:txBody>
          <a:bodyPr vert="horz" lIns="91440" tIns="45720" rIns="91440" bIns="45720" rtlCol="0" anchor="b">
            <a:normAutofit/>
          </a:bodyPr>
          <a:lstStyle/>
          <a:p>
            <a:pPr marL="0" indent="0" algn="r">
              <a:lnSpc>
                <a:spcPct val="90000"/>
              </a:lnSpc>
              <a:spcBef>
                <a:spcPct val="0"/>
              </a:spcBef>
              <a:spcAft>
                <a:spcPts val="600"/>
              </a:spcAft>
            </a:pPr>
            <a:r>
              <a:rPr lang="en-US" sz="3000" kern="1200">
                <a:solidFill>
                  <a:srgbClr val="FFFFFF"/>
                </a:solidFill>
                <a:latin typeface="+mj-lt"/>
                <a:ea typeface="+mj-ea"/>
                <a:cs typeface="+mj-cs"/>
              </a:rPr>
              <a:t>Learning Objectives</a:t>
            </a:r>
          </a:p>
        </p:txBody>
      </p:sp>
      <p:sp>
        <p:nvSpPr>
          <p:cNvPr id="4" name="Text 2"/>
          <p:cNvSpPr/>
          <p:nvPr/>
        </p:nvSpPr>
        <p:spPr>
          <a:xfrm>
            <a:off x="3607694" y="487561"/>
            <a:ext cx="4916510" cy="4163386"/>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1500"/>
              <a:t>Utilise Microsoft Purview to protect sensitive data, govern the data lifecycle, mitigate insider risks and conduct eDiscovery.</a:t>
            </a:r>
          </a:p>
          <a:p>
            <a:pPr marL="285750" indent="-228600">
              <a:lnSpc>
                <a:spcPct val="90000"/>
              </a:lnSpc>
              <a:spcAft>
                <a:spcPts val="600"/>
              </a:spcAft>
              <a:buFont typeface="Arial" panose="020B0604020202020204" pitchFamily="34" charset="0"/>
              <a:buChar char="•"/>
            </a:pPr>
            <a:r>
              <a:rPr lang="en-US" sz="1500"/>
              <a:t>Manage archived content by enabling archive mailboxes, running diagnostics and restoring deleted items in Exchange and SharePoint.</a:t>
            </a:r>
          </a:p>
          <a:p>
            <a:pPr marL="285750" indent="-228600">
              <a:lnSpc>
                <a:spcPct val="90000"/>
              </a:lnSpc>
              <a:spcAft>
                <a:spcPts val="600"/>
              </a:spcAft>
              <a:buFont typeface="Arial" panose="020B0604020202020204" pitchFamily="34" charset="0"/>
              <a:buChar char="•"/>
            </a:pPr>
            <a:r>
              <a:rPr lang="en-US" sz="1500"/>
              <a:t>Design retention strategies by choosing between policies and labels, understanding their scopes, principles and preservation locks.</a:t>
            </a:r>
          </a:p>
        </p:txBody>
      </p:sp>
      <p:sp>
        <p:nvSpPr>
          <p:cNvPr id="9" name="Text 7"/>
          <p:cNvSpPr/>
          <p:nvPr/>
        </p:nvSpPr>
        <p:spPr>
          <a:xfrm>
            <a:off x="457200" y="4694061"/>
            <a:ext cx="8229600" cy="274320"/>
          </a:xfrm>
          <a:prstGeom prst="rect">
            <a:avLst/>
          </a:prstGeom>
          <a:noFill/>
          <a:ln/>
        </p:spPr>
        <p:txBody>
          <a:bodyPr wrap="square" lIns="0" tIns="0" rIns="0" bIns="0" rtlCol="0" anchor="ctr"/>
          <a:lstStyle/>
          <a:p>
            <a:pPr marL="0" indent="0" algn="l">
              <a:spcAft>
                <a:spcPts val="600"/>
              </a:spcAft>
              <a:buNone/>
            </a:pPr>
            <a:r>
              <a:rPr lang="en-US" sz="600" u="sng" dirty="0">
                <a:solidFill>
                  <a:srgbClr val="4472C4"/>
                </a:solidFill>
                <a:hlinkClick r:id="rId3"/>
              </a:rPr>
              <a:t>[2]</a:t>
            </a:r>
            <a:r>
              <a:rPr lang="en-US" sz="600" dirty="0">
                <a:solidFill>
                  <a:srgbClr val="000000"/>
                </a:solidFill>
              </a:rPr>
              <a:t>  </a:t>
            </a:r>
            <a:r>
              <a:rPr lang="en-US" sz="600" u="sng" dirty="0">
                <a:solidFill>
                  <a:srgbClr val="4472C4"/>
                </a:solidFill>
                <a:hlinkClick r:id="rId4"/>
              </a:rPr>
              <a:t>[3]</a:t>
            </a:r>
            <a:r>
              <a:rPr lang="en-US" sz="600" dirty="0">
                <a:solidFill>
                  <a:srgbClr val="000000"/>
                </a:solidFill>
              </a:rPr>
              <a:t>  </a:t>
            </a:r>
            <a:r>
              <a:rPr lang="en-US" sz="600" u="sng" dirty="0">
                <a:solidFill>
                  <a:srgbClr val="4472C4"/>
                </a:solidFill>
                <a:hlinkClick r:id="rId5"/>
              </a:rPr>
              <a:t>[4]</a:t>
            </a:r>
            <a:endParaRPr lang="en-US" sz="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3060"/>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2689"/>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1825"/>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24784" y="186200"/>
            <a:ext cx="5297791" cy="870205"/>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000" b="1" kern="1200">
                <a:solidFill>
                  <a:srgbClr val="FFFFFF"/>
                </a:solidFill>
                <a:latin typeface="+mj-lt"/>
                <a:ea typeface="+mj-ea"/>
                <a:cs typeface="+mj-cs"/>
              </a:rPr>
              <a:t>Modules Overview</a:t>
            </a:r>
            <a:endParaRPr lang="en-US" sz="3000" kern="1200">
              <a:solidFill>
                <a:srgbClr val="FFFFFF"/>
              </a:solidFill>
              <a:latin typeface="+mj-lt"/>
              <a:ea typeface="+mj-ea"/>
              <a:cs typeface="+mj-cs"/>
            </a:endParaRPr>
          </a:p>
        </p:txBody>
      </p:sp>
      <p:sp>
        <p:nvSpPr>
          <p:cNvPr id="3" name="Text 1"/>
          <p:cNvSpPr/>
          <p:nvPr/>
        </p:nvSpPr>
        <p:spPr>
          <a:xfrm>
            <a:off x="6429374" y="293395"/>
            <a:ext cx="2425189" cy="655816"/>
          </a:xfrm>
          <a:prstGeom prst="rect">
            <a:avLst/>
          </a:prstGeom>
        </p:spPr>
        <p:txBody>
          <a:bodyPr vert="horz" lIns="91440" tIns="45720" rIns="91440" bIns="45720" rtlCol="0" anchor="ctr">
            <a:normAutofit/>
          </a:bodyPr>
          <a:lstStyle/>
          <a:p>
            <a:pPr>
              <a:lnSpc>
                <a:spcPct val="90000"/>
              </a:lnSpc>
              <a:spcBef>
                <a:spcPts val="1000"/>
              </a:spcBef>
            </a:pPr>
            <a:r>
              <a:rPr lang="en-US" sz="1500" u="sng" kern="1200">
                <a:solidFill>
                  <a:srgbClr val="FFFFFF"/>
                </a:solidFill>
                <a:latin typeface="+mn-lt"/>
                <a:ea typeface="+mn-ea"/>
                <a:cs typeface="+mn-cs"/>
                <a:hlinkClick r:id="rId3"/>
              </a:rPr>
              <a:t>[5]</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4"/>
              </a:rPr>
              <a:t>[6]</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5"/>
              </a:rPr>
              <a:t>[7]</a:t>
            </a:r>
            <a:endParaRPr lang="en-US" sz="1500" kern="1200">
              <a:solidFill>
                <a:srgbClr val="FFFFFF"/>
              </a:solidFill>
              <a:latin typeface="+mn-lt"/>
              <a:ea typeface="+mn-ea"/>
              <a:cs typeface="+mn-cs"/>
            </a:endParaRPr>
          </a:p>
        </p:txBody>
      </p:sp>
      <p:graphicFrame>
        <p:nvGraphicFramePr>
          <p:cNvPr id="4" name="Table 0"/>
          <p:cNvGraphicFramePr>
            <a:graphicFrameLocks noGrp="1"/>
          </p:cNvGraphicFramePr>
          <p:nvPr>
            <p:extLst>
              <p:ext uri="{D42A27DB-BD31-4B8C-83A1-F6EECF244321}">
                <p14:modId xmlns:p14="http://schemas.microsoft.com/office/powerpoint/2010/main" val="1768131997"/>
              </p:ext>
            </p:extLst>
          </p:nvPr>
        </p:nvGraphicFramePr>
        <p:xfrm>
          <a:off x="324168" y="1685256"/>
          <a:ext cx="8495663" cy="2923872"/>
        </p:xfrm>
        <a:graphic>
          <a:graphicData uri="http://schemas.openxmlformats.org/drawingml/2006/table">
            <a:tbl>
              <a:tblPr firstRow="1" bandRow="1"/>
              <a:tblGrid>
                <a:gridCol w="4112440">
                  <a:extLst>
                    <a:ext uri="{9D8B030D-6E8A-4147-A177-3AD203B41FA5}">
                      <a16:colId xmlns:a16="http://schemas.microsoft.com/office/drawing/2014/main" val="20000"/>
                    </a:ext>
                  </a:extLst>
                </a:gridCol>
                <a:gridCol w="4383223">
                  <a:extLst>
                    <a:ext uri="{9D8B030D-6E8A-4147-A177-3AD203B41FA5}">
                      <a16:colId xmlns:a16="http://schemas.microsoft.com/office/drawing/2014/main" val="20001"/>
                    </a:ext>
                  </a:extLst>
                </a:gridCol>
              </a:tblGrid>
              <a:tr h="486517">
                <a:tc>
                  <a:txBody>
                    <a:bodyPr/>
                    <a:lstStyle/>
                    <a:p>
                      <a:pPr marL="0" indent="0" algn="l">
                        <a:buNone/>
                      </a:pPr>
                      <a:r>
                        <a:rPr lang="en-US" sz="1900" b="1">
                          <a:solidFill>
                            <a:srgbClr val="FFFFFF"/>
                          </a:solidFill>
                        </a:rPr>
                        <a:t>Module</a:t>
                      </a:r>
                      <a:endParaRPr lang="en-US" sz="1900"/>
                    </a:p>
                  </a:txBody>
                  <a:tcPr marL="143093" marR="143093" marT="71547" marB="71547">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tc>
                  <a:txBody>
                    <a:bodyPr/>
                    <a:lstStyle/>
                    <a:p>
                      <a:pPr marL="0" indent="0" algn="l">
                        <a:buNone/>
                      </a:pPr>
                      <a:r>
                        <a:rPr lang="en-US" sz="1900" b="1">
                          <a:solidFill>
                            <a:srgbClr val="FFFFFF"/>
                          </a:solidFill>
                        </a:rPr>
                        <a:t>Key topics</a:t>
                      </a:r>
                      <a:endParaRPr lang="en-US" sz="1900"/>
                    </a:p>
                  </a:txBody>
                  <a:tcPr marL="143093" marR="143093" marT="71547" marB="71547">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987343">
                <a:tc>
                  <a:txBody>
                    <a:bodyPr/>
                    <a:lstStyle/>
                    <a:p>
                      <a:pPr marL="0" indent="0" algn="l">
                        <a:buNone/>
                      </a:pPr>
                      <a:r>
                        <a:rPr lang="en-US" sz="1700">
                          <a:solidFill>
                            <a:srgbClr val="1F4E79"/>
                          </a:solidFill>
                        </a:rPr>
                        <a:t>Data governance solutions in Purview</a:t>
                      </a:r>
                      <a:endParaRPr lang="en-US" sz="1700"/>
                    </a:p>
                  </a:txBody>
                  <a:tcPr marL="143093" marR="143093" marT="71547" marB="7154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700">
                          <a:solidFill>
                            <a:srgbClr val="35547B"/>
                          </a:solidFill>
                        </a:rPr>
                        <a:t>Information Protection, Data Lifecycle Management, Insider Risk Management, eDiscovery</a:t>
                      </a:r>
                      <a:endParaRPr lang="en-US" sz="1700"/>
                    </a:p>
                  </a:txBody>
                  <a:tcPr marL="143093" marR="143093" marT="71547" marB="7154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1"/>
                  </a:ext>
                </a:extLst>
              </a:tr>
              <a:tr h="725006">
                <a:tc>
                  <a:txBody>
                    <a:bodyPr/>
                    <a:lstStyle/>
                    <a:p>
                      <a:pPr marL="0" indent="0" algn="l">
                        <a:buNone/>
                      </a:pPr>
                      <a:r>
                        <a:rPr lang="en-US" sz="1700">
                          <a:solidFill>
                            <a:srgbClr val="1F4E79"/>
                          </a:solidFill>
                        </a:rPr>
                        <a:t>Data management practices in Microsoft 365</a:t>
                      </a:r>
                      <a:endParaRPr lang="en-US" sz="1700"/>
                    </a:p>
                  </a:txBody>
                  <a:tcPr marL="143093" marR="143093" marT="71547" marB="7154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700">
                          <a:solidFill>
                            <a:srgbClr val="35547B"/>
                          </a:solidFill>
                        </a:rPr>
                        <a:t>Enable/disable archive mailboxes, run diagnostics, restore deleted data</a:t>
                      </a:r>
                      <a:endParaRPr lang="en-US" sz="1700"/>
                    </a:p>
                  </a:txBody>
                  <a:tcPr marL="143093" marR="143093" marT="71547" marB="7154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25006">
                <a:tc>
                  <a:txBody>
                    <a:bodyPr/>
                    <a:lstStyle/>
                    <a:p>
                      <a:pPr marL="0" indent="0" algn="l">
                        <a:buNone/>
                      </a:pPr>
                      <a:r>
                        <a:rPr lang="en-US" sz="1700">
                          <a:solidFill>
                            <a:srgbClr val="1F4E79"/>
                          </a:solidFill>
                        </a:rPr>
                        <a:t>Retention in Microsoft 365</a:t>
                      </a:r>
                      <a:endParaRPr lang="en-US" sz="1700"/>
                    </a:p>
                  </a:txBody>
                  <a:tcPr marL="143093" marR="143093" marT="71547" marB="7154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700">
                          <a:solidFill>
                            <a:srgbClr val="35547B"/>
                          </a:solidFill>
                        </a:rPr>
                        <a:t>Retention policies vs. labels, scopes, principles of retention, preservation lock</a:t>
                      </a:r>
                      <a:endParaRPr lang="en-US" sz="1700"/>
                    </a:p>
                  </a:txBody>
                  <a:tcPr marL="143093" marR="143093" marT="71547" marB="7154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marL="0" indent="0">
              <a:buNone/>
            </a:pPr>
            <a:r>
              <a:rPr lang="en-US" sz="2600" b="1" dirty="0">
                <a:solidFill>
                  <a:srgbClr val="1F4E79"/>
                </a:solidFill>
              </a:rPr>
              <a:t>Summary &amp; Next Steps</a:t>
            </a:r>
            <a:endParaRPr lang="en-US" sz="2600" dirty="0"/>
          </a:p>
        </p:txBody>
      </p:sp>
      <p:sp>
        <p:nvSpPr>
          <p:cNvPr id="3" name="Text 1"/>
          <p:cNvSpPr/>
          <p:nvPr/>
        </p:nvSpPr>
        <p:spPr>
          <a:xfrm>
            <a:off x="548640" y="1188720"/>
            <a:ext cx="5120640" cy="2377440"/>
          </a:xfrm>
          <a:prstGeom prst="rect">
            <a:avLst/>
          </a:prstGeom>
          <a:noFill/>
          <a:ln/>
        </p:spPr>
        <p:txBody>
          <a:bodyPr wrap="square" rtlCol="0" anchor="ctr"/>
          <a:lstStyle/>
          <a:p>
            <a:pPr marL="0" indent="0">
              <a:buNone/>
            </a:pPr>
            <a:r>
              <a:rPr lang="en-US" sz="1200" dirty="0">
                <a:solidFill>
                  <a:srgbClr val="35547B"/>
                </a:solidFill>
              </a:rPr>
              <a:t>• Leverage Microsoft Purview for comprehensive data governance, including protection, lifecycle management and risk mitigation.
• Keep your content manageable by archiving mailboxes, performing diagnostics and recovering deleted data.
• Apply retention policies and labels thoughtfully, considering scope, principles and preservation requirements.
</a:t>
            </a:r>
            <a:endParaRPr lang="en-US" sz="1200" dirty="0"/>
          </a:p>
        </p:txBody>
      </p:sp>
      <p:sp>
        <p:nvSpPr>
          <p:cNvPr id="4" name="Shape 2"/>
          <p:cNvSpPr/>
          <p:nvPr/>
        </p:nvSpPr>
        <p:spPr>
          <a:xfrm>
            <a:off x="5852160" y="1188720"/>
            <a:ext cx="2926080" cy="1828800"/>
          </a:xfrm>
          <a:prstGeom prst="roundRect">
            <a:avLst>
              <a:gd name="adj" fmla="val 5000"/>
            </a:avLst>
          </a:prstGeom>
          <a:solidFill>
            <a:srgbClr val="E9F2FB"/>
          </a:solidFill>
          <a:ln w="12700">
            <a:solidFill>
              <a:srgbClr val="B3CCE6"/>
            </a:solidFill>
            <a:prstDash val="solid"/>
          </a:ln>
        </p:spPr>
        <p:txBody>
          <a:bodyPr/>
          <a:lstStyle/>
          <a:p>
            <a:endParaRPr/>
          </a:p>
        </p:txBody>
      </p:sp>
      <p:pic>
        <p:nvPicPr>
          <p:cNvPr id="5" name="Image 0" descr="preencoded.png"/>
          <p:cNvPicPr>
            <a:picLocks noChangeAspect="1"/>
          </p:cNvPicPr>
          <p:nvPr/>
        </p:nvPicPr>
        <p:blipFill>
          <a:blip r:embed="rId3"/>
          <a:stretch>
            <a:fillRect/>
          </a:stretch>
        </p:blipFill>
        <p:spPr>
          <a:xfrm>
            <a:off x="6035040" y="1371600"/>
            <a:ext cx="365760" cy="365760"/>
          </a:xfrm>
          <a:prstGeom prst="rect">
            <a:avLst/>
          </a:prstGeom>
        </p:spPr>
      </p:pic>
      <p:sp>
        <p:nvSpPr>
          <p:cNvPr id="6" name="Text 3"/>
          <p:cNvSpPr/>
          <p:nvPr/>
        </p:nvSpPr>
        <p:spPr>
          <a:xfrm>
            <a:off x="6492240" y="1371600"/>
            <a:ext cx="2103120" cy="731520"/>
          </a:xfrm>
          <a:prstGeom prst="rect">
            <a:avLst/>
          </a:prstGeom>
          <a:noFill/>
          <a:ln/>
        </p:spPr>
        <p:txBody>
          <a:bodyPr wrap="square" rtlCol="0" anchor="ctr"/>
          <a:lstStyle/>
          <a:p>
            <a:pPr marL="0" indent="0" algn="l">
              <a:buNone/>
            </a:pPr>
            <a:r>
              <a:rPr lang="en-US" sz="1200" b="1" dirty="0">
                <a:solidFill>
                  <a:srgbClr val="1F4E79"/>
                </a:solidFill>
              </a:rPr>
              <a:t>Proceed to 
</a:t>
            </a:r>
            <a:r>
              <a:rPr lang="en-US" sz="1200" i="1" dirty="0">
                <a:solidFill>
                  <a:srgbClr val="35547B"/>
                </a:solidFill>
              </a:rPr>
              <a:t>“Implement compliance”</a:t>
            </a:r>
            <a:endParaRPr lang="en-US" sz="1200" dirty="0"/>
          </a:p>
        </p:txBody>
      </p:sp>
      <p:sp>
        <p:nvSpPr>
          <p:cNvPr id="7" name="Text 4"/>
          <p:cNvSpPr/>
          <p:nvPr/>
        </p:nvSpPr>
        <p:spPr>
          <a:xfrm>
            <a:off x="6035040" y="2194560"/>
            <a:ext cx="2651760" cy="731520"/>
          </a:xfrm>
          <a:prstGeom prst="rect">
            <a:avLst/>
          </a:prstGeom>
          <a:noFill/>
          <a:ln/>
        </p:spPr>
        <p:txBody>
          <a:bodyPr wrap="square" rtlCol="0" anchor="ctr"/>
          <a:lstStyle/>
          <a:p>
            <a:pPr marL="0" indent="0">
              <a:buNone/>
            </a:pPr>
            <a:r>
              <a:rPr lang="en-US" sz="1000" dirty="0">
                <a:solidFill>
                  <a:srgbClr val="4A6588"/>
                </a:solidFill>
              </a:rPr>
              <a:t>Next, dive into data loss prevention, message encryption and insider risk policies to enforce compliance across Microsoft 365.</a:t>
            </a:r>
            <a:endParaRPr lang="en-US" sz="1000" dirty="0"/>
          </a:p>
        </p:txBody>
      </p:sp>
      <p:sp>
        <p:nvSpPr>
          <p:cNvPr id="8" name="Text 5"/>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600" u="sng" dirty="0">
                <a:solidFill>
                  <a:srgbClr val="4472C4"/>
                </a:solidFill>
                <a:hlinkClick r:id="rId4"/>
              </a:rPr>
              <a:t>[8]</a:t>
            </a:r>
            <a:r>
              <a:rPr lang="en-US" sz="600" dirty="0">
                <a:solidFill>
                  <a:srgbClr val="000000"/>
                </a:solidFill>
              </a:rPr>
              <a:t>  </a:t>
            </a:r>
            <a:r>
              <a:rPr lang="en-US" sz="600" u="sng" dirty="0">
                <a:solidFill>
                  <a:srgbClr val="4472C4"/>
                </a:solidFill>
                <a:hlinkClick r:id="rId5"/>
              </a:rPr>
              <a:t>[9]</a:t>
            </a:r>
            <a:r>
              <a:rPr lang="en-US" sz="600" dirty="0">
                <a:solidFill>
                  <a:srgbClr val="000000"/>
                </a:solidFill>
              </a:rPr>
              <a:t>  </a:t>
            </a:r>
            <a:r>
              <a:rPr lang="en-US" sz="600" u="sng" dirty="0">
                <a:solidFill>
                  <a:srgbClr val="4472C4"/>
                </a:solidFill>
                <a:hlinkClick r:id="rId6"/>
              </a:rPr>
              <a:t>[10]</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1005</Words>
  <Application>Microsoft Office PowerPoint</Application>
  <PresentationFormat>Custom</PresentationFormat>
  <Paragraphs>71</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Raydo</cp:lastModifiedBy>
  <cp:revision>1</cp:revision>
  <dcterms:created xsi:type="dcterms:W3CDTF">2025-12-18T20:37:07Z</dcterms:created>
  <dcterms:modified xsi:type="dcterms:W3CDTF">2025-12-18T22:07:16Z</dcterms:modified>
</cp:coreProperties>
</file>