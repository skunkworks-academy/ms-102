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8263"/>
  <p:notesSz cx="5148263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88CC51-75DF-4EFB-85B0-655544CC4EB0}" v="4" dt="2025-12-18T21:53:05.7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7361" autoAdjust="0"/>
  </p:normalViewPr>
  <p:slideViewPr>
    <p:cSldViewPr snapToGrid="0" snapToObjects="1">
      <p:cViewPr varScale="1">
        <p:scale>
          <a:sx n="102" d="100"/>
          <a:sy n="102" d="100"/>
        </p:scale>
        <p:origin x="924" y="318"/>
      </p:cViewPr>
      <p:guideLst/>
    </p:cSldViewPr>
  </p:slideViewPr>
  <p:notesTextViewPr>
    <p:cViewPr>
      <p:scale>
        <a:sx n="1" d="1"/>
        <a:sy n="1" d="1"/>
      </p:scale>
      <p:origin x="0" y="-217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ydo Matthee" userId="259e028f13680ef9" providerId="LiveId" clId="{6AC1AFA1-16AA-487C-B473-8260DD30DC01}"/>
    <pc:docChg chg="undo custSel modSld">
      <pc:chgData name="Raydo Matthee" userId="259e028f13680ef9" providerId="LiveId" clId="{6AC1AFA1-16AA-487C-B473-8260DD30DC01}" dt="2025-12-18T21:48:23.230" v="3" actId="26606"/>
      <pc:docMkLst>
        <pc:docMk/>
      </pc:docMkLst>
      <pc:sldChg chg="addSp delSp modSp mod setBg">
        <pc:chgData name="Raydo Matthee" userId="259e028f13680ef9" providerId="LiveId" clId="{6AC1AFA1-16AA-487C-B473-8260DD30DC01}" dt="2025-12-18T21:48:16.861" v="2" actId="26606"/>
        <pc:sldMkLst>
          <pc:docMk/>
          <pc:sldMk cId="0" sldId="256"/>
        </pc:sldMkLst>
        <pc:spChg chg="mod">
          <ac:chgData name="Raydo Matthee" userId="259e028f13680ef9" providerId="LiveId" clId="{6AC1AFA1-16AA-487C-B473-8260DD30DC01}" dt="2025-12-18T21:48:16.861" v="2" actId="26606"/>
          <ac:spMkLst>
            <pc:docMk/>
            <pc:sldMk cId="0" sldId="256"/>
            <ac:spMk id="2" creationId="{00000000-0000-0000-0000-000000000000}"/>
          </ac:spMkLst>
        </pc:spChg>
        <pc:spChg chg="mod">
          <ac:chgData name="Raydo Matthee" userId="259e028f13680ef9" providerId="LiveId" clId="{6AC1AFA1-16AA-487C-B473-8260DD30DC01}" dt="2025-12-18T21:48:16.861" v="2" actId="26606"/>
          <ac:spMkLst>
            <pc:docMk/>
            <pc:sldMk cId="0" sldId="256"/>
            <ac:spMk id="3" creationId="{00000000-0000-0000-0000-000000000000}"/>
          </ac:spMkLst>
        </pc:spChg>
        <pc:spChg chg="mod">
          <ac:chgData name="Raydo Matthee" userId="259e028f13680ef9" providerId="LiveId" clId="{6AC1AFA1-16AA-487C-B473-8260DD30DC01}" dt="2025-12-18T21:48:16.861" v="2" actId="26606"/>
          <ac:spMkLst>
            <pc:docMk/>
            <pc:sldMk cId="0" sldId="256"/>
            <ac:spMk id="5" creationId="{00000000-0000-0000-0000-000000000000}"/>
          </ac:spMkLst>
        </pc:spChg>
        <pc:spChg chg="add del">
          <ac:chgData name="Raydo Matthee" userId="259e028f13680ef9" providerId="LiveId" clId="{6AC1AFA1-16AA-487C-B473-8260DD30DC01}" dt="2025-12-18T21:48:16.765" v="1" actId="26606"/>
          <ac:spMkLst>
            <pc:docMk/>
            <pc:sldMk cId="0" sldId="256"/>
            <ac:spMk id="10" creationId="{04812C46-200A-4DEB-A05E-3ED6C68C2387}"/>
          </ac:spMkLst>
        </pc:spChg>
        <pc:spChg chg="add del">
          <ac:chgData name="Raydo Matthee" userId="259e028f13680ef9" providerId="LiveId" clId="{6AC1AFA1-16AA-487C-B473-8260DD30DC01}" dt="2025-12-18T21:48:16.765" v="1" actId="26606"/>
          <ac:spMkLst>
            <pc:docMk/>
            <pc:sldMk cId="0" sldId="256"/>
            <ac:spMk id="12" creationId="{D1EA859B-E555-4109-94F3-6700E046E008}"/>
          </ac:spMkLst>
        </pc:spChg>
        <pc:spChg chg="add">
          <ac:chgData name="Raydo Matthee" userId="259e028f13680ef9" providerId="LiveId" clId="{6AC1AFA1-16AA-487C-B473-8260DD30DC01}" dt="2025-12-18T21:48:16.861" v="2" actId="26606"/>
          <ac:spMkLst>
            <pc:docMk/>
            <pc:sldMk cId="0" sldId="256"/>
            <ac:spMk id="14" creationId="{C0A1ED06-4733-4020-9C60-81D4D801408D}"/>
          </ac:spMkLst>
        </pc:spChg>
        <pc:spChg chg="add">
          <ac:chgData name="Raydo Matthee" userId="259e028f13680ef9" providerId="LiveId" clId="{6AC1AFA1-16AA-487C-B473-8260DD30DC01}" dt="2025-12-18T21:48:16.861" v="2" actId="26606"/>
          <ac:spMkLst>
            <pc:docMk/>
            <pc:sldMk cId="0" sldId="256"/>
            <ac:spMk id="15" creationId="{B0CA3509-3AF9-45FE-93ED-57BB5D5E8E07}"/>
          </ac:spMkLst>
        </pc:spChg>
        <pc:picChg chg="mod ord">
          <ac:chgData name="Raydo Matthee" userId="259e028f13680ef9" providerId="LiveId" clId="{6AC1AFA1-16AA-487C-B473-8260DD30DC01}" dt="2025-12-18T21:48:16.861" v="2" actId="26606"/>
          <ac:picMkLst>
            <pc:docMk/>
            <pc:sldMk cId="0" sldId="256"/>
            <ac:picMk id="4" creationId="{00000000-0000-0000-0000-000000000000}"/>
          </ac:picMkLst>
        </pc:picChg>
      </pc:sldChg>
      <pc:sldChg chg="addSp modSp mod setBg">
        <pc:chgData name="Raydo Matthee" userId="259e028f13680ef9" providerId="LiveId" clId="{6AC1AFA1-16AA-487C-B473-8260DD30DC01}" dt="2025-12-18T21:48:23.230" v="3" actId="26606"/>
        <pc:sldMkLst>
          <pc:docMk/>
          <pc:sldMk cId="0" sldId="258"/>
        </pc:sldMkLst>
        <pc:spChg chg="mod">
          <ac:chgData name="Raydo Matthee" userId="259e028f13680ef9" providerId="LiveId" clId="{6AC1AFA1-16AA-487C-B473-8260DD30DC01}" dt="2025-12-18T21:48:23.230" v="3" actId="26606"/>
          <ac:spMkLst>
            <pc:docMk/>
            <pc:sldMk cId="0" sldId="258"/>
            <ac:spMk id="2" creationId="{00000000-0000-0000-0000-000000000000}"/>
          </ac:spMkLst>
        </pc:spChg>
        <pc:spChg chg="mod">
          <ac:chgData name="Raydo Matthee" userId="259e028f13680ef9" providerId="LiveId" clId="{6AC1AFA1-16AA-487C-B473-8260DD30DC01}" dt="2025-12-18T21:48:23.230" v="3" actId="26606"/>
          <ac:spMkLst>
            <pc:docMk/>
            <pc:sldMk cId="0" sldId="258"/>
            <ac:spMk id="3" creationId="{00000000-0000-0000-0000-000000000000}"/>
          </ac:spMkLst>
        </pc:spChg>
        <pc:spChg chg="add">
          <ac:chgData name="Raydo Matthee" userId="259e028f13680ef9" providerId="LiveId" clId="{6AC1AFA1-16AA-487C-B473-8260DD30DC01}" dt="2025-12-18T21:48:23.230" v="3" actId="26606"/>
          <ac:spMkLst>
            <pc:docMk/>
            <pc:sldMk cId="0" sldId="258"/>
            <ac:spMk id="9" creationId="{A8384FB5-9ADC-4DDC-881B-597D56F5B15D}"/>
          </ac:spMkLst>
        </pc:spChg>
        <pc:spChg chg="add">
          <ac:chgData name="Raydo Matthee" userId="259e028f13680ef9" providerId="LiveId" clId="{6AC1AFA1-16AA-487C-B473-8260DD30DC01}" dt="2025-12-18T21:48:23.230" v="3" actId="26606"/>
          <ac:spMkLst>
            <pc:docMk/>
            <pc:sldMk cId="0" sldId="258"/>
            <ac:spMk id="11" creationId="{1199E1B1-A8C0-4FE8-A5A8-1CB41D69F857}"/>
          </ac:spMkLst>
        </pc:spChg>
        <pc:spChg chg="add">
          <ac:chgData name="Raydo Matthee" userId="259e028f13680ef9" providerId="LiveId" clId="{6AC1AFA1-16AA-487C-B473-8260DD30DC01}" dt="2025-12-18T21:48:23.230" v="3" actId="26606"/>
          <ac:spMkLst>
            <pc:docMk/>
            <pc:sldMk cId="0" sldId="258"/>
            <ac:spMk id="13" creationId="{84A8DE83-DE75-4B41-9DB4-A7EC0B0DEC0B}"/>
          </ac:spMkLst>
        </pc:spChg>
        <pc:spChg chg="add">
          <ac:chgData name="Raydo Matthee" userId="259e028f13680ef9" providerId="LiveId" clId="{6AC1AFA1-16AA-487C-B473-8260DD30DC01}" dt="2025-12-18T21:48:23.230" v="3" actId="26606"/>
          <ac:spMkLst>
            <pc:docMk/>
            <pc:sldMk cId="0" sldId="258"/>
            <ac:spMk id="15" creationId="{A7009A0A-BEF5-4EAC-AF15-E4F9F002E239}"/>
          </ac:spMkLst>
        </pc:spChg>
        <pc:graphicFrameChg chg="add mod ord">
          <ac:chgData name="Raydo Matthee" userId="259e028f13680ef9" providerId="LiveId" clId="{6AC1AFA1-16AA-487C-B473-8260DD30DC01}" dt="2025-12-18T21:48:23.230" v="3" actId="26606"/>
          <ac:graphicFrameMkLst>
            <pc:docMk/>
            <pc:sldMk cId="0" sldId="258"/>
            <ac:graphicFrameMk id="4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1575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my.microsoftpersonalcontent.com/personal/259e028f13680ef9/_layouts/15/Doc.aspx?sourcedoc=%7B21D75E7F-F29D-464E-B784-1530C9F600F9%7D&amp;file=8_implement_compliance.pptx&amp;action=edit&amp;mobileredirect=true&amp;nav=eyJzSWQiOiIyNTYifQ%3D%3D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y.microsoftpersonalcontent.com/personal/259e028f13680ef9/_layouts/15/Doc.aspx?sourcedoc=%7B21D75E7F-F29D-464E-B784-1530C9F600F9%7D&amp;file=8_implement_compliance.pptx&amp;action=edit&amp;mobileredirect=true&amp;nav=eyJzSWQiOiIyNTcifQ%3D%3D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my.microsoftpersonalcontent.com/personal/259e028f13680ef9/_layouts/15/Doc.aspx?sourcedoc=%7B21D75E7F-F29D-464E-B784-1530C9F600F9%7D&amp;file=8_implement_compliance.pptx&amp;action=edit&amp;mobileredirect=true&amp;nav=eyJzSWQiOiIyNTgifQ%3D%3D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y.microsoftpersonalcontent.com/personal/259e028f13680ef9/_layouts/15/Doc.aspx?sourcedoc=%7B21D75E7F-F29D-464E-B784-1530C9F600F9%7D&amp;file=8_implement_compliance.pptx&amp;action=edit&amp;mobileredirect=true&amp;nav=eyJzSWQiOiIyNTkifQ%3D%3D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Implement compliance in Microsoft 365 – Learning Path Overview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Slide Intent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Learners must grasp the scope and importance of building a compliance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programme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Microsoft 365 using Purview.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Understanding compliance is critical for protecting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organisational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data, managing risks, and meeting regulatory standards in real-world environments.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[8_implemen...compliance | PowerPoint]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Key Talking Points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Microsoft Purview provides tools for risk management, insider activity monitoring, communication boundaries, and data loss prevention.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Compliance is not just about ticking boxes—it’s about operational resilience and trust.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visual elements (cloud, shield, checklist) represent layered security and governance.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Technical Depth / Behind the Scenes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Purview integrates with Microsoft 365 services, leveraging unified dashboards and policy engines.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Compliance controls are enforced across Exchange, Teams, SharePoint, and OneDrive.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Backend processes include continuous risk assessment and automated alerting.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Real-World Example or Scenario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financial services firm uses Purview to detect insider trading risks and prevent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unauthorised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sharing between departments.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Common Mistakes &amp; Misconceptions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Assuming compliance is a one-time setup rather than an ongoing process.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Overlooking insider risks or failing to monitor communication boundaries.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 Best Practices &amp; Recommendations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Regularly review compliance posture using Purview dashboards.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Engage stakeholders from legal, IT, and business units in compliance planning.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7. Exam &amp; Assessment Notes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Expect questions on Purview’s role in risk management and regulatory compliance.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8. Instructor Prompts / Engagement Cues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Ask: “What compliance risks are most relevant to your organisation?”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9. References &amp; Further Reading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https://learn.microsoft.com/en-us/training/modules/explore-plan-compliance-microsoft-365/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[8_implemen...compliance | PowerPoint]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 Objectives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Slide Intent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Learners should understand the specific skills and tools they’ll master in this course, including planning, managing, and enforcing compliance in Microsoft 365.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[8_implemen...compliance | PowerPoint]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Key Talking Points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Compliance Manager and score: central to tracking and improving compliance posture.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Insider Risk Management: policies, alerts, and case management.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Information Barriers: restricting communication across Teams, SharePoint, OneDrive.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Loss Prevention (DLP): concepts, sensitive info types, endpoint protection, adaptive policies.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Technical Depth / Behind the Scenes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Compliance Manager uses control mapping and automated assessments.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Insider Risk Management leverages signals from user activity and integrates with case management workflows.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Information Barriers are enforced via directory segmentation and policy rules.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DLP policies use pattern matching and endpoint telemetry.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Real-World Example or Scenario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healthcare provider uses DLP to prevent patient data from leaving the organisation via email or Teams.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Common Mistakes &amp; Misconceptions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Believing default policies are sufficient for all scenarios.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customising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DLP templates for specific business needs.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 Best Practices &amp; Recommendations</a:t>
            </a:r>
          </a:p>
          <a:p>
            <a:pPr fontAlgn="t"/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Customise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policies to fit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organisational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risk profiles.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Monitor compliance score and address gaps proactively.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7. Exam &amp; Assessment Notes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Focus on policy creation, management, and enforcement.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8. Instructor Prompts / Engagement Cues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Quick check: “Who can describe a scenario where Information Barriers would be essential?”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9. References &amp; Further Reading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https://learn.microsoft.com/en-us/training/modules/explore-plan-compliance-microsoft-365/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https://learn.microsoft.com/en-us/training/modules/implement-insider-risk-management/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https://learn.microsoft.com/en-us/training/modules/create-information-barriers/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https://learn.microsoft.com/en-us/training/modules/explore-examine-data-loss-prevention-microsoft-365/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[8_implemen...compliance | PowerPoint]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Modules Overview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Slide Intent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Learners must see the structure of the course and how each module builds towards comprehensive compliance management.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[8_implemen...compliance | PowerPoint]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Key Talking Points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Five modules: Explore compliance, Insider Risk Management, Information Barriers, Data Loss Prevention (explore and implement).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 module covers distinct but interrelated topics.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table clarifies which skills and concepts are addressed in each module.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Technical Depth / Behind the Scenes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Modules are sequenced to build foundational knowledge before tackling advanced scenarios.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Integration points between modules (e.g., DLP policies rely on correct Information Barrier setup).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Real-World Example or Scenario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a multinational company, different modules are assigned to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specialised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teams (e.g., IT handles DLP, HR manages Insider Risk).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Common Mistakes &amp; Misconceptions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Treating modules as siloed; in reality, compliance requires cross-functional collaboration.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 Best Practices &amp; Recommendations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Encourage learners to map modules to their own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organisational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roles and responsibilities.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7. Exam &amp; Assessment Notes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Expect scenario-based questions linking multiple modules.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8. Instructor Prompts / Engagement Cues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Discussion: “Which module do you think will be most challenging for your team?”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9. References &amp; Further Reading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https://learn.microsoft.com/en-us/training/modules/explore-plan-compliance-microsoft-365/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https://learn.microsoft.com/en-us/training/modules/implement-insider-risk-management/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https://learn.microsoft.com/en-us/training/modules/create-information-barriers/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https://learn.microsoft.com/en-us/training/modules/explore-examine-data-loss-prevention-microsoft-365/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https://learn.microsoft.com/en-us/training/modules/implement-data-loss-prevention-policies-microsoft-365/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[8_implemen...compliance | PowerPoint]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Summary &amp; Next Steps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Slide Intent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Learners should consolidate their understanding and prepare for the next phase: maintaining compliance posture with retention, labels, and insider risk responses.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[8_implemen...compliance | PowerPoint]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Key Talking Points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Map compliance journey using Purview dashboards.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Mitigate insider threats with proactive policies.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Enforce ethical communications via Information Barriers.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Protect sensitive information with robust DLP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programmes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Technical Depth / Behind the Scenes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Retention and labelling are managed via Microsoft 365 compliance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centre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Insider risk responses involve automated and manual interventions.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Real-World Example or Scenario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After a data leak, an organisation uses Purview to trace the incident and update retention policies.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Common Mistakes &amp; Misconceptions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Neglecting ongoing monitoring and review of compliance controls.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Failing to update policies as business needs evolve.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 Best Practices &amp; Recommendations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Schedule regular compliance reviews.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adaptive protection to respond to emerging threats.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7. Exam &amp; Assessment Notes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 for questions on retention, labelling, and incident response.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8. Instructor Prompts / Engagement Cues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Ask: “What’s your next step in improving compliance at your organisation?”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9. References &amp; Further Reading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https://learn.microsoft.com/en-us/training/modules/explore-plan-compliance-microsoft-365/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https://learn.microsoft.com/en-us/training/modules/implement-insider-risk-management/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https://learn.microsoft.com/en-us/training/modules/create-information-barriers/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https://learn.microsoft.com/en-us/training/modules/explore-examine-data-loss-prevention-microsoft-365/</a:t>
            </a:r>
          </a:p>
          <a:p>
            <a:pPr fontAlgn="t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https://learn.microsoft.com/en-us/training/modules/implement-data-loss-prevention-policies-microsoft-365/ 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[8_implemen...compliance | PowerPoint]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learn.microsoft.com/en-us/training/modules/explore-plan-compliance-microsoft-365/#:~:text=,compliant%20with%20regulations%20and%20standards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training/modules/explore-plan-compliance-microsoft-365/#:~:text=,compliant%20with%20regulations%20and%20standards" TargetMode="External"/><Relationship Id="rId7" Type="http://schemas.openxmlformats.org/officeDocument/2006/relationships/hyperlink" Target="https://learn.microsoft.com/en-us/training/modules/implement-data-loss-prevention-policies-microsoft-365/#:~:text=,Microsoft%20365%27s%20default%20DLP%20policy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learn.microsoft.com/en-us/training/modules/explore-examine-data-loss-prevention-microsoft-365/#:~:text=,is%20managed%20in%20Microsoft%20365" TargetMode="External"/><Relationship Id="rId5" Type="http://schemas.openxmlformats.org/officeDocument/2006/relationships/hyperlink" Target="https://learn.microsoft.com/en-us/training/modules/create-information-barriers/#:~:text=,Microsoft%20Teams%2C%20OneDrive%2C%20and%20SharePoint" TargetMode="External"/><Relationship Id="rId4" Type="http://schemas.openxmlformats.org/officeDocument/2006/relationships/hyperlink" Target="https://learn.microsoft.com/en-us/training/modules/implement-insider-risk-management/#:~:text=,risk%20management%20alerts%20and%20cases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training/modules/explore-plan-compliance-microsoft-365/#:~:text=,compliant%20with%20regulations%20and%20standards" TargetMode="External"/><Relationship Id="rId7" Type="http://schemas.openxmlformats.org/officeDocument/2006/relationships/hyperlink" Target="https://learn.microsoft.com/en-us/training/modules/implement-data-loss-prevention-policies-microsoft-365/#:~:text=,Microsoft%20365%27s%20default%20DLP%20policy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learn.microsoft.com/en-us/training/modules/explore-examine-data-loss-prevention-microsoft-365/#:~:text=,is%20managed%20in%20Microsoft%20365" TargetMode="External"/><Relationship Id="rId5" Type="http://schemas.openxmlformats.org/officeDocument/2006/relationships/hyperlink" Target="https://learn.microsoft.com/en-us/training/modules/create-information-barriers/#:~:text=,Microsoft%20Teams%2C%20OneDrive%2C%20and%20SharePoint" TargetMode="External"/><Relationship Id="rId4" Type="http://schemas.openxmlformats.org/officeDocument/2006/relationships/hyperlink" Target="https://learn.microsoft.com/en-us/training/modules/implement-insider-risk-management/#:~:text=,risk%20management%20alerts%20and%20cases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learn.microsoft.com/en-us/training/modules/implement-data-loss-prevention-policies-microsoft-365/#:~:text=,Microsoft%20365%27s%20default%20DLP%20policy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learn.microsoft.com/en-us/training/modules/explore-examine-data-loss-prevention-microsoft-365/#:~:text=,is%20managed%20in%20Microsoft%20365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learn.microsoft.com/en-us/training/modules/create-information-barriers/#:~:text=,Microsoft%20Teams%2C%20OneDrive%2C%20and%20SharePoint" TargetMode="External"/><Relationship Id="rId5" Type="http://schemas.openxmlformats.org/officeDocument/2006/relationships/hyperlink" Target="https://learn.microsoft.com/en-us/training/modules/implement-insider-risk-management/#:~:text=,risk%20management%20alerts%20and%20cases" TargetMode="External"/><Relationship Id="rId4" Type="http://schemas.openxmlformats.org/officeDocument/2006/relationships/hyperlink" Target="https://learn.microsoft.com/en-us/training/modules/explore-plan-compliance-microsoft-365/#:~:text=,compliant%20with%20regulations%20and%20standard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0A1ED06-4733-4020-9C60-81D4D8014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514826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CA3509-3AF9-45FE-93ED-57BB5D5E8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0541" y="136308"/>
            <a:ext cx="8867727" cy="488033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60000"/>
          </a:blip>
          <a:srcRect t="17110" r="-1" b="457"/>
          <a:stretch>
            <a:fillRect/>
          </a:stretch>
        </p:blipFill>
        <p:spPr>
          <a:xfrm>
            <a:off x="135731" y="137287"/>
            <a:ext cx="8867728" cy="4879351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28650" y="394260"/>
            <a:ext cx="7623913" cy="21068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Implement compliance
in Microsoft 365</a:t>
            </a:r>
            <a:endParaRPr lang="en-US" sz="30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i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Learning Path Overview</a:t>
            </a:r>
            <a:endParaRPr lang="en-US" sz="30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28650" y="2647173"/>
            <a:ext cx="7623913" cy="1943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>
                <a:solidFill>
                  <a:srgbClr val="FFFFFF"/>
                </a:solidFill>
              </a:rPr>
              <a:t>Build a robust compliance program using Microsoft Purview to manage risks, insider activities, communications boundaries and data loss.</a:t>
            </a:r>
          </a:p>
        </p:txBody>
      </p:sp>
      <p:sp>
        <p:nvSpPr>
          <p:cNvPr id="5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600" u="sng">
                <a:solidFill>
                  <a:srgbClr val="4472C4"/>
                </a:solidFill>
                <a:hlinkClick r:id="rId4"/>
              </a:rPr>
              <a:t>[1]</a:t>
            </a:r>
            <a:endParaRPr lang="en-US" sz="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</a:rPr>
              <a:t>Learning Objectives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280160"/>
            <a:ext cx="8412480" cy="411480"/>
          </a:xfrm>
          <a:prstGeom prst="roundRect">
            <a:avLst>
              <a:gd name="adj" fmla="val 11111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457200" y="1344168"/>
            <a:ext cx="80467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5547B"/>
                </a:solidFill>
              </a:rPr>
              <a:t>Plan and manage your compliance posture using Microsoft Purview’s Compliance Manager and compliance score.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783080"/>
            <a:ext cx="8412480" cy="411480"/>
          </a:xfrm>
          <a:prstGeom prst="roundRect">
            <a:avLst>
              <a:gd name="adj" fmla="val 11111"/>
            </a:avLst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1847088"/>
            <a:ext cx="80467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5547B"/>
                </a:solidFill>
              </a:rPr>
              <a:t>Implement Insider Risk Management: develop plans, create policies and manage alerts and cases.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286000"/>
            <a:ext cx="8412480" cy="411480"/>
          </a:xfrm>
          <a:prstGeom prst="roundRect">
            <a:avLst>
              <a:gd name="adj" fmla="val 11111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57200" y="2350008"/>
            <a:ext cx="80467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5547B"/>
                </a:solidFill>
              </a:rPr>
              <a:t>Enforce boundaries with Information Barriers across Teams, SharePoint and OneDrive.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788920"/>
            <a:ext cx="8412480" cy="411480"/>
          </a:xfrm>
          <a:prstGeom prst="roundRect">
            <a:avLst>
              <a:gd name="adj" fmla="val 11111"/>
            </a:avLst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57200" y="2852928"/>
            <a:ext cx="80467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5547B"/>
                </a:solidFill>
              </a:rPr>
              <a:t>Understand Data Loss Prevention concepts: sensitive info types, endpoint DLP, policy results and adaptive protection.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411480"/>
          </a:xfrm>
          <a:prstGeom prst="roundRect">
            <a:avLst>
              <a:gd name="adj" fmla="val 11111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57200" y="3355848"/>
            <a:ext cx="80467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5547B"/>
                </a:solidFill>
              </a:rPr>
              <a:t>Design and implement DLP policies – from planning to custom templates and notifications.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u="sng" dirty="0">
                <a:solidFill>
                  <a:srgbClr val="4472C4"/>
                </a:solidFill>
                <a:hlinkClick r:id="rId3"/>
              </a:rPr>
              <a:t>[2]</a:t>
            </a:r>
            <a:r>
              <a:rPr lang="en-US" sz="600" dirty="0">
                <a:solidFill>
                  <a:srgbClr val="000000"/>
                </a:solidFill>
              </a:rPr>
              <a:t>  </a:t>
            </a:r>
            <a:r>
              <a:rPr lang="en-US" sz="600" u="sng" dirty="0">
                <a:solidFill>
                  <a:srgbClr val="4472C4"/>
                </a:solidFill>
                <a:hlinkClick r:id="rId4"/>
              </a:rPr>
              <a:t>[3]</a:t>
            </a:r>
            <a:r>
              <a:rPr lang="en-US" sz="600" dirty="0">
                <a:solidFill>
                  <a:srgbClr val="000000"/>
                </a:solidFill>
              </a:rPr>
              <a:t>  </a:t>
            </a:r>
            <a:r>
              <a:rPr lang="en-US" sz="600" u="sng" dirty="0">
                <a:solidFill>
                  <a:srgbClr val="4472C4"/>
                </a:solidFill>
                <a:hlinkClick r:id="rId5"/>
              </a:rPr>
              <a:t>[4]</a:t>
            </a:r>
            <a:r>
              <a:rPr lang="en-US" sz="600" dirty="0">
                <a:solidFill>
                  <a:srgbClr val="000000"/>
                </a:solidFill>
              </a:rPr>
              <a:t>  </a:t>
            </a:r>
            <a:r>
              <a:rPr lang="en-US" sz="600" u="sng" dirty="0">
                <a:solidFill>
                  <a:srgbClr val="4472C4"/>
                </a:solidFill>
                <a:hlinkClick r:id="rId6"/>
              </a:rPr>
              <a:t>[5]</a:t>
            </a:r>
            <a:r>
              <a:rPr lang="en-US" sz="600" dirty="0">
                <a:solidFill>
                  <a:srgbClr val="000000"/>
                </a:solidFill>
              </a:rPr>
              <a:t>  </a:t>
            </a:r>
            <a:r>
              <a:rPr lang="en-US" sz="600" u="sng" dirty="0">
                <a:solidFill>
                  <a:srgbClr val="4472C4"/>
                </a:solidFill>
                <a:hlinkClick r:id="rId7"/>
              </a:rPr>
              <a:t>[6]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8262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183060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182689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0"/>
            <a:ext cx="9144001" cy="1181825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524784" y="186200"/>
            <a:ext cx="5297791" cy="8702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Modules Overview</a:t>
            </a:r>
            <a:endParaRPr lang="en-US" sz="3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29374" y="293395"/>
            <a:ext cx="2425189" cy="6558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500" u="sng" kern="1200">
                <a:solidFill>
                  <a:srgbClr val="FFFFFF"/>
                </a:solidFill>
                <a:latin typeface="+mn-lt"/>
                <a:ea typeface="+mn-ea"/>
                <a:cs typeface="+mn-cs"/>
                <a:hlinkClick r:id="rId3"/>
              </a:rPr>
              <a:t>[7]</a:t>
            </a:r>
            <a:r>
              <a:rPr lang="en-US" sz="15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 </a:t>
            </a:r>
            <a:r>
              <a:rPr lang="en-US" sz="1500" u="sng" kern="1200">
                <a:solidFill>
                  <a:srgbClr val="FFFFFF"/>
                </a:solidFill>
                <a:latin typeface="+mn-lt"/>
                <a:ea typeface="+mn-ea"/>
                <a:cs typeface="+mn-cs"/>
                <a:hlinkClick r:id="rId4"/>
              </a:rPr>
              <a:t>[8]</a:t>
            </a:r>
            <a:r>
              <a:rPr lang="en-US" sz="15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 </a:t>
            </a:r>
            <a:r>
              <a:rPr lang="en-US" sz="1500" u="sng" kern="1200">
                <a:solidFill>
                  <a:srgbClr val="FFFFFF"/>
                </a:solidFill>
                <a:latin typeface="+mn-lt"/>
                <a:ea typeface="+mn-ea"/>
                <a:cs typeface="+mn-cs"/>
                <a:hlinkClick r:id="rId5"/>
              </a:rPr>
              <a:t>[9]</a:t>
            </a:r>
            <a:r>
              <a:rPr lang="en-US" sz="15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 </a:t>
            </a:r>
            <a:r>
              <a:rPr lang="en-US" sz="1500" u="sng" kern="1200">
                <a:solidFill>
                  <a:srgbClr val="FFFFFF"/>
                </a:solidFill>
                <a:latin typeface="+mn-lt"/>
                <a:ea typeface="+mn-ea"/>
                <a:cs typeface="+mn-cs"/>
                <a:hlinkClick r:id="rId6"/>
              </a:rPr>
              <a:t>[10]</a:t>
            </a:r>
            <a:r>
              <a:rPr lang="en-US" sz="15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 </a:t>
            </a:r>
            <a:r>
              <a:rPr lang="en-US" sz="1500" u="sng" kern="1200">
                <a:solidFill>
                  <a:srgbClr val="FFFFFF"/>
                </a:solidFill>
                <a:latin typeface="+mn-lt"/>
                <a:ea typeface="+mn-ea"/>
                <a:cs typeface="+mn-cs"/>
                <a:hlinkClick r:id="rId7"/>
              </a:rPr>
              <a:t>[11]</a:t>
            </a:r>
            <a:endParaRPr lang="en-US" sz="15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3224706"/>
              </p:ext>
            </p:extLst>
          </p:nvPr>
        </p:nvGraphicFramePr>
        <p:xfrm>
          <a:off x="609467" y="1476085"/>
          <a:ext cx="7925064" cy="3342215"/>
        </p:xfrm>
        <a:graphic>
          <a:graphicData uri="http://schemas.openxmlformats.org/drawingml/2006/table">
            <a:tbl>
              <a:tblPr firstRow="1" bandRow="1"/>
              <a:tblGrid>
                <a:gridCol w="31671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78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98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</a:rPr>
                        <a:t>Module</a:t>
                      </a:r>
                      <a:endParaRPr lang="en-US" sz="1600"/>
                    </a:p>
                  </a:txBody>
                  <a:tcPr marL="123481" marR="123481" marT="61740" marB="61740">
                    <a:lnL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</a:rPr>
                        <a:t>Key topics</a:t>
                      </a:r>
                      <a:endParaRPr lang="en-US" sz="1600"/>
                    </a:p>
                  </a:txBody>
                  <a:tcPr marL="123481" marR="123481" marT="61740" marB="61740">
                    <a:lnL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1F4E79"/>
                          </a:solidFill>
                        </a:rPr>
                        <a:t>Explore compliance in Microsoft 365</a:t>
                      </a:r>
                      <a:endParaRPr lang="en-US" sz="1400"/>
                    </a:p>
                  </a:txBody>
                  <a:tcPr marL="123481" marR="123481" marT="61740" marB="61740" anchor="ctr">
                    <a:lnL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35547B"/>
                          </a:solidFill>
                        </a:rPr>
                        <a:t>Risk management, beginning compliance tasks, Compliance Manager &amp; score</a:t>
                      </a:r>
                      <a:endParaRPr lang="en-US" sz="1400"/>
                    </a:p>
                  </a:txBody>
                  <a:tcPr marL="123481" marR="123481" marT="61740" marB="61740" anchor="ctr">
                    <a:lnL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1F4E79"/>
                          </a:solidFill>
                        </a:rPr>
                        <a:t>Implement Insider Risk Management</a:t>
                      </a:r>
                      <a:endParaRPr lang="en-US" sz="1400"/>
                    </a:p>
                  </a:txBody>
                  <a:tcPr marL="123481" marR="123481" marT="61740" marB="61740" anchor="ctr">
                    <a:lnL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35547B"/>
                          </a:solidFill>
                        </a:rPr>
                        <a:t>Insider risk functionality, planning, policy creation, alerts &amp; cases</a:t>
                      </a:r>
                      <a:endParaRPr lang="en-US" sz="1400"/>
                    </a:p>
                  </a:txBody>
                  <a:tcPr marL="123481" marR="123481" marT="61740" marB="61740" anchor="ctr">
                    <a:lnL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1F4E79"/>
                          </a:solidFill>
                        </a:rPr>
                        <a:t>Implement Information Barriers</a:t>
                      </a:r>
                      <a:endParaRPr lang="en-US" sz="1400"/>
                    </a:p>
                  </a:txBody>
                  <a:tcPr marL="123481" marR="123481" marT="61740" marB="61740" anchor="ctr">
                    <a:lnL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35547B"/>
                          </a:solidFill>
                        </a:rPr>
                        <a:t>Restrict communications, components, enable barriers, manage user scopes</a:t>
                      </a:r>
                      <a:endParaRPr lang="en-US" sz="1400"/>
                    </a:p>
                  </a:txBody>
                  <a:tcPr marL="123481" marR="123481" marT="61740" marB="61740" anchor="ctr">
                    <a:lnL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4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1F4E79"/>
                          </a:solidFill>
                        </a:rPr>
                        <a:t>Explore Data Loss Prevention</a:t>
                      </a:r>
                      <a:endParaRPr lang="en-US" sz="1400"/>
                    </a:p>
                  </a:txBody>
                  <a:tcPr marL="123481" marR="123481" marT="61740" marB="61740" anchor="ctr">
                    <a:lnL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35547B"/>
                          </a:solidFill>
                        </a:rPr>
                        <a:t>DLP management, sensitive info types, endpoint DLP, adaptive protection, reporting</a:t>
                      </a:r>
                      <a:endParaRPr lang="en-US" sz="1400"/>
                    </a:p>
                  </a:txBody>
                  <a:tcPr marL="123481" marR="123481" marT="61740" marB="61740" anchor="ctr">
                    <a:lnL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4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1F4E79"/>
                          </a:solidFill>
                        </a:rPr>
                        <a:t>Implement Data Loss Prevention</a:t>
                      </a:r>
                      <a:endParaRPr lang="en-US" sz="1400"/>
                    </a:p>
                  </a:txBody>
                  <a:tcPr marL="123481" marR="123481" marT="61740" marB="61740" anchor="ctr">
                    <a:lnL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35547B"/>
                          </a:solidFill>
                        </a:rPr>
                        <a:t>Plan DLP, default policies, custom policies, notifications &amp; tips</a:t>
                      </a:r>
                      <a:endParaRPr lang="en-US" sz="1400"/>
                    </a:p>
                  </a:txBody>
                  <a:tcPr marL="123481" marR="123481" marT="61740" marB="61740" anchor="ctr">
                    <a:lnL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</a:rPr>
              <a:t>Summary &amp; Next Steps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5547B"/>
                </a:solidFill>
              </a:rPr>
              <a:t>• Map your organisation’s compliance journey with Purview’s dashboards and management tools.
• Mitigate insider threats through proactive policies and responsive case management.
• Ensure ethical communications by enforcing information barriers across collaboration platforms.
• Protect sensitive information through robust DLP programs, from discovery through policy enforcement and notification.
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852160" y="1188720"/>
            <a:ext cx="2926080" cy="1828800"/>
          </a:xfrm>
          <a:prstGeom prst="roundRect">
            <a:avLst>
              <a:gd name="adj" fmla="val 5000"/>
            </a:avLst>
          </a:prstGeom>
          <a:solidFill>
            <a:srgbClr val="E9F2FB"/>
          </a:solidFill>
          <a:ln w="12700">
            <a:solidFill>
              <a:srgbClr val="B3CCE6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3716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92240" y="1371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</a:rPr>
              <a:t>Proceed to 
</a:t>
            </a:r>
            <a:r>
              <a:rPr lang="en-US" sz="1200" i="1" dirty="0">
                <a:solidFill>
                  <a:srgbClr val="35547B"/>
                </a:solidFill>
              </a:rPr>
              <a:t>“Manage compliance”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035040" y="21945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588"/>
                </a:solidFill>
              </a:rPr>
              <a:t>Next, learn how to maintain your compliance posture with retention, labels and insider risk responses.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u="sng" dirty="0">
                <a:solidFill>
                  <a:srgbClr val="4472C4"/>
                </a:solidFill>
                <a:hlinkClick r:id="rId4"/>
              </a:rPr>
              <a:t>[12]</a:t>
            </a:r>
            <a:r>
              <a:rPr lang="en-US" sz="600" dirty="0">
                <a:solidFill>
                  <a:srgbClr val="000000"/>
                </a:solidFill>
              </a:rPr>
              <a:t>  </a:t>
            </a:r>
            <a:r>
              <a:rPr lang="en-US" sz="600" u="sng" dirty="0">
                <a:solidFill>
                  <a:srgbClr val="4472C4"/>
                </a:solidFill>
                <a:hlinkClick r:id="rId5"/>
              </a:rPr>
              <a:t>[13]</a:t>
            </a:r>
            <a:r>
              <a:rPr lang="en-US" sz="600" dirty="0">
                <a:solidFill>
                  <a:srgbClr val="000000"/>
                </a:solidFill>
              </a:rPr>
              <a:t>  </a:t>
            </a:r>
            <a:r>
              <a:rPr lang="en-US" sz="600" u="sng" dirty="0">
                <a:solidFill>
                  <a:srgbClr val="4472C4"/>
                </a:solidFill>
                <a:hlinkClick r:id="rId6"/>
              </a:rPr>
              <a:t>[14]</a:t>
            </a:r>
            <a:r>
              <a:rPr lang="en-US" sz="600" dirty="0">
                <a:solidFill>
                  <a:srgbClr val="000000"/>
                </a:solidFill>
              </a:rPr>
              <a:t>  </a:t>
            </a:r>
            <a:r>
              <a:rPr lang="en-US" sz="600" u="sng" dirty="0">
                <a:solidFill>
                  <a:srgbClr val="4472C4"/>
                </a:solidFill>
                <a:hlinkClick r:id="rId7"/>
              </a:rPr>
              <a:t>[15]</a:t>
            </a:r>
            <a:r>
              <a:rPr lang="en-US" sz="600" dirty="0">
                <a:solidFill>
                  <a:srgbClr val="000000"/>
                </a:solidFill>
              </a:rPr>
              <a:t>  </a:t>
            </a:r>
            <a:r>
              <a:rPr lang="en-US" sz="600" u="sng" dirty="0">
                <a:solidFill>
                  <a:srgbClr val="4472C4"/>
                </a:solidFill>
                <a:hlinkClick r:id="rId8"/>
              </a:rPr>
              <a:t>[16]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1610</Words>
  <Application>Microsoft Office PowerPoint</Application>
  <PresentationFormat>Custom</PresentationFormat>
  <Paragraphs>145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Raydo</cp:lastModifiedBy>
  <cp:revision>1</cp:revision>
  <dcterms:created xsi:type="dcterms:W3CDTF">2025-12-18T20:40:37Z</dcterms:created>
  <dcterms:modified xsi:type="dcterms:W3CDTF">2025-12-18T21:53:07Z</dcterms:modified>
</cp:coreProperties>
</file>