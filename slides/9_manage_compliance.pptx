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8263"/>
  <p:notesSz cx="5148263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087057-A3D5-4AE7-8177-A1AB2CE23FB1}" v="11" dt="2025-12-18T21:58:14.2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8402" autoAdjust="0"/>
  </p:normalViewPr>
  <p:slideViewPr>
    <p:cSldViewPr snapToGrid="0" snapToObjects="1">
      <p:cViewPr varScale="1">
        <p:scale>
          <a:sx n="89" d="100"/>
          <a:sy n="89" d="100"/>
        </p:scale>
        <p:origin x="1260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ydo Matthee" userId="259e028f13680ef9" providerId="LiveId" clId="{6AC1AFA1-16AA-487C-B473-8260DD30DC01}"/>
    <pc:docChg chg="undo custSel modSld">
      <pc:chgData name="Raydo Matthee" userId="259e028f13680ef9" providerId="LiveId" clId="{6AC1AFA1-16AA-487C-B473-8260DD30DC01}" dt="2025-12-18T21:59:08.161" v="35" actId="20577"/>
      <pc:docMkLst>
        <pc:docMk/>
      </pc:docMkLst>
      <pc:sldChg chg="addSp modSp mod setBg">
        <pc:chgData name="Raydo Matthee" userId="259e028f13680ef9" providerId="LiveId" clId="{6AC1AFA1-16AA-487C-B473-8260DD30DC01}" dt="2025-12-18T21:51:51.413" v="0" actId="26606"/>
        <pc:sldMkLst>
          <pc:docMk/>
          <pc:sldMk cId="0" sldId="256"/>
        </pc:sldMkLst>
        <pc:spChg chg="mod">
          <ac:chgData name="Raydo Matthee" userId="259e028f13680ef9" providerId="LiveId" clId="{6AC1AFA1-16AA-487C-B473-8260DD30DC01}" dt="2025-12-18T21:51:51.413" v="0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Raydo Matthee" userId="259e028f13680ef9" providerId="LiveId" clId="{6AC1AFA1-16AA-487C-B473-8260DD30DC01}" dt="2025-12-18T21:51:51.413" v="0" actId="26606"/>
          <ac:spMkLst>
            <pc:docMk/>
            <pc:sldMk cId="0" sldId="256"/>
            <ac:spMk id="3" creationId="{00000000-0000-0000-0000-000000000000}"/>
          </ac:spMkLst>
        </pc:spChg>
        <pc:spChg chg="mod">
          <ac:chgData name="Raydo Matthee" userId="259e028f13680ef9" providerId="LiveId" clId="{6AC1AFA1-16AA-487C-B473-8260DD30DC01}" dt="2025-12-18T21:51:51.413" v="0" actId="26606"/>
          <ac:spMkLst>
            <pc:docMk/>
            <pc:sldMk cId="0" sldId="256"/>
            <ac:spMk id="5" creationId="{00000000-0000-0000-0000-000000000000}"/>
          </ac:spMkLst>
        </pc:spChg>
        <pc:spChg chg="add">
          <ac:chgData name="Raydo Matthee" userId="259e028f13680ef9" providerId="LiveId" clId="{6AC1AFA1-16AA-487C-B473-8260DD30DC01}" dt="2025-12-18T21:51:51.413" v="0" actId="26606"/>
          <ac:spMkLst>
            <pc:docMk/>
            <pc:sldMk cId="0" sldId="256"/>
            <ac:spMk id="10" creationId="{04812C46-200A-4DEB-A05E-3ED6C68C2387}"/>
          </ac:spMkLst>
        </pc:spChg>
        <pc:spChg chg="add">
          <ac:chgData name="Raydo Matthee" userId="259e028f13680ef9" providerId="LiveId" clId="{6AC1AFA1-16AA-487C-B473-8260DD30DC01}" dt="2025-12-18T21:51:51.413" v="0" actId="26606"/>
          <ac:spMkLst>
            <pc:docMk/>
            <pc:sldMk cId="0" sldId="256"/>
            <ac:spMk id="12" creationId="{D1EA859B-E555-4109-94F3-6700E046E008}"/>
          </ac:spMkLst>
        </pc:spChg>
        <pc:picChg chg="mod ord">
          <ac:chgData name="Raydo Matthee" userId="259e028f13680ef9" providerId="LiveId" clId="{6AC1AFA1-16AA-487C-B473-8260DD30DC01}" dt="2025-12-18T21:51:51.413" v="0" actId="26606"/>
          <ac:picMkLst>
            <pc:docMk/>
            <pc:sldMk cId="0" sldId="256"/>
            <ac:picMk id="4" creationId="{00000000-0000-0000-0000-000000000000}"/>
          </ac:picMkLst>
        </pc:picChg>
      </pc:sldChg>
      <pc:sldChg chg="addSp delSp modSp mod setBg modNotesTx">
        <pc:chgData name="Raydo Matthee" userId="259e028f13680ef9" providerId="LiveId" clId="{6AC1AFA1-16AA-487C-B473-8260DD30DC01}" dt="2025-12-18T21:59:08.161" v="35" actId="20577"/>
        <pc:sldMkLst>
          <pc:docMk/>
          <pc:sldMk cId="0" sldId="257"/>
        </pc:sldMkLst>
        <pc:spChg chg="mod">
          <ac:chgData name="Raydo Matthee" userId="259e028f13680ef9" providerId="LiveId" clId="{6AC1AFA1-16AA-487C-B473-8260DD30DC01}" dt="2025-12-18T21:58:45.115" v="27" actId="26606"/>
          <ac:spMkLst>
            <pc:docMk/>
            <pc:sldMk cId="0" sldId="257"/>
            <ac:spMk id="2" creationId="{00000000-0000-0000-0000-000000000000}"/>
          </ac:spMkLst>
        </pc:spChg>
        <pc:spChg chg="del">
          <ac:chgData name="Raydo Matthee" userId="259e028f13680ef9" providerId="LiveId" clId="{6AC1AFA1-16AA-487C-B473-8260DD30DC01}" dt="2025-12-18T21:56:47.887" v="11" actId="478"/>
          <ac:spMkLst>
            <pc:docMk/>
            <pc:sldMk cId="0" sldId="257"/>
            <ac:spMk id="3" creationId="{00000000-0000-0000-0000-000000000000}"/>
          </ac:spMkLst>
        </pc:spChg>
        <pc:spChg chg="mod">
          <ac:chgData name="Raydo Matthee" userId="259e028f13680ef9" providerId="LiveId" clId="{6AC1AFA1-16AA-487C-B473-8260DD30DC01}" dt="2025-12-18T21:59:08.161" v="35" actId="20577"/>
          <ac:spMkLst>
            <pc:docMk/>
            <pc:sldMk cId="0" sldId="257"/>
            <ac:spMk id="4" creationId="{00000000-0000-0000-0000-000000000000}"/>
          </ac:spMkLst>
        </pc:spChg>
        <pc:spChg chg="del">
          <ac:chgData name="Raydo Matthee" userId="259e028f13680ef9" providerId="LiveId" clId="{6AC1AFA1-16AA-487C-B473-8260DD30DC01}" dt="2025-12-18T21:56:47.887" v="11" actId="478"/>
          <ac:spMkLst>
            <pc:docMk/>
            <pc:sldMk cId="0" sldId="257"/>
            <ac:spMk id="5" creationId="{00000000-0000-0000-0000-000000000000}"/>
          </ac:spMkLst>
        </pc:spChg>
        <pc:spChg chg="del mod">
          <ac:chgData name="Raydo Matthee" userId="259e028f13680ef9" providerId="LiveId" clId="{6AC1AFA1-16AA-487C-B473-8260DD30DC01}" dt="2025-12-18T21:56:47.887" v="11" actId="478"/>
          <ac:spMkLst>
            <pc:docMk/>
            <pc:sldMk cId="0" sldId="257"/>
            <ac:spMk id="6" creationId="{00000000-0000-0000-0000-000000000000}"/>
          </ac:spMkLst>
        </pc:spChg>
        <pc:spChg chg="del">
          <ac:chgData name="Raydo Matthee" userId="259e028f13680ef9" providerId="LiveId" clId="{6AC1AFA1-16AA-487C-B473-8260DD30DC01}" dt="2025-12-18T21:56:33.956" v="10" actId="478"/>
          <ac:spMkLst>
            <pc:docMk/>
            <pc:sldMk cId="0" sldId="257"/>
            <ac:spMk id="7" creationId="{00000000-0000-0000-0000-000000000000}"/>
          </ac:spMkLst>
        </pc:spChg>
        <pc:spChg chg="del mod">
          <ac:chgData name="Raydo Matthee" userId="259e028f13680ef9" providerId="LiveId" clId="{6AC1AFA1-16AA-487C-B473-8260DD30DC01}" dt="2025-12-18T21:56:47.887" v="11" actId="478"/>
          <ac:spMkLst>
            <pc:docMk/>
            <pc:sldMk cId="0" sldId="257"/>
            <ac:spMk id="8" creationId="{00000000-0000-0000-0000-000000000000}"/>
          </ac:spMkLst>
        </pc:spChg>
        <pc:spChg chg="mod">
          <ac:chgData name="Raydo Matthee" userId="259e028f13680ef9" providerId="LiveId" clId="{6AC1AFA1-16AA-487C-B473-8260DD30DC01}" dt="2025-12-18T21:58:45.115" v="27" actId="26606"/>
          <ac:spMkLst>
            <pc:docMk/>
            <pc:sldMk cId="0" sldId="257"/>
            <ac:spMk id="9" creationId="{00000000-0000-0000-0000-000000000000}"/>
          </ac:spMkLst>
        </pc:spChg>
        <pc:spChg chg="add">
          <ac:chgData name="Raydo Matthee" userId="259e028f13680ef9" providerId="LiveId" clId="{6AC1AFA1-16AA-487C-B473-8260DD30DC01}" dt="2025-12-18T21:58:45.115" v="27" actId="26606"/>
          <ac:spMkLst>
            <pc:docMk/>
            <pc:sldMk cId="0" sldId="257"/>
            <ac:spMk id="14" creationId="{09588DA8-065E-4F6F-8EFD-43104AB2E0CF}"/>
          </ac:spMkLst>
        </pc:spChg>
        <pc:spChg chg="add">
          <ac:chgData name="Raydo Matthee" userId="259e028f13680ef9" providerId="LiveId" clId="{6AC1AFA1-16AA-487C-B473-8260DD30DC01}" dt="2025-12-18T21:58:45.115" v="27" actId="26606"/>
          <ac:spMkLst>
            <pc:docMk/>
            <pc:sldMk cId="0" sldId="257"/>
            <ac:spMk id="16" creationId="{C4285719-470E-454C-AF62-8323075F1F5B}"/>
          </ac:spMkLst>
        </pc:spChg>
        <pc:spChg chg="add">
          <ac:chgData name="Raydo Matthee" userId="259e028f13680ef9" providerId="LiveId" clId="{6AC1AFA1-16AA-487C-B473-8260DD30DC01}" dt="2025-12-18T21:58:45.115" v="27" actId="26606"/>
          <ac:spMkLst>
            <pc:docMk/>
            <pc:sldMk cId="0" sldId="257"/>
            <ac:spMk id="18" creationId="{CD9FE4EF-C4D8-49A0-B2FF-81D8DB7D8A24}"/>
          </ac:spMkLst>
        </pc:spChg>
        <pc:spChg chg="add">
          <ac:chgData name="Raydo Matthee" userId="259e028f13680ef9" providerId="LiveId" clId="{6AC1AFA1-16AA-487C-B473-8260DD30DC01}" dt="2025-12-18T21:58:45.115" v="27" actId="26606"/>
          <ac:spMkLst>
            <pc:docMk/>
            <pc:sldMk cId="0" sldId="257"/>
            <ac:spMk id="20" creationId="{4300840D-0A0B-4512-BACA-B439D5B9C57C}"/>
          </ac:spMkLst>
        </pc:spChg>
        <pc:spChg chg="add">
          <ac:chgData name="Raydo Matthee" userId="259e028f13680ef9" providerId="LiveId" clId="{6AC1AFA1-16AA-487C-B473-8260DD30DC01}" dt="2025-12-18T21:58:45.115" v="27" actId="26606"/>
          <ac:spMkLst>
            <pc:docMk/>
            <pc:sldMk cId="0" sldId="257"/>
            <ac:spMk id="22" creationId="{D2B78728-A580-49A7-84F9-6EF6F583ADE0}"/>
          </ac:spMkLst>
        </pc:spChg>
        <pc:spChg chg="add">
          <ac:chgData name="Raydo Matthee" userId="259e028f13680ef9" providerId="LiveId" clId="{6AC1AFA1-16AA-487C-B473-8260DD30DC01}" dt="2025-12-18T21:58:45.115" v="27" actId="26606"/>
          <ac:spMkLst>
            <pc:docMk/>
            <pc:sldMk cId="0" sldId="257"/>
            <ac:spMk id="24" creationId="{38FAA1A1-D861-433F-88FA-1E9D6FD31D11}"/>
          </ac:spMkLst>
        </pc:spChg>
        <pc:spChg chg="add">
          <ac:chgData name="Raydo Matthee" userId="259e028f13680ef9" providerId="LiveId" clId="{6AC1AFA1-16AA-487C-B473-8260DD30DC01}" dt="2025-12-18T21:58:45.115" v="27" actId="26606"/>
          <ac:spMkLst>
            <pc:docMk/>
            <pc:sldMk cId="0" sldId="257"/>
            <ac:spMk id="26" creationId="{8D71EDA1-87BF-4D5D-AB79-F346FD19278A}"/>
          </ac:spMkLst>
        </pc:spChg>
      </pc:sldChg>
      <pc:sldChg chg="addSp modSp mod setBg">
        <pc:chgData name="Raydo Matthee" userId="259e028f13680ef9" providerId="LiveId" clId="{6AC1AFA1-16AA-487C-B473-8260DD30DC01}" dt="2025-12-18T21:51:59.127" v="1" actId="26606"/>
        <pc:sldMkLst>
          <pc:docMk/>
          <pc:sldMk cId="0" sldId="258"/>
        </pc:sldMkLst>
        <pc:spChg chg="mod">
          <ac:chgData name="Raydo Matthee" userId="259e028f13680ef9" providerId="LiveId" clId="{6AC1AFA1-16AA-487C-B473-8260DD30DC01}" dt="2025-12-18T21:51:59.127" v="1" actId="26606"/>
          <ac:spMkLst>
            <pc:docMk/>
            <pc:sldMk cId="0" sldId="258"/>
            <ac:spMk id="2" creationId="{00000000-0000-0000-0000-000000000000}"/>
          </ac:spMkLst>
        </pc:spChg>
        <pc:spChg chg="mod">
          <ac:chgData name="Raydo Matthee" userId="259e028f13680ef9" providerId="LiveId" clId="{6AC1AFA1-16AA-487C-B473-8260DD30DC01}" dt="2025-12-18T21:51:59.127" v="1" actId="26606"/>
          <ac:spMkLst>
            <pc:docMk/>
            <pc:sldMk cId="0" sldId="258"/>
            <ac:spMk id="3" creationId="{00000000-0000-0000-0000-000000000000}"/>
          </ac:spMkLst>
        </pc:spChg>
        <pc:spChg chg="add">
          <ac:chgData name="Raydo Matthee" userId="259e028f13680ef9" providerId="LiveId" clId="{6AC1AFA1-16AA-487C-B473-8260DD30DC01}" dt="2025-12-18T21:51:59.127" v="1" actId="26606"/>
          <ac:spMkLst>
            <pc:docMk/>
            <pc:sldMk cId="0" sldId="258"/>
            <ac:spMk id="9" creationId="{A8384FB5-9ADC-4DDC-881B-597D56F5B15D}"/>
          </ac:spMkLst>
        </pc:spChg>
        <pc:spChg chg="add">
          <ac:chgData name="Raydo Matthee" userId="259e028f13680ef9" providerId="LiveId" clId="{6AC1AFA1-16AA-487C-B473-8260DD30DC01}" dt="2025-12-18T21:51:59.127" v="1" actId="26606"/>
          <ac:spMkLst>
            <pc:docMk/>
            <pc:sldMk cId="0" sldId="258"/>
            <ac:spMk id="11" creationId="{1199E1B1-A8C0-4FE8-A5A8-1CB41D69F857}"/>
          </ac:spMkLst>
        </pc:spChg>
        <pc:spChg chg="add">
          <ac:chgData name="Raydo Matthee" userId="259e028f13680ef9" providerId="LiveId" clId="{6AC1AFA1-16AA-487C-B473-8260DD30DC01}" dt="2025-12-18T21:51:59.127" v="1" actId="26606"/>
          <ac:spMkLst>
            <pc:docMk/>
            <pc:sldMk cId="0" sldId="258"/>
            <ac:spMk id="13" creationId="{84A8DE83-DE75-4B41-9DB4-A7EC0B0DEC0B}"/>
          </ac:spMkLst>
        </pc:spChg>
        <pc:spChg chg="add">
          <ac:chgData name="Raydo Matthee" userId="259e028f13680ef9" providerId="LiveId" clId="{6AC1AFA1-16AA-487C-B473-8260DD30DC01}" dt="2025-12-18T21:51:59.127" v="1" actId="26606"/>
          <ac:spMkLst>
            <pc:docMk/>
            <pc:sldMk cId="0" sldId="258"/>
            <ac:spMk id="15" creationId="{A7009A0A-BEF5-4EAC-AF15-E4F9F002E239}"/>
          </ac:spMkLst>
        </pc:spChg>
        <pc:graphicFrameChg chg="add mod ord">
          <ac:chgData name="Raydo Matthee" userId="259e028f13680ef9" providerId="LiveId" clId="{6AC1AFA1-16AA-487C-B473-8260DD30DC01}" dt="2025-12-18T21:51:59.127" v="1" actId="26606"/>
          <ac:graphicFrameMkLst>
            <pc:docMk/>
            <pc:sldMk cId="0" sldId="258"/>
            <ac:graphicFrameMk id="4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6217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training/modules/implement-data-classification-sensitive-information/#:~:text=,creating%20a%20data%20classification%20framework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training/modules/implement-data-classification-sensitive-information/#:~:text=,creating%20a%20data%20classification%20framework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learn.microsoft.com/en-us/training/modules/implement-sensitivity-labels-microsoft-365/#:~:text=,that%20satisfies%20your%20organization%27s%20requirements" TargetMode="External"/><Relationship Id="rId4" Type="http://schemas.openxmlformats.org/officeDocument/2006/relationships/hyperlink" Target="https://learn.microsoft.com/en-us/training/modules/explore-sensitivity-labels-microsoft-365/#:~:text=,what%20label%20policies%20can%20do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training/modules/implement-data-classification-sensitive-information/#:~:text=,creating%20a%20data%20classification%20framework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learn.microsoft.com/en-us/training/modules/implement-sensitivity-labels-microsoft-365/#:~:text=,that%20satisfies%20your%20organization%27s%20requirements" TargetMode="External"/><Relationship Id="rId4" Type="http://schemas.openxmlformats.org/officeDocument/2006/relationships/hyperlink" Target="https://learn.microsoft.com/en-us/training/modules/explore-sensitivity-labels-microsoft-365/#:~:text=,what%20label%20policies%20can%20do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training/modules/implement-data-classification-sensitive-information/#:~:text=,creating%20a%20data%20classification%20framework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learn.microsoft.com/en-us/training/modules/implement-sensitivity-labels-microsoft-365/#:~:text=,that%20satisfies%20your%20organization%27s%20requirements" TargetMode="External"/><Relationship Id="rId4" Type="http://schemas.openxmlformats.org/officeDocument/2006/relationships/hyperlink" Target="https://learn.microsoft.com/en-us/training/modules/explore-sensitivity-labels-microsoft-365/#:~:text=,what%20label%20policies%20can%20do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1: Manage compliance in Microsoft 365 – Learning Path Overview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Slide Intent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Learners should understand the overall goal: to classify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organisational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and apply sensitivity labels for a secure, compliant Microsoft 365 environment.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concept is vital because regulatory compliance and data protection are foundational to trust and operational resilience in any enterprise.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Key Talking Points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Microsoft 365 provides built-in tools for data classification and labelling.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Sensitivity labels help enforce security policies and compliance requirements.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slide’s visuals (clouds, locks, checklists) represent layered security and governance.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learning path covers both conceptual understanding and practical implementation.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Technical Depth / Behind the Scenes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classification frameworks are implemented using Microsoft Purview.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Sensitivity labels are enforced across Exchange, SharePoint, OneDrive, and Teams.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Policies are evaluated in real time, with enforcement at the document and email level.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Real-World Example or Scenario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law firm uses sensitivity labels to restrict access to confidential case files, ensuring only authorised staff can view or share them.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Common Mistakes &amp; Misconceptions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Believing that labelling data is a one-time task rather than an ongoing process.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Assuming default labels are sufficient for all business needs.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 Best Practices &amp; Recommendations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Regularly review and update classification policies.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Involve compliance, IT, and business stakeholders in framework design.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7. Exam &amp; Assessment Notes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Expect questions on the purpose and scope of sensitivity labels and data classification frameworks.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8. Instructor Prompts / Engagement Cues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Ask: “What types of sensitive data exist in your organisation, and how are they currently protected?”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9. References &amp; Further Reading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https://learn.microsoft.com/en-us/training/modules/implement-data-classification-sensitive-information/#:~:text=,creating%20a%20data%20classification%20framework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2: Learning Objectives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Slide Intent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Learners must know what skills and knowledge they will gain, including developing a data classification framework and implementing sensitivity labels.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objectives are crucial for building a compliant and secure Microsoft 365 environment.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Key Talking Points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classification frameworks: what they are and why they matter.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Trainable classifiers and document fingerprinting: advanced tools for identifying sensitive data.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Sensitivity labels: purpose, scope, policies, and ordering.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Steps to implement sensitivity labels: planning, enabling encryption, creating, and publishing labels.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Technical Depth / Behind the Scenes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Trainable classifiers use machine learning to identify custom data patterns.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 fingerprinting allows detection of unique document types.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Sensitivity label policies determine how and where labels are applied, including encryption and access controls.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Real-World Example or Scenario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healthcare provider uses document fingerprinting to identify and protect patient records across SharePoint and OneDrive.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Common Mistakes &amp; Misconceptions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 enabling encryption for sensitive files in SharePoint/OneDrive.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Overlooking the importance of label policy ordering.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 Best Practices &amp; Recommendations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 label deployment in a pilot group before organisation-wide rollout.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 and communicate label policies to all users.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7. Exam &amp; Assessment Notes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 on label policy configuration, deployment steps, and technical capabilities.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8. Instructor Prompts / Engagement Cues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Quick check: “Who can explain the difference between a sensitivity label and a label policy?”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9. References &amp; Further Reading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https://learn.microsoft.com/en-us/training/modules/implement-data-classification-sensitive-information/#:~:text=,creating%20a%20data%20classification%20framework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https://learn.microsoft.com/en-us/training/modules/explore-sensitivity-labels-microsoft-365/#:~:text=,what%20label%20policies%20can%20do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https://learn.microsoft.com/en-us/training/modules/implement-sensitivity-labels-microsoft-365/#:~:text=,that%20satisfies%20your%20organization%27s%20requirements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3: Modules Overview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Slide Intent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Learners should see the structure of the course and how each module contributes to comprehensive compliance management.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Key Talking Points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 main modules: Data classification, Explore sensitivity labels, Implement sensitivity labels.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module addresses specific topics: benefits, pain points, classifiers, label concepts, deployment strategies.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table clarifies which skills are developed in each module.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Technical Depth / Behind the Scenes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classification uses Content/Activity Explorer and trainable classifiers for deep data discovery.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Sensitivity label ordering and policy scope affect how protections are applied across workloads.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Deployment strategies must account for SharePoint/OneDrive encryption and lifecycle management.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Real-World Example or Scenario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enterprise rolling out sensitivity labels must coordinate between IT, compliance, and business units to ensure effective adoption.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Common Mistakes &amp; Misconceptions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Treating modules as isolated; in practice, effective compliance requires integration across all areas.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 Best Practices &amp; Recommendations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 each module to specific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organisational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roles and responsibilities.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Encourage cross-team collaboration during implementation.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7. Exam &amp; Assessment Notes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Scenario-based questions may require linking concepts from multiple modules.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8. Instructor Prompts / Engagement Cues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Discussion: “Which module do you anticipate will be most challenging for your team?”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9. References &amp; Further Reading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https://learn.microsoft.com/en-us/training/modules/implement-data-classification-sensitive-information/#:~:text=,creating%20a%20data%20classification%20framework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https://learn.microsoft.com/en-us/training/modules/explore-sensitivity-labels-microsoft-365/#:~:text=,what%20label%20policies%20can%20do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https://learn.microsoft.com/en-us/training/modules/implement-sensitivity-labels-microsoft-365/#:~:text=,that%20satisfies%20your%20organization%27s%20requirements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4: Summary &amp; Wrap-Up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Slide Intent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Learners should consolidate their understanding and know the next steps for maintaining compliance and preparing for the MS-102 exam.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Key Talking Points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Establish a clear classification strategy using advanced classifiers and fingerprinting.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Sensitivity labels enforce consistent protection and support productivity.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Deployment plans must include encryption and lifecycle management.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Encourage review of previous modules and ongoing community engagement.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Technical Depth / Behind the Scenes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Encryption support is managed via label policies and integrated with Microsoft 365 services.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Lifecycle management includes label publishing, updating, and removal.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Real-World Example or Scenario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 a compliance audit, an organisation updates its sensitivity labels and retrains classifiers to address new regulatory requirements.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Common Mistakes &amp; Misconceptions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Failing to update labels and policies as business needs evolve.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Overlooking the importance of ongoing monitoring and review.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 Best Practices &amp; Recommendations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Schedule regular compliance reviews and policy updates.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Join professional communities for the latest updates and best practices.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7. Exam &amp; Assessment Notes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Expect questions on label lifecycle, encryption, and compliance strategy.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8. Instructor Prompts / Engagement Cues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Ask: “What is your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organisation’s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next step in improving compliance?”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9. References &amp; Further Reading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https://learn.microsoft.com/en-us/training/modules/implement-data-classification-sensitive-information/#:~:text=,creating%20a%20data%20classification%20framework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https://learn.microsoft.com/en-us/training/modules/explore-sensitivity-labels-microsoft-365/#:~:text=,what%20label%20policies%20can%20do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https://learn.microsoft.com/en-us/training/modules/implement-sensitivity-labels-microsoft-365/#:~:text=,that%20satisfies%20your%20organization%27s%20requirements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learn.microsoft.com/en-us/training/modules/implement-data-classification-sensitive-information/#:~:text=,creating%20a%20data%20classification%20framework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training/modules/implement-data-classification-sensitive-information/#:~:text=,creating%20a%20data%20classification%20framework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learn.microsoft.com/en-us/training/modules/implement-sensitivity-labels-microsoft-365/#:~:text=,that%20satisfies%20your%20organization%27s%20requirements" TargetMode="External"/><Relationship Id="rId4" Type="http://schemas.openxmlformats.org/officeDocument/2006/relationships/hyperlink" Target="https://learn.microsoft.com/en-us/training/modules/explore-sensitivity-labels-microsoft-365/#:~:text=,what%20label%20policies%20can%20do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training/modules/implement-data-classification-sensitive-information/#:~:text=,creating%20a%20data%20classification%20framework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learn.microsoft.com/en-us/training/modules/implement-sensitivity-labels-microsoft-365/#:~:text=,that%20satisfies%20your%20organization%27s%20requirements" TargetMode="External"/><Relationship Id="rId4" Type="http://schemas.openxmlformats.org/officeDocument/2006/relationships/hyperlink" Target="https://learn.microsoft.com/en-us/training/modules/explore-sensitivity-labels-microsoft-365/#:~:text=,what%20label%20policies%20can%20do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learn.microsoft.com/en-us/training/modules/implement-sensitivity-labels-microsoft-365/#:~:text=,that%20satisfies%20your%20organization%27s%20requirements" TargetMode="External"/><Relationship Id="rId5" Type="http://schemas.openxmlformats.org/officeDocument/2006/relationships/hyperlink" Target="https://learn.microsoft.com/en-us/training/modules/explore-sensitivity-labels-microsoft-365/#:~:text=,what%20label%20policies%20can%20do" TargetMode="External"/><Relationship Id="rId4" Type="http://schemas.openxmlformats.org/officeDocument/2006/relationships/hyperlink" Target="https://learn.microsoft.com/en-us/training/modules/implement-data-classification-sensitive-information/#:~:text=,creating%20a%20data%20classification%20framewor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826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r="5971" b="1"/>
          <a:stretch>
            <a:fillRect/>
          </a:stretch>
        </p:blipFill>
        <p:spPr>
          <a:xfrm>
            <a:off x="1891767" y="10"/>
            <a:ext cx="7252231" cy="514825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42696" cy="5148262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0"/>
          <p:cNvSpPr/>
          <p:nvPr/>
        </p:nvSpPr>
        <p:spPr>
          <a:xfrm>
            <a:off x="628650" y="274097"/>
            <a:ext cx="2866641" cy="14262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100" b="1" dirty="0">
                <a:latin typeface="+mj-lt"/>
                <a:ea typeface="+mj-ea"/>
                <a:cs typeface="+mj-cs"/>
              </a:rPr>
              <a:t>Manage compliance
in Microsoft 365</a:t>
            </a:r>
            <a:endParaRPr lang="en-US" sz="2100" dirty="0">
              <a:latin typeface="+mj-lt"/>
              <a:ea typeface="+mj-ea"/>
              <a:cs typeface="+mj-cs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100" i="1" dirty="0">
                <a:latin typeface="+mj-lt"/>
                <a:ea typeface="+mj-ea"/>
                <a:cs typeface="+mj-cs"/>
              </a:rPr>
              <a:t>Learning Path Overview</a:t>
            </a:r>
            <a:endParaRPr lang="en-US" sz="2100" dirty="0"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28650" y="1827341"/>
            <a:ext cx="2866641" cy="28096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Classify your organization’s data and implement sensitivity labels to maintain a secure and compliant environment.</a:t>
            </a:r>
          </a:p>
        </p:txBody>
      </p:sp>
      <p:sp>
        <p:nvSpPr>
          <p:cNvPr id="5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600" u="sng" dirty="0">
                <a:solidFill>
                  <a:srgbClr val="4472C4"/>
                </a:solidFill>
                <a:hlinkClick r:id="rId4"/>
              </a:rPr>
              <a:t>[1]</a:t>
            </a:r>
            <a:endParaRPr lang="en-US" sz="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8262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8262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9944" y="1059943"/>
            <a:ext cx="5148263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9945" y="1067553"/>
            <a:ext cx="5148262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074" y="2694958"/>
            <a:ext cx="1878222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961"/>
            <a:ext cx="2925267" cy="3137121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9951" y="1052331"/>
            <a:ext cx="5148265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350041" y="440548"/>
            <a:ext cx="2401025" cy="25429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Learning Objectives</a:t>
            </a:r>
            <a:endParaRPr lang="en-US" sz="3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07694" y="487561"/>
            <a:ext cx="4916510" cy="41633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Develop a data classification framework and leverage trainable classifiers and document fingerprinting.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Describe the purpose and scope of sensitivity labels and understand their policies and </a:t>
            </a:r>
            <a:r>
              <a:rPr lang="en-US" sz="1500" dirty="0" err="1"/>
              <a:t>ordering.Implement</a:t>
            </a:r>
            <a:r>
              <a:rPr lang="en-US" sz="1500" dirty="0"/>
              <a:t> sensitivity labels: plan deployment, enable encrypted files in SharePoint/OneDrive, create and publish labels.</a:t>
            </a:r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600" u="sng" dirty="0">
                <a:solidFill>
                  <a:srgbClr val="4472C4"/>
                </a:solidFill>
                <a:hlinkClick r:id="rId3"/>
              </a:rPr>
              <a:t>[2]</a:t>
            </a:r>
            <a:r>
              <a:rPr lang="en-US" sz="600" dirty="0">
                <a:solidFill>
                  <a:srgbClr val="000000"/>
                </a:solidFill>
              </a:rPr>
              <a:t>  </a:t>
            </a:r>
            <a:r>
              <a:rPr lang="en-US" sz="600" u="sng" dirty="0">
                <a:solidFill>
                  <a:srgbClr val="4472C4"/>
                </a:solidFill>
                <a:hlinkClick r:id="rId4"/>
              </a:rPr>
              <a:t>[3]</a:t>
            </a:r>
            <a:r>
              <a:rPr lang="en-US" sz="600" dirty="0">
                <a:solidFill>
                  <a:srgbClr val="000000"/>
                </a:solidFill>
              </a:rPr>
              <a:t>  </a:t>
            </a:r>
            <a:r>
              <a:rPr lang="en-US" sz="600" u="sng" dirty="0">
                <a:solidFill>
                  <a:srgbClr val="4472C4"/>
                </a:solidFill>
                <a:hlinkClick r:id="rId5"/>
              </a:rPr>
              <a:t>[4]</a:t>
            </a:r>
            <a:endParaRPr lang="en-US" sz="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8262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183060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182689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9144001" cy="1181825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524784" y="186200"/>
            <a:ext cx="5297791" cy="8702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Modules Overview</a:t>
            </a:r>
            <a:endParaRPr lang="en-US" sz="3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29374" y="293395"/>
            <a:ext cx="2425189" cy="6558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500" u="sng" kern="1200">
                <a:solidFill>
                  <a:srgbClr val="FFFFFF"/>
                </a:solidFill>
                <a:latin typeface="+mn-lt"/>
                <a:ea typeface="+mn-ea"/>
                <a:cs typeface="+mn-cs"/>
                <a:hlinkClick r:id="rId3"/>
              </a:rPr>
              <a:t>[5]</a:t>
            </a:r>
            <a:r>
              <a:rPr lang="en-US" sz="15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 </a:t>
            </a:r>
            <a:r>
              <a:rPr lang="en-US" sz="1500" u="sng" kern="1200">
                <a:solidFill>
                  <a:srgbClr val="FFFFFF"/>
                </a:solidFill>
                <a:latin typeface="+mn-lt"/>
                <a:ea typeface="+mn-ea"/>
                <a:cs typeface="+mn-cs"/>
                <a:hlinkClick r:id="rId4"/>
              </a:rPr>
              <a:t>[6]</a:t>
            </a:r>
            <a:r>
              <a:rPr lang="en-US" sz="15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 </a:t>
            </a:r>
            <a:r>
              <a:rPr lang="en-US" sz="1500" u="sng" kern="1200">
                <a:solidFill>
                  <a:srgbClr val="FFFFFF"/>
                </a:solidFill>
                <a:latin typeface="+mn-lt"/>
                <a:ea typeface="+mn-ea"/>
                <a:cs typeface="+mn-cs"/>
                <a:hlinkClick r:id="rId5"/>
              </a:rPr>
              <a:t>[7]</a:t>
            </a:r>
            <a:endParaRPr lang="en-US" sz="15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198881"/>
              </p:ext>
            </p:extLst>
          </p:nvPr>
        </p:nvGraphicFramePr>
        <p:xfrm>
          <a:off x="324168" y="1951600"/>
          <a:ext cx="8495663" cy="2391185"/>
        </p:xfrm>
        <a:graphic>
          <a:graphicData uri="http://schemas.openxmlformats.org/drawingml/2006/table">
            <a:tbl>
              <a:tblPr firstRow="1" bandRow="1"/>
              <a:tblGrid>
                <a:gridCol w="3911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3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19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</a:rPr>
                        <a:t>Module</a:t>
                      </a:r>
                      <a:endParaRPr lang="en-US" sz="1800"/>
                    </a:p>
                  </a:txBody>
                  <a:tcPr marL="135863" marR="135863" marT="67931" marB="67931">
                    <a:lnL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</a:rPr>
                        <a:t>Key topics</a:t>
                      </a:r>
                      <a:endParaRPr lang="en-US" sz="1800"/>
                    </a:p>
                  </a:txBody>
                  <a:tcPr marL="135863" marR="135863" marT="67931" marB="67931">
                    <a:lnL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0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>
                          <a:solidFill>
                            <a:srgbClr val="1F4E79"/>
                          </a:solidFill>
                        </a:rPr>
                        <a:t>Data classification of sensitive information</a:t>
                      </a:r>
                      <a:endParaRPr lang="en-US" sz="1500"/>
                    </a:p>
                  </a:txBody>
                  <a:tcPr marL="135863" marR="135863" marT="67931" marB="67931" anchor="ctr">
                    <a:lnL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>
                          <a:solidFill>
                            <a:srgbClr val="35547B"/>
                          </a:solidFill>
                        </a:rPr>
                        <a:t>Benefits &amp; pain points, trainable classifiers, Content/Activity explorer, Document Fingerprinting</a:t>
                      </a:r>
                      <a:endParaRPr lang="en-US" sz="1500"/>
                    </a:p>
                  </a:txBody>
                  <a:tcPr marL="135863" marR="135863" marT="67931" marB="67931" anchor="ctr">
                    <a:lnL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30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>
                          <a:solidFill>
                            <a:srgbClr val="1F4E79"/>
                          </a:solidFill>
                        </a:rPr>
                        <a:t>Explore sensitivity labels</a:t>
                      </a:r>
                      <a:endParaRPr lang="en-US" sz="1500"/>
                    </a:p>
                  </a:txBody>
                  <a:tcPr marL="135863" marR="135863" marT="67931" marB="67931" anchor="ctr">
                    <a:lnL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>
                          <a:solidFill>
                            <a:srgbClr val="35547B"/>
                          </a:solidFill>
                        </a:rPr>
                        <a:t>Label concepts, reasons for use, scope configuration, label ordering, label policies</a:t>
                      </a:r>
                      <a:endParaRPr lang="en-US" sz="1500"/>
                    </a:p>
                  </a:txBody>
                  <a:tcPr marL="135863" marR="135863" marT="67931" marB="67931" anchor="ctr">
                    <a:lnL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0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>
                          <a:solidFill>
                            <a:srgbClr val="1F4E79"/>
                          </a:solidFill>
                        </a:rPr>
                        <a:t>Implement sensitivity labels</a:t>
                      </a:r>
                      <a:endParaRPr lang="en-US" sz="1500"/>
                    </a:p>
                  </a:txBody>
                  <a:tcPr marL="135863" marR="135863" marT="67931" marB="67931" anchor="ctr">
                    <a:lnL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>
                          <a:solidFill>
                            <a:srgbClr val="35547B"/>
                          </a:solidFill>
                        </a:rPr>
                        <a:t>Deployment strategy, enablement in SharePoint &amp; OneDrive, creation, publishing &amp; removal</a:t>
                      </a:r>
                      <a:endParaRPr lang="en-US" sz="1500"/>
                    </a:p>
                  </a:txBody>
                  <a:tcPr marL="135863" marR="135863" marT="67931" marB="67931" anchor="ctr">
                    <a:lnL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</a:rPr>
              <a:t>Summary &amp; Wrap‑Up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120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5547B"/>
                </a:solidFill>
              </a:rPr>
              <a:t>• Establish a clear classification strategy and leverage advanced classifiers and fingerprinting to protect sensitive items.
• Use sensitivity labels to enforce consistent protection across data while maintaining productivity.
• Develop and execute a deployment plan for sensitivity labels, ensuring encryption support and lifecycle management.
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852160" y="1188720"/>
            <a:ext cx="2926080" cy="1828800"/>
          </a:xfrm>
          <a:prstGeom prst="roundRect">
            <a:avLst>
              <a:gd name="adj" fmla="val 5000"/>
            </a:avLst>
          </a:prstGeom>
          <a:solidFill>
            <a:srgbClr val="E9F2FB"/>
          </a:solidFill>
          <a:ln w="12700">
            <a:solidFill>
              <a:srgbClr val="B3CCE6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3716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92240" y="137160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</a:rPr>
              <a:t>Next Steps
</a:t>
            </a:r>
            <a:r>
              <a:rPr lang="en-US" sz="1000" dirty="0">
                <a:solidFill>
                  <a:srgbClr val="35547B"/>
                </a:solidFill>
              </a:rPr>
              <a:t>Review previous modules and prepare for the MS‑102 exam.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5547B"/>
                </a:solidFill>
              </a:rPr>
              <a:t>Join the community for ongoing updates.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u="sng" dirty="0">
                <a:solidFill>
                  <a:srgbClr val="4472C4"/>
                </a:solidFill>
                <a:hlinkClick r:id="rId4"/>
              </a:rPr>
              <a:t>[8]</a:t>
            </a:r>
            <a:r>
              <a:rPr lang="en-US" sz="600" dirty="0">
                <a:solidFill>
                  <a:srgbClr val="000000"/>
                </a:solidFill>
              </a:rPr>
              <a:t>  </a:t>
            </a:r>
            <a:r>
              <a:rPr lang="en-US" sz="600" u="sng" dirty="0">
                <a:solidFill>
                  <a:srgbClr val="4472C4"/>
                </a:solidFill>
                <a:hlinkClick r:id="rId5"/>
              </a:rPr>
              <a:t>[9]</a:t>
            </a:r>
            <a:r>
              <a:rPr lang="en-US" sz="600" dirty="0">
                <a:solidFill>
                  <a:srgbClr val="000000"/>
                </a:solidFill>
              </a:rPr>
              <a:t>  </a:t>
            </a:r>
            <a:r>
              <a:rPr lang="en-US" sz="600" u="sng" dirty="0">
                <a:solidFill>
                  <a:srgbClr val="4472C4"/>
                </a:solidFill>
                <a:hlinkClick r:id="rId6"/>
              </a:rPr>
              <a:t>[10]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1568</Words>
  <Application>Microsoft Office PowerPoint</Application>
  <PresentationFormat>Custom</PresentationFormat>
  <Paragraphs>136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Raydo</cp:lastModifiedBy>
  <cp:revision>1</cp:revision>
  <dcterms:created xsi:type="dcterms:W3CDTF">2025-12-18T20:58:05Z</dcterms:created>
  <dcterms:modified xsi:type="dcterms:W3CDTF">2025-12-18T21:59:10Z</dcterms:modified>
</cp:coreProperties>
</file>