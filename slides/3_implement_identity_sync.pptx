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155484-A452-450B-844A-81392B48EB85}" v="11" dt="2025-12-18T22:32:56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671" autoAdjust="0"/>
  </p:normalViewPr>
  <p:slideViewPr>
    <p:cSldViewPr snapToGrid="0" snapToObjects="1">
      <p:cViewPr varScale="1">
        <p:scale>
          <a:sx n="94" d="100"/>
          <a:sy n="94" d="100"/>
        </p:scale>
        <p:origin x="113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do Matthee" userId="259e028f13680ef9" providerId="LiveId" clId="{6AC1AFA1-16AA-487C-B473-8260DD30DC01}"/>
    <pc:docChg chg="undo custSel modSld">
      <pc:chgData name="Raydo Matthee" userId="259e028f13680ef9" providerId="LiveId" clId="{6AC1AFA1-16AA-487C-B473-8260DD30DC01}" dt="2025-12-18T22:27:22.905" v="71" actId="20577"/>
      <pc:docMkLst>
        <pc:docMk/>
      </pc:docMkLst>
      <pc:sldChg chg="addSp modSp mod setBg">
        <pc:chgData name="Raydo Matthee" userId="259e028f13680ef9" providerId="LiveId" clId="{6AC1AFA1-16AA-487C-B473-8260DD30DC01}" dt="2025-12-18T22:21:25.900" v="67" actId="403"/>
        <pc:sldMkLst>
          <pc:docMk/>
          <pc:sldMk cId="0" sldId="256"/>
        </pc:sldMkLst>
        <pc:spChg chg="mod">
          <ac:chgData name="Raydo Matthee" userId="259e028f13680ef9" providerId="LiveId" clId="{6AC1AFA1-16AA-487C-B473-8260DD30DC01}" dt="2025-12-18T22:21:25.900" v="67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7:30.055" v="0" actId="2660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7:30.055" v="0" actId="26606"/>
          <ac:spMkLst>
            <pc:docMk/>
            <pc:sldMk cId="0" sldId="256"/>
            <ac:spMk id="5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0:17:30.055" v="0" actId="26606"/>
          <ac:spMkLst>
            <pc:docMk/>
            <pc:sldMk cId="0" sldId="256"/>
            <ac:spMk id="10" creationId="{D1A4588A-55D5-49B8-BE41-54ACDCFF2C17}"/>
          </ac:spMkLst>
        </pc:spChg>
        <pc:spChg chg="add">
          <ac:chgData name="Raydo Matthee" userId="259e028f13680ef9" providerId="LiveId" clId="{6AC1AFA1-16AA-487C-B473-8260DD30DC01}" dt="2025-12-18T20:17:30.055" v="0" actId="26606"/>
          <ac:spMkLst>
            <pc:docMk/>
            <pc:sldMk cId="0" sldId="256"/>
            <ac:spMk id="12" creationId="{F97E7EA2-EDCD-47E9-81BC-415C606D1B58}"/>
          </ac:spMkLst>
        </pc:spChg>
        <pc:picChg chg="mod ord">
          <ac:chgData name="Raydo Matthee" userId="259e028f13680ef9" providerId="LiveId" clId="{6AC1AFA1-16AA-487C-B473-8260DD30DC01}" dt="2025-12-18T20:17:30.055" v="0" actId="26606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Sp mod setBg">
        <pc:chgData name="Raydo Matthee" userId="259e028f13680ef9" providerId="LiveId" clId="{6AC1AFA1-16AA-487C-B473-8260DD30DC01}" dt="2025-12-18T22:27:22.905" v="71" actId="20577"/>
        <pc:sldMkLst>
          <pc:docMk/>
          <pc:sldMk cId="0" sldId="257"/>
        </pc:sldMkLst>
        <pc:spChg chg="mo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57:28.310" v="13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2:27:22.905" v="71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57:26.910" v="11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Raydo Matthee" userId="259e028f13680ef9" providerId="LiveId" clId="{6AC1AFA1-16AA-487C-B473-8260DD30DC01}" dt="2025-12-18T20:59:23.782" v="47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57:27.660" v="12" actId="478"/>
          <ac:spMkLst>
            <pc:docMk/>
            <pc:sldMk cId="0" sldId="257"/>
            <ac:spMk id="7" creationId="{00000000-0000-0000-0000-000000000000}"/>
          </ac:spMkLst>
        </pc:spChg>
        <pc:spChg chg="add del mod">
          <ac:chgData name="Raydo Matthee" userId="259e028f13680ef9" providerId="LiveId" clId="{6AC1AFA1-16AA-487C-B473-8260DD30DC01}" dt="2025-12-18T20:59:24.650" v="48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Raydo Matthee" userId="259e028f13680ef9" providerId="LiveId" clId="{6AC1AFA1-16AA-487C-B473-8260DD30DC01}" dt="2025-12-18T20:57:26.173" v="10" actId="478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Raydo Matthee" userId="259e028f13680ef9" providerId="LiveId" clId="{6AC1AFA1-16AA-487C-B473-8260DD30DC01}" dt="2025-12-18T20:59:16.227" v="45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11" creationId="{00000000-0000-0000-0000-000000000000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16" creationId="{09588DA8-065E-4F6F-8EFD-43104AB2E0CF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18" creationId="{C4285719-470E-454C-AF62-8323075F1F5B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0" creationId="{CD9FE4EF-C4D8-49A0-B2FF-81D8DB7D8A24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2" creationId="{4300840D-0A0B-4512-BACA-B439D5B9C57C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4" creationId="{D2B78728-A580-49A7-84F9-6EF6F583ADE0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6" creationId="{38FAA1A1-D861-433F-88FA-1E9D6FD31D11}"/>
          </ac:spMkLst>
        </pc:spChg>
        <pc:spChg chg="add">
          <ac:chgData name="Raydo Matthee" userId="259e028f13680ef9" providerId="LiveId" clId="{6AC1AFA1-16AA-487C-B473-8260DD30DC01}" dt="2025-12-18T21:01:22.003" v="50" actId="26606"/>
          <ac:spMkLst>
            <pc:docMk/>
            <pc:sldMk cId="0" sldId="257"/>
            <ac:spMk id="28" creationId="{8D71EDA1-87BF-4D5D-AB79-F346FD19278A}"/>
          </ac:spMkLst>
        </pc:spChg>
      </pc:sldChg>
      <pc:sldChg chg="addSp delSp modSp mod setBg">
        <pc:chgData name="Raydo Matthee" userId="259e028f13680ef9" providerId="LiveId" clId="{6AC1AFA1-16AA-487C-B473-8260DD30DC01}" dt="2025-12-18T20:17:47.622" v="9" actId="26606"/>
        <pc:sldMkLst>
          <pc:docMk/>
          <pc:sldMk cId="0" sldId="258"/>
        </pc:sldMkLst>
        <pc:spChg chg="mo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Raydo Matthee" userId="259e028f13680ef9" providerId="LiveId" clId="{6AC1AFA1-16AA-487C-B473-8260DD30DC01}" dt="2025-12-18T20:17:43.156" v="2" actId="26606"/>
          <ac:spMkLst>
            <pc:docMk/>
            <pc:sldMk cId="0" sldId="258"/>
            <ac:spMk id="9" creationId="{A8384FB5-9ADC-4DDC-881B-597D56F5B15D}"/>
          </ac:spMkLst>
        </pc:spChg>
        <pc:spChg chg="add del">
          <ac:chgData name="Raydo Matthee" userId="259e028f13680ef9" providerId="LiveId" clId="{6AC1AFA1-16AA-487C-B473-8260DD30DC01}" dt="2025-12-18T20:17:43.156" v="2" actId="26606"/>
          <ac:spMkLst>
            <pc:docMk/>
            <pc:sldMk cId="0" sldId="258"/>
            <ac:spMk id="11" creationId="{1199E1B1-A8C0-4FE8-A5A8-1CB41D69F857}"/>
          </ac:spMkLst>
        </pc:spChg>
        <pc:spChg chg="add del">
          <ac:chgData name="Raydo Matthee" userId="259e028f13680ef9" providerId="LiveId" clId="{6AC1AFA1-16AA-487C-B473-8260DD30DC01}" dt="2025-12-18T20:17:43.156" v="2" actId="26606"/>
          <ac:spMkLst>
            <pc:docMk/>
            <pc:sldMk cId="0" sldId="258"/>
            <ac:spMk id="13" creationId="{84A8DE83-DE75-4B41-9DB4-A7EC0B0DEC0B}"/>
          </ac:spMkLst>
        </pc:spChg>
        <pc:spChg chg="add del">
          <ac:chgData name="Raydo Matthee" userId="259e028f13680ef9" providerId="LiveId" clId="{6AC1AFA1-16AA-487C-B473-8260DD30DC01}" dt="2025-12-18T20:17:43.156" v="2" actId="26606"/>
          <ac:spMkLst>
            <pc:docMk/>
            <pc:sldMk cId="0" sldId="258"/>
            <ac:spMk id="15" creationId="{A7009A0A-BEF5-4EAC-AF15-E4F9F002E239}"/>
          </ac:spMkLst>
        </pc:spChg>
        <pc:spChg chg="add del">
          <ac:chgData name="Raydo Matthee" userId="259e028f13680ef9" providerId="LiveId" clId="{6AC1AFA1-16AA-487C-B473-8260DD30DC01}" dt="2025-12-18T20:17:44.972" v="4" actId="26606"/>
          <ac:spMkLst>
            <pc:docMk/>
            <pc:sldMk cId="0" sldId="258"/>
            <ac:spMk id="17" creationId="{C1A1C5D3-C053-4EE9-BE1A-419B6E27CCAE}"/>
          </ac:spMkLst>
        </pc:spChg>
        <pc:spChg chg="add del">
          <ac:chgData name="Raydo Matthee" userId="259e028f13680ef9" providerId="LiveId" clId="{6AC1AFA1-16AA-487C-B473-8260DD30DC01}" dt="2025-12-18T20:17:44.972" v="4" actId="26606"/>
          <ac:spMkLst>
            <pc:docMk/>
            <pc:sldMk cId="0" sldId="258"/>
            <ac:spMk id="18" creationId="{A3473CF9-37EB-43E7-89EF-D2D1C53D1DAC}"/>
          </ac:spMkLst>
        </pc:spChg>
        <pc:spChg chg="add del">
          <ac:chgData name="Raydo Matthee" userId="259e028f13680ef9" providerId="LiveId" clId="{6AC1AFA1-16AA-487C-B473-8260DD30DC01}" dt="2025-12-18T20:17:44.972" v="4" actId="26606"/>
          <ac:spMkLst>
            <pc:docMk/>
            <pc:sldMk cId="0" sldId="258"/>
            <ac:spMk id="19" creationId="{586B4EF9-43BA-4655-A6FF-1D8E21574C95}"/>
          </ac:spMkLst>
        </pc:spChg>
        <pc:spChg chg="add del">
          <ac:chgData name="Raydo Matthee" userId="259e028f13680ef9" providerId="LiveId" clId="{6AC1AFA1-16AA-487C-B473-8260DD30DC01}" dt="2025-12-18T20:17:45.505" v="6" actId="26606"/>
          <ac:spMkLst>
            <pc:docMk/>
            <pc:sldMk cId="0" sldId="258"/>
            <ac:spMk id="21" creationId="{C1A1C5D3-C053-4EE9-BE1A-419B6E27CCAE}"/>
          </ac:spMkLst>
        </pc:spChg>
        <pc:spChg chg="add del">
          <ac:chgData name="Raydo Matthee" userId="259e028f13680ef9" providerId="LiveId" clId="{6AC1AFA1-16AA-487C-B473-8260DD30DC01}" dt="2025-12-18T20:17:45.505" v="6" actId="26606"/>
          <ac:spMkLst>
            <pc:docMk/>
            <pc:sldMk cId="0" sldId="258"/>
            <ac:spMk id="22" creationId="{A3473CF9-37EB-43E7-89EF-D2D1C53D1DAC}"/>
          </ac:spMkLst>
        </pc:spChg>
        <pc:spChg chg="add del">
          <ac:chgData name="Raydo Matthee" userId="259e028f13680ef9" providerId="LiveId" clId="{6AC1AFA1-16AA-487C-B473-8260DD30DC01}" dt="2025-12-18T20:17:45.505" v="6" actId="26606"/>
          <ac:spMkLst>
            <pc:docMk/>
            <pc:sldMk cId="0" sldId="258"/>
            <ac:spMk id="23" creationId="{586B4EF9-43BA-4655-A6FF-1D8E21574C95}"/>
          </ac:spMkLst>
        </pc:spChg>
        <pc:spChg chg="add del">
          <ac:chgData name="Raydo Matthee" userId="259e028f13680ef9" providerId="LiveId" clId="{6AC1AFA1-16AA-487C-B473-8260DD30DC01}" dt="2025-12-18T20:17:47.605" v="8" actId="26606"/>
          <ac:spMkLst>
            <pc:docMk/>
            <pc:sldMk cId="0" sldId="258"/>
            <ac:spMk id="25" creationId="{A8384FB5-9ADC-4DDC-881B-597D56F5B15D}"/>
          </ac:spMkLst>
        </pc:spChg>
        <pc:spChg chg="add del">
          <ac:chgData name="Raydo Matthee" userId="259e028f13680ef9" providerId="LiveId" clId="{6AC1AFA1-16AA-487C-B473-8260DD30DC01}" dt="2025-12-18T20:17:47.605" v="8" actId="26606"/>
          <ac:spMkLst>
            <pc:docMk/>
            <pc:sldMk cId="0" sldId="258"/>
            <ac:spMk id="26" creationId="{1199E1B1-A8C0-4FE8-A5A8-1CB41D69F857}"/>
          </ac:spMkLst>
        </pc:spChg>
        <pc:spChg chg="add del">
          <ac:chgData name="Raydo Matthee" userId="259e028f13680ef9" providerId="LiveId" clId="{6AC1AFA1-16AA-487C-B473-8260DD30DC01}" dt="2025-12-18T20:17:47.605" v="8" actId="26606"/>
          <ac:spMkLst>
            <pc:docMk/>
            <pc:sldMk cId="0" sldId="258"/>
            <ac:spMk id="27" creationId="{84A8DE83-DE75-4B41-9DB4-A7EC0B0DEC0B}"/>
          </ac:spMkLst>
        </pc:spChg>
        <pc:spChg chg="add del">
          <ac:chgData name="Raydo Matthee" userId="259e028f13680ef9" providerId="LiveId" clId="{6AC1AFA1-16AA-487C-B473-8260DD30DC01}" dt="2025-12-18T20:17:47.605" v="8" actId="26606"/>
          <ac:spMkLst>
            <pc:docMk/>
            <pc:sldMk cId="0" sldId="258"/>
            <ac:spMk id="28" creationId="{A7009A0A-BEF5-4EAC-AF15-E4F9F002E239}"/>
          </ac:spMkLst>
        </pc:spChg>
        <pc:spChg chg="ad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30" creationId="{A8384FB5-9ADC-4DDC-881B-597D56F5B15D}"/>
          </ac:spMkLst>
        </pc:spChg>
        <pc:spChg chg="ad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31" creationId="{1199E1B1-A8C0-4FE8-A5A8-1CB41D69F857}"/>
          </ac:spMkLst>
        </pc:spChg>
        <pc:spChg chg="ad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32" creationId="{84A8DE83-DE75-4B41-9DB4-A7EC0B0DEC0B}"/>
          </ac:spMkLst>
        </pc:spChg>
        <pc:spChg chg="add">
          <ac:chgData name="Raydo Matthee" userId="259e028f13680ef9" providerId="LiveId" clId="{6AC1AFA1-16AA-487C-B473-8260DD30DC01}" dt="2025-12-18T20:17:47.622" v="9" actId="26606"/>
          <ac:spMkLst>
            <pc:docMk/>
            <pc:sldMk cId="0" sldId="258"/>
            <ac:spMk id="33" creationId="{A7009A0A-BEF5-4EAC-AF15-E4F9F002E239}"/>
          </ac:spMkLst>
        </pc:spChg>
        <pc:graphicFrameChg chg="add mod ord">
          <ac:chgData name="Raydo Matthee" userId="259e028f13680ef9" providerId="LiveId" clId="{6AC1AFA1-16AA-487C-B473-8260DD30DC01}" dt="2025-12-18T20:17:47.622" v="9" actId="26606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374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explore-identity-synchronization/#:~:text=By%20the%20end%20of%20this,you%20should%20be%20able%20to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Notes: Implement Identity Synchronisation – Learning Path Overview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Purpose: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learning path guides you through bridging your on-premises and cloud directories by preparing, configuring, and managing identity synchronisation.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Focus Areas: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the importance of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synchronising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identities between local and cloud environments for seamless access and security.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about the tools and processes involved in identity synchronisation, including planning, setup, and ongoing management.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 end of this module, you should be able to: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your environment for directory synchronisation.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Choose and configure the right synchronisation tool (such as Entra Connect or Cloud Sync).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and manage synchronised identities effectively.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further details, see the Microsoft Learn module on identity synchronisation: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https://learn.microsoft.com/en-us/training/modules/explore-identity-synchronization/#:~:text=By%20the%20end%20of%20this,you%20should%20be%20able%20to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Notes: Learning Objectives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Authentication &amp; Identity Models: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the different authentication options available and compare cloud-only versus hybrid identity models.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Preparation: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 how to plan your environment for directory synchronisation, including how to select the most suitable tool (Entra Connect or Cloud Sync) for your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organisation’s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needs.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 &amp; Monitoring: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Gain practical knowledge on configuring Entra Connect Sync and Cloud Sync, and discover how to monitor the health of your synchronisation processes.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&amp; Troubleshooting: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 how to manage synchronised identities, including working with groups, applying object filters, managing security groups, and troubleshooting common synchronisation issues.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further details and step-by-step guidance, refer to the Microsoft Learn modules linked in the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Notes: Modules Overview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 identity synchronisation: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Introduces authentication options and compares hybrid and cloud identity models, helping you understand which approach best fits your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organisation’s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needs.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 for identity synchronisation: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Focuses on configuring your environment, planning directory synchronisation, and selecting the right tool for your setup.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directory synchronisation tools: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Guides you through setting up Entra Connect Sync and Cloud Sync, and introduces monitoring with Connect Health to ensure ongoing reliability.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 synchronised identities: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Explains how to manage groups, apply object filters, configure security groups, use Microsoft Identity Manager (MIM), and troubleshoot synchronisation issues.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more details, consult the Microsoft Learn modules linked in the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en-us/training/modules/explore-identity-synchronization/#:~:text=By%20the%20end%20of%20this,you%20should%20be%20able%20t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explore-identity-synchronization/#:~:text=By%20the%20end%20of%20this,you%20should%20be%20able%20t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manage-synchronized/#:~:text=By%20the%20end%20of%20this,you%20should%20be%20able%20to" TargetMode="External"/><Relationship Id="rId5" Type="http://schemas.openxmlformats.org/officeDocument/2006/relationships/hyperlink" Target="https://learn.microsoft.com/en-us/training/modules/implement-synchronization-tools/#:~:text=Learning%20objectives" TargetMode="External"/><Relationship Id="rId4" Type="http://schemas.openxmlformats.org/officeDocument/2006/relationships/hyperlink" Target="https://learn.microsoft.com/en-us/training/modules/prepare-synchronization-microsoft-365/#:~:text=By%20the%20end%20of%20this,you%20should%20be%20able%20t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training/modules/explore-identity-synchronization/#:~:text=By%20the%20end%20of%20this,you%20should%20be%20able%20to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manage-synchronized/#:~:text=By%20the%20end%20of%20this,you%20should%20be%20able%20to" TargetMode="External"/><Relationship Id="rId5" Type="http://schemas.openxmlformats.org/officeDocument/2006/relationships/hyperlink" Target="https://learn.microsoft.com/en-us/training/modules/implement-synchronization-tools/#:~:text=Learning%20objectives" TargetMode="External"/><Relationship Id="rId4" Type="http://schemas.openxmlformats.org/officeDocument/2006/relationships/hyperlink" Target="https://learn.microsoft.com/en-us/training/modules/prepare-synchronization-microsoft-365/#:~:text=By%20the%20end%20of%20this,you%20should%20be%20able%20t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learn.microsoft.com/en-us/training/modules/manage-synchronized/#:~:text=By%20the%20end%20of%20this,you%20should%20be%20able%20t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earn.microsoft.com/en-us/training/modules/implement-synchronization-tools/#:~:text=Learning%20objectives" TargetMode="External"/><Relationship Id="rId5" Type="http://schemas.openxmlformats.org/officeDocument/2006/relationships/hyperlink" Target="https://learn.microsoft.com/en-us/training/modules/prepare-synchronization-microsoft-365/#:~:text=By%20the%20end%20of%20this,you%20should%20be%20able%20to" TargetMode="External"/><Relationship Id="rId4" Type="http://schemas.openxmlformats.org/officeDocument/2006/relationships/hyperlink" Target="https://learn.microsoft.com/en-us/training/modules/explore-identity-synchronization/#:~:text=By%20the%20end%20of%20this,you%20should%20be%20able%20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6312" b="28760"/>
          <a:stretch>
            <a:fillRect/>
          </a:stretch>
        </p:blipFill>
        <p:spPr>
          <a:xfrm>
            <a:off x="20" y="10"/>
            <a:ext cx="9143980" cy="3352578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2524"/>
            <a:ext cx="7036903" cy="51482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 0"/>
          <p:cNvSpPr/>
          <p:nvPr/>
        </p:nvSpPr>
        <p:spPr>
          <a:xfrm>
            <a:off x="425196" y="3155377"/>
            <a:ext cx="6417894" cy="402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100" b="1" dirty="0">
                <a:solidFill>
                  <a:schemeClr val="bg1"/>
                </a:solidFill>
              </a:rPr>
              <a:t>Implement identity synchronisation
Learning </a:t>
            </a:r>
            <a:r>
              <a:rPr lang="en-US" sz="1100" b="1">
                <a:solidFill>
                  <a:schemeClr val="bg1"/>
                </a:solidFill>
              </a:rPr>
              <a:t>Path Overview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5196" y="3720677"/>
            <a:ext cx="8293608" cy="98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Bridge your on‑premises and cloud directories by preparing, configuring and managing identity synchronisation.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[1]</a:t>
            </a:r>
            <a:endParaRPr lang="en-US" sz="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4" y="1059943"/>
            <a:ext cx="5148263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45" y="1067553"/>
            <a:ext cx="5148262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074" y="2694958"/>
            <a:ext cx="1878222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961"/>
            <a:ext cx="2925267" cy="3137121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9951" y="1052331"/>
            <a:ext cx="5148265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50041" y="440548"/>
            <a:ext cx="2401025" cy="2542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Objectives</a:t>
            </a:r>
          </a:p>
        </p:txBody>
      </p:sp>
      <p:sp>
        <p:nvSpPr>
          <p:cNvPr id="4" name="Text 2"/>
          <p:cNvSpPr/>
          <p:nvPr/>
        </p:nvSpPr>
        <p:spPr>
          <a:xfrm>
            <a:off x="3607694" y="487561"/>
            <a:ext cx="4916510" cy="41633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Describe authentication options and identity models (cloud‑only vs hybrid).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Prepare your environment: plan directory synchronisation and choose the right tool (Entra Connect vs Cloud Sync).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Configure Entra Connect Sync &amp; Cloud Sync and monitor synchronisation health.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Manage synchronised identities: groups, object filters, security groups and troubleshooting.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600" u="sng" dirty="0">
                <a:solidFill>
                  <a:srgbClr val="4472C4"/>
                </a:solidFill>
                <a:hlinkClick r:id="rId3"/>
              </a:rPr>
              <a:t>[2]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4"/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6"/>
              </a:rPr>
              <a:t>[5]</a:t>
            </a:r>
            <a:endParaRPr lang="en-US" sz="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826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3060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2689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1825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200"/>
            <a:ext cx="5297791" cy="870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Modules Overview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29374" y="293395"/>
            <a:ext cx="2425189" cy="655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3"/>
              </a:rPr>
              <a:t>[6]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4"/>
              </a:rPr>
              <a:t>[7]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5"/>
              </a:rPr>
              <a:t>[8]</a:t>
            </a:r>
            <a:r>
              <a:rPr lang="en-US" sz="15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sz="1500" u="sng" kern="1200">
                <a:solidFill>
                  <a:srgbClr val="FFFFFF"/>
                </a:solidFill>
                <a:latin typeface="+mn-lt"/>
                <a:ea typeface="+mn-ea"/>
                <a:cs typeface="+mn-cs"/>
                <a:hlinkClick r:id="rId6"/>
              </a:rPr>
              <a:t>[9]</a:t>
            </a:r>
            <a:endParaRPr lang="en-US" sz="15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026503"/>
              </p:ext>
            </p:extLst>
          </p:nvPr>
        </p:nvGraphicFramePr>
        <p:xfrm>
          <a:off x="324168" y="1514553"/>
          <a:ext cx="8495663" cy="3265281"/>
        </p:xfrm>
        <a:graphic>
          <a:graphicData uri="http://schemas.openxmlformats.org/drawingml/2006/table">
            <a:tbl>
              <a:tblPr firstRow="1" bandRow="1"/>
              <a:tblGrid>
                <a:gridCol w="3807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8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800"/>
                    </a:p>
                  </a:txBody>
                  <a:tcPr marL="137969" marR="137969" marT="68985" marB="68985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Key topics</a:t>
                      </a:r>
                      <a:endParaRPr lang="en-US" sz="1800"/>
                    </a:p>
                  </a:txBody>
                  <a:tcPr marL="137969" marR="137969" marT="68985" marB="68985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4E79"/>
                          </a:solidFill>
                        </a:rPr>
                        <a:t>Explore identity synchronisation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35547B"/>
                          </a:solidFill>
                        </a:rPr>
                        <a:t>Authentication options, hybrid &amp; cloud identity models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4E79"/>
                          </a:solidFill>
                        </a:rPr>
                        <a:t>Prepare for identity synchronisation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35547B"/>
                          </a:solidFill>
                        </a:rPr>
                        <a:t>Environment configuration, directory sync planning, tool selection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1F4E79"/>
                          </a:solidFill>
                        </a:rPr>
                        <a:t>Implement directory synchronisation tools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35547B"/>
                          </a:solidFill>
                        </a:rPr>
                        <a:t>Set up Entra Connect Sync &amp; Cloud Sync, monitor with Connect Health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F4E79"/>
                          </a:solidFill>
                        </a:rPr>
                        <a:t>Manage synchronised identities</a:t>
                      </a:r>
                      <a:endParaRPr lang="en-US" sz="1700" dirty="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>
                          <a:solidFill>
                            <a:srgbClr val="35547B"/>
                          </a:solidFill>
                        </a:rPr>
                        <a:t>Groups, object filters, security groups, MIM &amp; troubleshooting</a:t>
                      </a:r>
                      <a:endParaRPr lang="en-US" sz="1700"/>
                    </a:p>
                  </a:txBody>
                  <a:tcPr marL="137969" marR="137969" marT="68985" marB="68985" anchor="ctr">
                    <a:lnL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Summary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547B"/>
                </a:solidFill>
              </a:rPr>
              <a:t>• Choose the right identity model and authentication method for your organisation.
• Plan and configure identity synchronisation using Entra Connect or Cloud Sync.
• Monitor synchronisation health and use security groups and filters to scope your synchronised objects.
• Troubleshoot synchronisation issues and leverage Microsoft Identity Manager when needed.
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852160" y="1188720"/>
            <a:ext cx="2926080" cy="1828800"/>
          </a:xfrm>
          <a:prstGeom prst="roundRect">
            <a:avLst>
              <a:gd name="adj" fmla="val 5000"/>
            </a:avLst>
          </a:prstGeom>
          <a:solidFill>
            <a:srgbClr val="E9F2FB"/>
          </a:solidFill>
          <a:ln w="12700">
            <a:solidFill>
              <a:srgbClr val="B3CC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371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</a:rPr>
              <a:t>Proceed to 
</a:t>
            </a:r>
            <a:r>
              <a:rPr lang="en-US" sz="1200" i="1" dirty="0">
                <a:solidFill>
                  <a:srgbClr val="35547B"/>
                </a:solidFill>
              </a:rPr>
              <a:t>“Manage identity &amp; access”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0" y="21945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588"/>
                </a:solidFill>
              </a:rPr>
              <a:t>Next, dive into identity protection, secure access policies and Zero Trust principles.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4472C4"/>
                </a:solidFill>
                <a:hlinkClick r:id="rId4"/>
              </a:rPr>
              <a:t>[10]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5"/>
              </a:rPr>
              <a:t>[11]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6"/>
              </a:rPr>
              <a:t>[12]</a:t>
            </a:r>
            <a:r>
              <a:rPr lang="en-US" sz="600" dirty="0">
                <a:solidFill>
                  <a:srgbClr val="000000"/>
                </a:solidFill>
              </a:rPr>
              <a:t>  </a:t>
            </a:r>
            <a:r>
              <a:rPr lang="en-US" sz="600" u="sng" dirty="0">
                <a:solidFill>
                  <a:srgbClr val="4472C4"/>
                </a:solidFill>
                <a:hlinkClick r:id="rId7"/>
              </a:rPr>
              <a:t>[13]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719</Words>
  <Application>Microsoft Office PowerPoint</Application>
  <PresentationFormat>Custom</PresentationFormat>
  <Paragraphs>52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Raydo</cp:lastModifiedBy>
  <cp:revision>1</cp:revision>
  <dcterms:created xsi:type="dcterms:W3CDTF">2025-12-18T20:13:00Z</dcterms:created>
  <dcterms:modified xsi:type="dcterms:W3CDTF">2025-12-18T22:33:06Z</dcterms:modified>
</cp:coreProperties>
</file>