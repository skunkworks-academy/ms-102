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8263"/>
  <p:notesSz cx="5148263"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BEE2B2-E4AA-4BAC-9675-54DA5CDE3B80}" v="9" dt="2025-12-18T22:20:55.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966" autoAdjust="0"/>
  </p:normalViewPr>
  <p:slideViewPr>
    <p:cSldViewPr snapToGrid="0" snapToObjects="1">
      <p:cViewPr varScale="1">
        <p:scale>
          <a:sx n="103" d="100"/>
          <a:sy n="103" d="100"/>
        </p:scale>
        <p:origin x="792" y="312"/>
      </p:cViewPr>
      <p:guideLst/>
    </p:cSldViewPr>
  </p:slideViewPr>
  <p:notesTextViewPr>
    <p:cViewPr>
      <p:scale>
        <a:sx n="1" d="1"/>
        <a:sy n="1" d="1"/>
      </p:scale>
      <p:origin x="0" y="-223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do Matthee" userId="259e028f13680ef9" providerId="LiveId" clId="{6AC1AFA1-16AA-487C-B473-8260DD30DC01}"/>
    <pc:docChg chg="custSel modSld">
      <pc:chgData name="Raydo Matthee" userId="259e028f13680ef9" providerId="LiveId" clId="{6AC1AFA1-16AA-487C-B473-8260DD30DC01}" dt="2025-12-18T22:18:27.861" v="83"/>
      <pc:docMkLst>
        <pc:docMk/>
      </pc:docMkLst>
      <pc:sldChg chg="addSp modSp mod setBg">
        <pc:chgData name="Raydo Matthee" userId="259e028f13680ef9" providerId="LiveId" clId="{6AC1AFA1-16AA-487C-B473-8260DD30DC01}" dt="2025-12-18T22:16:54.497" v="64" actId="404"/>
        <pc:sldMkLst>
          <pc:docMk/>
          <pc:sldMk cId="0" sldId="256"/>
        </pc:sldMkLst>
        <pc:spChg chg="mod">
          <ac:chgData name="Raydo Matthee" userId="259e028f13680ef9" providerId="LiveId" clId="{6AC1AFA1-16AA-487C-B473-8260DD30DC01}" dt="2025-12-18T22:16:54.497" v="64" actId="404"/>
          <ac:spMkLst>
            <pc:docMk/>
            <pc:sldMk cId="0" sldId="256"/>
            <ac:spMk id="2" creationId="{00000000-0000-0000-0000-000000000000}"/>
          </ac:spMkLst>
        </pc:spChg>
        <pc:spChg chg="mod">
          <ac:chgData name="Raydo Matthee" userId="259e028f13680ef9" providerId="LiveId" clId="{6AC1AFA1-16AA-487C-B473-8260DD30DC01}" dt="2025-12-18T22:13:54.045" v="60" actId="5793"/>
          <ac:spMkLst>
            <pc:docMk/>
            <pc:sldMk cId="0" sldId="256"/>
            <ac:spMk id="3" creationId="{00000000-0000-0000-0000-000000000000}"/>
          </ac:spMkLst>
        </pc:spChg>
        <pc:spChg chg="mod">
          <ac:chgData name="Raydo Matthee" userId="259e028f13680ef9" providerId="LiveId" clId="{6AC1AFA1-16AA-487C-B473-8260DD30DC01}" dt="2025-12-18T22:13:45.183" v="58" actId="1076"/>
          <ac:spMkLst>
            <pc:docMk/>
            <pc:sldMk cId="0" sldId="256"/>
            <ac:spMk id="5" creationId="{00000000-0000-0000-0000-000000000000}"/>
          </ac:spMkLst>
        </pc:spChg>
        <pc:spChg chg="add">
          <ac:chgData name="Raydo Matthee" userId="259e028f13680ef9" providerId="LiveId" clId="{6AC1AFA1-16AA-487C-B473-8260DD30DC01}" dt="2025-12-18T21:35:28.753" v="0" actId="26606"/>
          <ac:spMkLst>
            <pc:docMk/>
            <pc:sldMk cId="0" sldId="256"/>
            <ac:spMk id="10" creationId="{D1A4588A-55D5-49B8-BE41-54ACDCFF2C17}"/>
          </ac:spMkLst>
        </pc:spChg>
        <pc:spChg chg="add">
          <ac:chgData name="Raydo Matthee" userId="259e028f13680ef9" providerId="LiveId" clId="{6AC1AFA1-16AA-487C-B473-8260DD30DC01}" dt="2025-12-18T21:35:28.753" v="0" actId="26606"/>
          <ac:spMkLst>
            <pc:docMk/>
            <pc:sldMk cId="0" sldId="256"/>
            <ac:spMk id="12" creationId="{F97E7EA2-EDCD-47E9-81BC-415C606D1B58}"/>
          </ac:spMkLst>
        </pc:spChg>
        <pc:picChg chg="mod ord">
          <ac:chgData name="Raydo Matthee" userId="259e028f13680ef9" providerId="LiveId" clId="{6AC1AFA1-16AA-487C-B473-8260DD30DC01}" dt="2025-12-18T21:35:28.753" v="0" actId="26606"/>
          <ac:picMkLst>
            <pc:docMk/>
            <pc:sldMk cId="0" sldId="256"/>
            <ac:picMk id="4" creationId="{00000000-0000-0000-0000-000000000000}"/>
          </ac:picMkLst>
        </pc:picChg>
      </pc:sldChg>
      <pc:sldChg chg="addSp delSp modSp mod setBg">
        <pc:chgData name="Raydo Matthee" userId="259e028f13680ef9" providerId="LiveId" clId="{6AC1AFA1-16AA-487C-B473-8260DD30DC01}" dt="2025-12-18T22:11:04.512" v="33" actId="26606"/>
        <pc:sldMkLst>
          <pc:docMk/>
          <pc:sldMk cId="0" sldId="257"/>
        </pc:sldMkLst>
        <pc:spChg chg="mod">
          <ac:chgData name="Raydo Matthee" userId="259e028f13680ef9" providerId="LiveId" clId="{6AC1AFA1-16AA-487C-B473-8260DD30DC01}" dt="2025-12-18T22:11:04.512" v="33" actId="26606"/>
          <ac:spMkLst>
            <pc:docMk/>
            <pc:sldMk cId="0" sldId="257"/>
            <ac:spMk id="2" creationId="{00000000-0000-0000-0000-000000000000}"/>
          </ac:spMkLst>
        </pc:spChg>
        <pc:spChg chg="del">
          <ac:chgData name="Raydo Matthee" userId="259e028f13680ef9" providerId="LiveId" clId="{6AC1AFA1-16AA-487C-B473-8260DD30DC01}" dt="2025-12-18T22:09:47.721" v="3" actId="478"/>
          <ac:spMkLst>
            <pc:docMk/>
            <pc:sldMk cId="0" sldId="257"/>
            <ac:spMk id="3" creationId="{00000000-0000-0000-0000-000000000000}"/>
          </ac:spMkLst>
        </pc:spChg>
        <pc:spChg chg="mod">
          <ac:chgData name="Raydo Matthee" userId="259e028f13680ef9" providerId="LiveId" clId="{6AC1AFA1-16AA-487C-B473-8260DD30DC01}" dt="2025-12-18T22:11:04.512" v="33" actId="26606"/>
          <ac:spMkLst>
            <pc:docMk/>
            <pc:sldMk cId="0" sldId="257"/>
            <ac:spMk id="4" creationId="{00000000-0000-0000-0000-000000000000}"/>
          </ac:spMkLst>
        </pc:spChg>
        <pc:spChg chg="del">
          <ac:chgData name="Raydo Matthee" userId="259e028f13680ef9" providerId="LiveId" clId="{6AC1AFA1-16AA-487C-B473-8260DD30DC01}" dt="2025-12-18T22:09:47.721" v="3" actId="478"/>
          <ac:spMkLst>
            <pc:docMk/>
            <pc:sldMk cId="0" sldId="257"/>
            <ac:spMk id="5" creationId="{00000000-0000-0000-0000-000000000000}"/>
          </ac:spMkLst>
        </pc:spChg>
        <pc:spChg chg="del mod">
          <ac:chgData name="Raydo Matthee" userId="259e028f13680ef9" providerId="LiveId" clId="{6AC1AFA1-16AA-487C-B473-8260DD30DC01}" dt="2025-12-18T22:10:08.535" v="14" actId="478"/>
          <ac:spMkLst>
            <pc:docMk/>
            <pc:sldMk cId="0" sldId="257"/>
            <ac:spMk id="6" creationId="{00000000-0000-0000-0000-000000000000}"/>
          </ac:spMkLst>
        </pc:spChg>
        <pc:spChg chg="del">
          <ac:chgData name="Raydo Matthee" userId="259e028f13680ef9" providerId="LiveId" clId="{6AC1AFA1-16AA-487C-B473-8260DD30DC01}" dt="2025-12-18T22:09:47.721" v="3" actId="478"/>
          <ac:spMkLst>
            <pc:docMk/>
            <pc:sldMk cId="0" sldId="257"/>
            <ac:spMk id="7" creationId="{00000000-0000-0000-0000-000000000000}"/>
          </ac:spMkLst>
        </pc:spChg>
        <pc:spChg chg="del mod">
          <ac:chgData name="Raydo Matthee" userId="259e028f13680ef9" providerId="LiveId" clId="{6AC1AFA1-16AA-487C-B473-8260DD30DC01}" dt="2025-12-18T22:10:02.942" v="12" actId="478"/>
          <ac:spMkLst>
            <pc:docMk/>
            <pc:sldMk cId="0" sldId="257"/>
            <ac:spMk id="8" creationId="{00000000-0000-0000-0000-000000000000}"/>
          </ac:spMkLst>
        </pc:spChg>
        <pc:spChg chg="del">
          <ac:chgData name="Raydo Matthee" userId="259e028f13680ef9" providerId="LiveId" clId="{6AC1AFA1-16AA-487C-B473-8260DD30DC01}" dt="2025-12-18T22:09:47.721" v="3" actId="478"/>
          <ac:spMkLst>
            <pc:docMk/>
            <pc:sldMk cId="0" sldId="257"/>
            <ac:spMk id="9" creationId="{00000000-0000-0000-0000-000000000000}"/>
          </ac:spMkLst>
        </pc:spChg>
        <pc:spChg chg="del mod">
          <ac:chgData name="Raydo Matthee" userId="259e028f13680ef9" providerId="LiveId" clId="{6AC1AFA1-16AA-487C-B473-8260DD30DC01}" dt="2025-12-18T22:09:55.994" v="8" actId="478"/>
          <ac:spMkLst>
            <pc:docMk/>
            <pc:sldMk cId="0" sldId="257"/>
            <ac:spMk id="10" creationId="{00000000-0000-0000-0000-000000000000}"/>
          </ac:spMkLst>
        </pc:spChg>
        <pc:spChg chg="mod">
          <ac:chgData name="Raydo Matthee" userId="259e028f13680ef9" providerId="LiveId" clId="{6AC1AFA1-16AA-487C-B473-8260DD30DC01}" dt="2025-12-18T22:11:04.512" v="33" actId="26606"/>
          <ac:spMkLst>
            <pc:docMk/>
            <pc:sldMk cId="0" sldId="257"/>
            <ac:spMk id="11" creationId="{00000000-0000-0000-0000-000000000000}"/>
          </ac:spMkLst>
        </pc:spChg>
        <pc:spChg chg="add">
          <ac:chgData name="Raydo Matthee" userId="259e028f13680ef9" providerId="LiveId" clId="{6AC1AFA1-16AA-487C-B473-8260DD30DC01}" dt="2025-12-18T22:11:04.512" v="33" actId="26606"/>
          <ac:spMkLst>
            <pc:docMk/>
            <pc:sldMk cId="0" sldId="257"/>
            <ac:spMk id="16" creationId="{09588DA8-065E-4F6F-8EFD-43104AB2E0CF}"/>
          </ac:spMkLst>
        </pc:spChg>
        <pc:spChg chg="add">
          <ac:chgData name="Raydo Matthee" userId="259e028f13680ef9" providerId="LiveId" clId="{6AC1AFA1-16AA-487C-B473-8260DD30DC01}" dt="2025-12-18T22:11:04.512" v="33" actId="26606"/>
          <ac:spMkLst>
            <pc:docMk/>
            <pc:sldMk cId="0" sldId="257"/>
            <ac:spMk id="18" creationId="{C4285719-470E-454C-AF62-8323075F1F5B}"/>
          </ac:spMkLst>
        </pc:spChg>
        <pc:spChg chg="add">
          <ac:chgData name="Raydo Matthee" userId="259e028f13680ef9" providerId="LiveId" clId="{6AC1AFA1-16AA-487C-B473-8260DD30DC01}" dt="2025-12-18T22:11:04.512" v="33" actId="26606"/>
          <ac:spMkLst>
            <pc:docMk/>
            <pc:sldMk cId="0" sldId="257"/>
            <ac:spMk id="20" creationId="{CD9FE4EF-C4D8-49A0-B2FF-81D8DB7D8A24}"/>
          </ac:spMkLst>
        </pc:spChg>
        <pc:spChg chg="add">
          <ac:chgData name="Raydo Matthee" userId="259e028f13680ef9" providerId="LiveId" clId="{6AC1AFA1-16AA-487C-B473-8260DD30DC01}" dt="2025-12-18T22:11:04.512" v="33" actId="26606"/>
          <ac:spMkLst>
            <pc:docMk/>
            <pc:sldMk cId="0" sldId="257"/>
            <ac:spMk id="22" creationId="{4300840D-0A0B-4512-BACA-B439D5B9C57C}"/>
          </ac:spMkLst>
        </pc:spChg>
        <pc:spChg chg="add">
          <ac:chgData name="Raydo Matthee" userId="259e028f13680ef9" providerId="LiveId" clId="{6AC1AFA1-16AA-487C-B473-8260DD30DC01}" dt="2025-12-18T22:11:04.512" v="33" actId="26606"/>
          <ac:spMkLst>
            <pc:docMk/>
            <pc:sldMk cId="0" sldId="257"/>
            <ac:spMk id="24" creationId="{D2B78728-A580-49A7-84F9-6EF6F583ADE0}"/>
          </ac:spMkLst>
        </pc:spChg>
        <pc:spChg chg="add">
          <ac:chgData name="Raydo Matthee" userId="259e028f13680ef9" providerId="LiveId" clId="{6AC1AFA1-16AA-487C-B473-8260DD30DC01}" dt="2025-12-18T22:11:04.512" v="33" actId="26606"/>
          <ac:spMkLst>
            <pc:docMk/>
            <pc:sldMk cId="0" sldId="257"/>
            <ac:spMk id="26" creationId="{38FAA1A1-D861-433F-88FA-1E9D6FD31D11}"/>
          </ac:spMkLst>
        </pc:spChg>
        <pc:spChg chg="add">
          <ac:chgData name="Raydo Matthee" userId="259e028f13680ef9" providerId="LiveId" clId="{6AC1AFA1-16AA-487C-B473-8260DD30DC01}" dt="2025-12-18T22:11:04.512" v="33" actId="26606"/>
          <ac:spMkLst>
            <pc:docMk/>
            <pc:sldMk cId="0" sldId="257"/>
            <ac:spMk id="28" creationId="{8D71EDA1-87BF-4D5D-AB79-F346FD19278A}"/>
          </ac:spMkLst>
        </pc:spChg>
      </pc:sldChg>
      <pc:sldChg chg="addSp modSp mod setBg">
        <pc:chgData name="Raydo Matthee" userId="259e028f13680ef9" providerId="LiveId" clId="{6AC1AFA1-16AA-487C-B473-8260DD30DC01}" dt="2025-12-18T21:35:35.908" v="2" actId="26606"/>
        <pc:sldMkLst>
          <pc:docMk/>
          <pc:sldMk cId="0" sldId="258"/>
        </pc:sldMkLst>
        <pc:spChg chg="mod">
          <ac:chgData name="Raydo Matthee" userId="259e028f13680ef9" providerId="LiveId" clId="{6AC1AFA1-16AA-487C-B473-8260DD30DC01}" dt="2025-12-18T21:35:35.908" v="2" actId="26606"/>
          <ac:spMkLst>
            <pc:docMk/>
            <pc:sldMk cId="0" sldId="258"/>
            <ac:spMk id="2" creationId="{00000000-0000-0000-0000-000000000000}"/>
          </ac:spMkLst>
        </pc:spChg>
        <pc:spChg chg="mod">
          <ac:chgData name="Raydo Matthee" userId="259e028f13680ef9" providerId="LiveId" clId="{6AC1AFA1-16AA-487C-B473-8260DD30DC01}" dt="2025-12-18T21:35:35.908" v="2" actId="26606"/>
          <ac:spMkLst>
            <pc:docMk/>
            <pc:sldMk cId="0" sldId="258"/>
            <ac:spMk id="3" creationId="{00000000-0000-0000-0000-000000000000}"/>
          </ac:spMkLst>
        </pc:spChg>
        <pc:spChg chg="add">
          <ac:chgData name="Raydo Matthee" userId="259e028f13680ef9" providerId="LiveId" clId="{6AC1AFA1-16AA-487C-B473-8260DD30DC01}" dt="2025-12-18T21:35:35.908" v="2" actId="26606"/>
          <ac:spMkLst>
            <pc:docMk/>
            <pc:sldMk cId="0" sldId="258"/>
            <ac:spMk id="9" creationId="{A8384FB5-9ADC-4DDC-881B-597D56F5B15D}"/>
          </ac:spMkLst>
        </pc:spChg>
        <pc:spChg chg="add">
          <ac:chgData name="Raydo Matthee" userId="259e028f13680ef9" providerId="LiveId" clId="{6AC1AFA1-16AA-487C-B473-8260DD30DC01}" dt="2025-12-18T21:35:35.908" v="2" actId="26606"/>
          <ac:spMkLst>
            <pc:docMk/>
            <pc:sldMk cId="0" sldId="258"/>
            <ac:spMk id="11" creationId="{1199E1B1-A8C0-4FE8-A5A8-1CB41D69F857}"/>
          </ac:spMkLst>
        </pc:spChg>
        <pc:spChg chg="add">
          <ac:chgData name="Raydo Matthee" userId="259e028f13680ef9" providerId="LiveId" clId="{6AC1AFA1-16AA-487C-B473-8260DD30DC01}" dt="2025-12-18T21:35:35.908" v="2" actId="26606"/>
          <ac:spMkLst>
            <pc:docMk/>
            <pc:sldMk cId="0" sldId="258"/>
            <ac:spMk id="13" creationId="{84A8DE83-DE75-4B41-9DB4-A7EC0B0DEC0B}"/>
          </ac:spMkLst>
        </pc:spChg>
        <pc:spChg chg="add">
          <ac:chgData name="Raydo Matthee" userId="259e028f13680ef9" providerId="LiveId" clId="{6AC1AFA1-16AA-487C-B473-8260DD30DC01}" dt="2025-12-18T21:35:35.908" v="2" actId="26606"/>
          <ac:spMkLst>
            <pc:docMk/>
            <pc:sldMk cId="0" sldId="258"/>
            <ac:spMk id="15" creationId="{A7009A0A-BEF5-4EAC-AF15-E4F9F002E239}"/>
          </ac:spMkLst>
        </pc:spChg>
        <pc:graphicFrameChg chg="add mod ord">
          <ac:chgData name="Raydo Matthee" userId="259e028f13680ef9" providerId="LiveId" clId="{6AC1AFA1-16AA-487C-B473-8260DD30DC01}" dt="2025-12-18T21:35:35.908" v="2" actId="26606"/>
          <ac:graphicFrameMkLst>
            <pc:docMk/>
            <pc:sldMk cId="0" sldId="258"/>
            <ac:graphicFrameMk id="4" creationId="{00000000-0000-0000-0000-000000000000}"/>
          </ac:graphicFrameMkLst>
        </pc:graphicFrameChg>
      </pc:sldChg>
      <pc:sldChg chg="modSp mod modNotesTx">
        <pc:chgData name="Raydo Matthee" userId="259e028f13680ef9" providerId="LiveId" clId="{6AC1AFA1-16AA-487C-B473-8260DD30DC01}" dt="2025-12-18T22:18:27.861" v="83"/>
        <pc:sldMkLst>
          <pc:docMk/>
          <pc:sldMk cId="0" sldId="259"/>
        </pc:sldMkLst>
        <pc:spChg chg="mod">
          <ac:chgData name="Raydo Matthee" userId="259e028f13680ef9" providerId="LiveId" clId="{6AC1AFA1-16AA-487C-B473-8260DD30DC01}" dt="2025-12-18T22:17:21.954" v="82" actId="20577"/>
          <ac:spMkLst>
            <pc:docMk/>
            <pc:sldMk cId="0" sldId="25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360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learn.microsoft.com/en-us/training/modules/examine-exchange-online-protection/#:~:text=,spam%20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learn.microsoft.com/en-us/training/modules/manage-safe-links-microsoft-365/#:~:text=By%20the%20end%20of%20this,you%20should%20be%20able%20to" TargetMode="External"/><Relationship Id="rId4" Type="http://schemas.openxmlformats.org/officeDocument/2006/relationships/hyperlink" Target="https://learn.microsoft.com/en-us/training/modules/manage-safe-attachments-microsoft-365/#:~:text=Learning%20objectives"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microsoft.com/en-us/training/modules/examine-exchange-online-protection/#:~:text=,spam%20protection"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learn.microsoft.com/en-us/training/modules/manage-safe-links-microsoft-365/#:~:text=By%20the%20end%20of%20this,you%20should%20be%20able%20to" TargetMode="External"/><Relationship Id="rId5" Type="http://schemas.openxmlformats.org/officeDocument/2006/relationships/hyperlink" Target="https://learn.microsoft.com/en-us/training/modules/manage-safe-attachments-microsoft-365/#:~:text=Learning%20objectives" TargetMode="External"/><Relationship Id="rId4" Type="http://schemas.openxmlformats.org/officeDocument/2006/relationships/hyperlink" Target="https://learn.microsoft.com/en-us/training/modules/examine-microsoft-defender-office-365/#:~:text=,in%20email%20attachments%20and%20documents"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learn.microsoft.com/en-us/training/modules/examine-exchange-online-protection/#:~:text=,spam%20protection"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learn.microsoft.com/en-us/training/modules/manage-safe-links-microsoft-365/#:~:text=By%20the%20end%20of%20this,you%20should%20be%20able%20to" TargetMode="External"/><Relationship Id="rId5" Type="http://schemas.openxmlformats.org/officeDocument/2006/relationships/hyperlink" Target="https://learn.microsoft.com/en-us/training/modules/manage-safe-attachments-microsoft-365/#:~:text=Learning%20objectives" TargetMode="External"/><Relationship Id="rId4" Type="http://schemas.openxmlformats.org/officeDocument/2006/relationships/hyperlink" Target="https://learn.microsoft.com/en-us/training/modules/examine-microsoft-defender-office-365/#:~:text=,in%20email%20attachments%20and%20document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Notes for “Manage your security services in Microsoft Defender XDR – Learning Path Overview”</a:t>
            </a:r>
          </a:p>
          <a:p>
            <a:r>
              <a:rPr lang="en-US" sz="1200" b="1" i="0" kern="1200" dirty="0">
                <a:solidFill>
                  <a:schemeClr val="tx1"/>
                </a:solidFill>
                <a:effectLst/>
                <a:latin typeface="+mn-lt"/>
                <a:ea typeface="+mn-ea"/>
                <a:cs typeface="+mn-cs"/>
              </a:rPr>
              <a:t>Purpose of This Slide:</a:t>
            </a:r>
            <a:r>
              <a:rPr lang="en-US" sz="1200" b="0" i="0" kern="1200" dirty="0">
                <a:solidFill>
                  <a:schemeClr val="tx1"/>
                </a:solidFill>
                <a:effectLst/>
                <a:latin typeface="+mn-lt"/>
                <a:ea typeface="+mn-ea"/>
                <a:cs typeface="+mn-cs"/>
              </a:rPr>
              <a:t> This slide sets the stage for the learning path, outlining what you’ll gain from the training. The focus is on securing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email and collaboration tools using Microsoft Defender XDR, with an emphasis on practical protection strategies.</a:t>
            </a:r>
          </a:p>
          <a:p>
            <a:r>
              <a:rPr lang="en-US" sz="1200" b="1" i="0" kern="1200" dirty="0">
                <a:solidFill>
                  <a:schemeClr val="tx1"/>
                </a:solidFill>
                <a:effectLst/>
                <a:latin typeface="+mn-lt"/>
                <a:ea typeface="+mn-ea"/>
                <a:cs typeface="+mn-cs"/>
              </a:rPr>
              <a:t>Key Concepts Explained:</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Exchange Online Protection (EOP):</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EOP is Microsoft’s cloud-based email filtering service. It helps protect your organisation from spam, phishing, and malware before these threats reach users’ inboxes.</a:t>
            </a:r>
          </a:p>
          <a:p>
            <a:pPr lvl="1"/>
            <a:r>
              <a:rPr lang="en-US" sz="1200" b="0" i="0" kern="1200" dirty="0">
                <a:solidFill>
                  <a:schemeClr val="tx1"/>
                </a:solidFill>
                <a:effectLst/>
                <a:latin typeface="+mn-lt"/>
                <a:ea typeface="+mn-ea"/>
                <a:cs typeface="+mn-cs"/>
              </a:rPr>
              <a:t>EOP uses multiple layers of filtering, including connection filtering, anti-malware, and anti-spam policies.</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3"/>
              </a:rPr>
              <a:t>https://learn.microsoft.com/en-us/training/modules/examine-exchange-online-protection/#:~:text=,spam%20protection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Safe Attachments: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This feature scans email attachments in a secure environment (sandbox) to detect and block malicious files before they are delivered to users.</a:t>
            </a:r>
          </a:p>
          <a:p>
            <a:pPr lvl="1"/>
            <a:r>
              <a:rPr lang="en-US" sz="1200" b="0" i="0" kern="1200" dirty="0">
                <a:solidFill>
                  <a:schemeClr val="tx1"/>
                </a:solidFill>
                <a:effectLst/>
                <a:latin typeface="+mn-lt"/>
                <a:ea typeface="+mn-ea"/>
                <a:cs typeface="+mn-cs"/>
              </a:rPr>
              <a:t>Safe Attachments policies can be </a:t>
            </a:r>
            <a:r>
              <a:rPr lang="en-US" sz="1200" b="0" i="0" kern="1200" dirty="0" err="1">
                <a:solidFill>
                  <a:schemeClr val="tx1"/>
                </a:solidFill>
                <a:effectLst/>
                <a:latin typeface="+mn-lt"/>
                <a:ea typeface="+mn-ea"/>
                <a:cs typeface="+mn-cs"/>
              </a:rPr>
              <a:t>customised</a:t>
            </a:r>
            <a:r>
              <a:rPr lang="en-US" sz="1200" b="0" i="0" kern="1200" dirty="0">
                <a:solidFill>
                  <a:schemeClr val="tx1"/>
                </a:solidFill>
                <a:effectLst/>
                <a:latin typeface="+mn-lt"/>
                <a:ea typeface="+mn-ea"/>
                <a:cs typeface="+mn-cs"/>
              </a:rPr>
              <a:t> to fit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risk tolerance.</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4"/>
              </a:rPr>
              <a:t>https://learn.microsoft.com/en-us/training/modules/manage-safe-attachments-microsoft-365/#:~:text=Learning%20objectives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Safe Links: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Safe Links protects users by scanning URLs in emails and documents. If a user clicks a suspicious link, Safe Links checks it in real time and blocks access if it’s unsafe.</a:t>
            </a:r>
          </a:p>
          <a:p>
            <a:pPr lvl="1"/>
            <a:r>
              <a:rPr lang="en-US" sz="1200" b="0" i="0" kern="1200" dirty="0">
                <a:solidFill>
                  <a:schemeClr val="tx1"/>
                </a:solidFill>
                <a:effectLst/>
                <a:latin typeface="+mn-lt"/>
                <a:ea typeface="+mn-ea"/>
                <a:cs typeface="+mn-cs"/>
              </a:rPr>
              <a:t>Policies can be set to determine how Safe Links behaves across different workloads (e.g., email, Teams, SharePoint).</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5"/>
              </a:rPr>
              <a:t>https://learn.microsoft.com/en-us/training/modules/manage-safe-links-microsoft-365/#:~:text=By%20the%20end%20of%20this,you%20should%20be%20able%20to</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Learning Outcomes: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Understand how to protect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email from spam, phishing, and malware.</a:t>
            </a:r>
          </a:p>
          <a:p>
            <a:r>
              <a:rPr lang="en-US" sz="1200" b="0" i="0" kern="1200" dirty="0">
                <a:solidFill>
                  <a:schemeClr val="tx1"/>
                </a:solidFill>
                <a:effectLst/>
                <a:latin typeface="+mn-lt"/>
                <a:ea typeface="+mn-ea"/>
                <a:cs typeface="+mn-cs"/>
              </a:rPr>
              <a:t>Gain hands-on knowledge of setting up and managing Safe Attachments and Safe Links.</a:t>
            </a:r>
          </a:p>
          <a:p>
            <a:r>
              <a:rPr lang="en-US" sz="1200" b="0" i="0" kern="1200" dirty="0">
                <a:solidFill>
                  <a:schemeClr val="tx1"/>
                </a:solidFill>
                <a:effectLst/>
                <a:latin typeface="+mn-lt"/>
                <a:ea typeface="+mn-ea"/>
                <a:cs typeface="+mn-cs"/>
              </a:rPr>
              <a:t>Learn how to tailor security policies to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needs.</a:t>
            </a:r>
          </a:p>
          <a:p>
            <a:r>
              <a:rPr lang="en-US" sz="1200" b="0" i="0" kern="1200" dirty="0">
                <a:solidFill>
                  <a:schemeClr val="tx1"/>
                </a:solidFill>
                <a:effectLst/>
                <a:latin typeface="+mn-lt"/>
                <a:ea typeface="+mn-ea"/>
                <a:cs typeface="+mn-cs"/>
              </a:rPr>
              <a:t>Recognise the importance of proactive security measures to stop threats before they reach users.</a:t>
            </a:r>
          </a:p>
          <a:p>
            <a:r>
              <a:rPr lang="en-US" sz="1200" b="1" i="0" kern="1200" dirty="0">
                <a:solidFill>
                  <a:schemeClr val="tx1"/>
                </a:solidFill>
                <a:effectLst/>
                <a:latin typeface="+mn-lt"/>
                <a:ea typeface="+mn-ea"/>
                <a:cs typeface="+mn-cs"/>
              </a:rPr>
              <a:t>Practical Tips: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Regularly review and update your security policies as threats evolve.</a:t>
            </a:r>
          </a:p>
          <a:p>
            <a:r>
              <a:rPr lang="en-US" sz="1200" b="0" i="0" kern="1200" dirty="0">
                <a:solidFill>
                  <a:schemeClr val="tx1"/>
                </a:solidFill>
                <a:effectLst/>
                <a:latin typeface="+mn-lt"/>
                <a:ea typeface="+mn-ea"/>
                <a:cs typeface="+mn-cs"/>
              </a:rPr>
              <a:t>Educate users about </a:t>
            </a:r>
            <a:r>
              <a:rPr lang="en-US" sz="1200" b="0" i="0" kern="1200" dirty="0" err="1">
                <a:solidFill>
                  <a:schemeClr val="tx1"/>
                </a:solidFill>
                <a:effectLst/>
                <a:latin typeface="+mn-lt"/>
                <a:ea typeface="+mn-ea"/>
                <a:cs typeface="+mn-cs"/>
              </a:rPr>
              <a:t>recognising</a:t>
            </a:r>
            <a:r>
              <a:rPr lang="en-US" sz="1200" b="0" i="0" kern="1200" dirty="0">
                <a:solidFill>
                  <a:schemeClr val="tx1"/>
                </a:solidFill>
                <a:effectLst/>
                <a:latin typeface="+mn-lt"/>
                <a:ea typeface="+mn-ea"/>
                <a:cs typeface="+mn-cs"/>
              </a:rPr>
              <a:t> suspicious emails and links, even with technical protections in place.</a:t>
            </a:r>
          </a:p>
          <a:p>
            <a:r>
              <a:rPr lang="en-US" sz="1200" b="0" i="0" kern="1200" dirty="0">
                <a:solidFill>
                  <a:schemeClr val="tx1"/>
                </a:solidFill>
                <a:effectLst/>
                <a:latin typeface="+mn-lt"/>
                <a:ea typeface="+mn-ea"/>
                <a:cs typeface="+mn-cs"/>
              </a:rPr>
              <a:t>Use reporting and analytics in Microsoft Defender XDR to monitor threats and policy effectiveness.</a:t>
            </a:r>
          </a:p>
          <a:p>
            <a:r>
              <a:rPr lang="en-US" sz="1200" b="1" i="0" kern="1200" dirty="0">
                <a:solidFill>
                  <a:schemeClr val="tx1"/>
                </a:solidFill>
                <a:effectLst/>
                <a:latin typeface="+mn-lt"/>
                <a:ea typeface="+mn-ea"/>
                <a:cs typeface="+mn-cs"/>
              </a:rPr>
              <a:t>Next Steps: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After this overview, you’ll move on to implementing threat protection across apps, endpoints, and email using Microsoft Defender XDR.</a:t>
            </a:r>
          </a:p>
          <a:p>
            <a:r>
              <a:rPr lang="en-US" sz="1200" b="1" i="0" kern="1200" dirty="0">
                <a:solidFill>
                  <a:schemeClr val="tx1"/>
                </a:solidFill>
                <a:effectLst/>
                <a:latin typeface="+mn-lt"/>
                <a:ea typeface="+mn-ea"/>
                <a:cs typeface="+mn-cs"/>
              </a:rPr>
              <a:t>References for Further Study:</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3"/>
              </a:rPr>
              <a:t>https://learn.microsoft.com/en-us/training/modules/examine-exchange-online-protection/#:~:text=,spam%20protection</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4"/>
              </a:rPr>
              <a:t>https://learn.microsoft.com/en-us/training/modules/manage-safe-attachments-microsoft-365/#:~:text=Learning%20objectives</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5"/>
              </a:rPr>
              <a:t>https://learn.microsoft.com/en-us/training/modules/manage-safe-links-microsoft-365/#:~:text=By%20the%20end%20of%20this,you%20should%20be%20able%20to</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Notes for “Learning Objectives”</a:t>
            </a:r>
          </a:p>
          <a:p>
            <a:r>
              <a:rPr lang="en-US" sz="1200" b="1" i="0" kern="1200" dirty="0">
                <a:solidFill>
                  <a:schemeClr val="tx1"/>
                </a:solidFill>
                <a:effectLst/>
                <a:latin typeface="+mn-lt"/>
                <a:ea typeface="+mn-ea"/>
                <a:cs typeface="+mn-cs"/>
              </a:rPr>
              <a:t>Purpose of This Slide: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slide outlines the core learning objectives for the training module. It helps participants understand what they will be able to do by the end of the course and sets clear expectations for the skills and knowledge they will acquire.</a:t>
            </a:r>
          </a:p>
          <a:p>
            <a:r>
              <a:rPr lang="en-US" sz="1200" b="1" i="0" kern="1200" dirty="0">
                <a:solidFill>
                  <a:schemeClr val="tx1"/>
                </a:solidFill>
                <a:effectLst/>
                <a:latin typeface="+mn-lt"/>
                <a:ea typeface="+mn-ea"/>
                <a:cs typeface="+mn-cs"/>
              </a:rPr>
              <a:t>Key Learning Objectives Explained:</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Exchange Online Protection (EOP):</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Learn how EOP filters out spam and malware from incoming and outgoing emails, protecting users and the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reputation.</a:t>
            </a:r>
          </a:p>
          <a:p>
            <a:pPr lvl="1"/>
            <a:r>
              <a:rPr lang="en-US" sz="1200" b="0" i="0" kern="1200" dirty="0">
                <a:solidFill>
                  <a:schemeClr val="tx1"/>
                </a:solidFill>
                <a:effectLst/>
                <a:latin typeface="+mn-lt"/>
                <a:ea typeface="+mn-ea"/>
                <a:cs typeface="+mn-cs"/>
              </a:rPr>
              <a:t>Understand how outbound email protection works to prevent compromised accounts from sending malicious messages.</a:t>
            </a:r>
          </a:p>
          <a:p>
            <a:pPr lvl="1"/>
            <a:r>
              <a:rPr lang="en-US" sz="1200" b="0" i="0" kern="1200" dirty="0">
                <a:solidFill>
                  <a:schemeClr val="tx1"/>
                </a:solidFill>
                <a:effectLst/>
                <a:latin typeface="+mn-lt"/>
                <a:ea typeface="+mn-ea"/>
                <a:cs typeface="+mn-cs"/>
              </a:rPr>
              <a:t>Resource: </a:t>
            </a:r>
            <a:r>
              <a:rPr lang="en-US" sz="1200" b="0" i="0" u="none" strike="noStrike" kern="1200" dirty="0">
                <a:solidFill>
                  <a:schemeClr val="tx1"/>
                </a:solidFill>
                <a:effectLst/>
                <a:latin typeface="+mn-lt"/>
                <a:ea typeface="+mn-ea"/>
                <a:cs typeface="+mn-cs"/>
                <a:hlinkClick r:id="rId3"/>
              </a:rPr>
              <a:t>https://learn.microsoft.com/en-us/training/modules/examine-exchange-online-protection/#:~:text=,spam%20protection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Safe Attachments and Safe Links in Defender for Office 365:</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Discover how Safe Attachments scans email attachments in a secure environment (sandbox) to block harmful files before they reach users.</a:t>
            </a:r>
          </a:p>
          <a:p>
            <a:pPr lvl="1"/>
            <a:r>
              <a:rPr lang="en-US" sz="1200" b="0" i="0" kern="1200" dirty="0">
                <a:solidFill>
                  <a:schemeClr val="tx1"/>
                </a:solidFill>
                <a:effectLst/>
                <a:latin typeface="+mn-lt"/>
                <a:ea typeface="+mn-ea"/>
                <a:cs typeface="+mn-cs"/>
              </a:rPr>
              <a:t>Explore how Safe Links checks URLs in real time, preventing users from accessing dangerous websites in emails, Teams, and SharePoint.</a:t>
            </a:r>
          </a:p>
          <a:p>
            <a:pPr lvl="1"/>
            <a:r>
              <a:rPr lang="en-US" sz="1200" b="0" i="0" kern="1200" dirty="0">
                <a:solidFill>
                  <a:schemeClr val="tx1"/>
                </a:solidFill>
                <a:effectLst/>
                <a:latin typeface="+mn-lt"/>
                <a:ea typeface="+mn-ea"/>
                <a:cs typeface="+mn-cs"/>
              </a:rPr>
              <a:t>Resource: </a:t>
            </a:r>
            <a:r>
              <a:rPr lang="en-US" sz="1200" b="0" i="0" u="none" strike="noStrike" kern="1200" dirty="0">
                <a:solidFill>
                  <a:schemeClr val="tx1"/>
                </a:solidFill>
                <a:effectLst/>
                <a:latin typeface="+mn-lt"/>
                <a:ea typeface="+mn-ea"/>
                <a:cs typeface="+mn-cs"/>
                <a:hlinkClick r:id="rId4"/>
              </a:rPr>
              <a:t>https://learn.microsoft.com/en-us/training/modules/examine-microsoft-defender-office-365/#:~:text=,in%20email%20attachments%20and%20documents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Creating and Modifying Safe Attachments Policies: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Gain practical experience in setting up and </a:t>
            </a:r>
            <a:r>
              <a:rPr lang="en-US" sz="1200" b="0" i="0" kern="1200" dirty="0" err="1">
                <a:solidFill>
                  <a:schemeClr val="tx1"/>
                </a:solidFill>
                <a:effectLst/>
                <a:latin typeface="+mn-lt"/>
                <a:ea typeface="+mn-ea"/>
                <a:cs typeface="+mn-cs"/>
              </a:rPr>
              <a:t>customising</a:t>
            </a:r>
            <a:r>
              <a:rPr lang="en-US" sz="1200" b="0" i="0" kern="1200" dirty="0">
                <a:solidFill>
                  <a:schemeClr val="tx1"/>
                </a:solidFill>
                <a:effectLst/>
                <a:latin typeface="+mn-lt"/>
                <a:ea typeface="+mn-ea"/>
                <a:cs typeface="+mn-cs"/>
              </a:rPr>
              <a:t> Safe Attachments policies to match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risk tolerance.</a:t>
            </a:r>
          </a:p>
          <a:p>
            <a:pPr lvl="1"/>
            <a:r>
              <a:rPr lang="en-US" sz="1200" b="0" i="0" kern="1200" dirty="0">
                <a:solidFill>
                  <a:schemeClr val="tx1"/>
                </a:solidFill>
                <a:effectLst/>
                <a:latin typeface="+mn-lt"/>
                <a:ea typeface="+mn-ea"/>
                <a:cs typeface="+mn-cs"/>
              </a:rPr>
              <a:t>Understand the end-user experience—what happens when a malicious attachment is detected and how users are notified.</a:t>
            </a:r>
          </a:p>
          <a:p>
            <a:pPr lvl="1"/>
            <a:r>
              <a:rPr lang="en-US" sz="1200" b="0" i="0" kern="1200" dirty="0">
                <a:solidFill>
                  <a:schemeClr val="tx1"/>
                </a:solidFill>
                <a:effectLst/>
                <a:latin typeface="+mn-lt"/>
                <a:ea typeface="+mn-ea"/>
                <a:cs typeface="+mn-cs"/>
              </a:rPr>
              <a:t>Resource: </a:t>
            </a:r>
            <a:r>
              <a:rPr lang="en-US" sz="1200" b="0" i="0" u="none" strike="noStrike" kern="1200" dirty="0">
                <a:solidFill>
                  <a:schemeClr val="tx1"/>
                </a:solidFill>
                <a:effectLst/>
                <a:latin typeface="+mn-lt"/>
                <a:ea typeface="+mn-ea"/>
                <a:cs typeface="+mn-cs"/>
                <a:hlinkClick r:id="rId5"/>
              </a:rPr>
              <a:t>https://learn.microsoft.com/en-us/training/modules/manage-safe-attachments-microsoft-365/#:~:text=Learning%20objectives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Configuring Safe Links Policies: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Learn how to create and adjust Safe Links policies to protect users from malicious URLs across different workloads.</a:t>
            </a:r>
          </a:p>
          <a:p>
            <a:pPr lvl="1"/>
            <a:r>
              <a:rPr lang="en-US" sz="1200" b="0" i="0" kern="1200" dirty="0">
                <a:solidFill>
                  <a:schemeClr val="tx1"/>
                </a:solidFill>
                <a:effectLst/>
                <a:latin typeface="+mn-lt"/>
                <a:ea typeface="+mn-ea"/>
                <a:cs typeface="+mn-cs"/>
              </a:rPr>
              <a:t>See how policy changes impact user experience and security posture.</a:t>
            </a:r>
          </a:p>
          <a:p>
            <a:pPr lvl="1"/>
            <a:r>
              <a:rPr lang="en-US" sz="1200" b="0" i="0" kern="1200" dirty="0">
                <a:solidFill>
                  <a:schemeClr val="tx1"/>
                </a:solidFill>
                <a:effectLst/>
                <a:latin typeface="+mn-lt"/>
                <a:ea typeface="+mn-ea"/>
                <a:cs typeface="+mn-cs"/>
              </a:rPr>
              <a:t>Resource: </a:t>
            </a:r>
            <a:r>
              <a:rPr lang="en-US" sz="1200" b="0" i="0" u="none" strike="noStrike" kern="1200" dirty="0">
                <a:solidFill>
                  <a:schemeClr val="tx1"/>
                </a:solidFill>
                <a:effectLst/>
                <a:latin typeface="+mn-lt"/>
                <a:ea typeface="+mn-ea"/>
                <a:cs typeface="+mn-cs"/>
                <a:hlinkClick r:id="rId6"/>
              </a:rPr>
              <a:t>https://learn.microsoft.com/en-us/training/modules/manage-safe-links-microsoft-365/#:~:text=By%20the%20end%20of%20this,you%20should%20be%20able%20to</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Practical Tips:</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Regularly review and update your Safe Attachments and Safe Links policies as threats evolve.</a:t>
            </a:r>
          </a:p>
          <a:p>
            <a:r>
              <a:rPr lang="en-US" sz="1200" b="0" i="0" kern="1200" dirty="0">
                <a:solidFill>
                  <a:schemeClr val="tx1"/>
                </a:solidFill>
                <a:effectLst/>
                <a:latin typeface="+mn-lt"/>
                <a:ea typeface="+mn-ea"/>
                <a:cs typeface="+mn-cs"/>
              </a:rPr>
              <a:t>Use Microsoft Defender XDR’s reporting tools to monitor policy effectiveness and user impact.</a:t>
            </a:r>
          </a:p>
          <a:p>
            <a:r>
              <a:rPr lang="en-US" sz="1200" b="0" i="0" kern="1200" dirty="0">
                <a:solidFill>
                  <a:schemeClr val="tx1"/>
                </a:solidFill>
                <a:effectLst/>
                <a:latin typeface="+mn-lt"/>
                <a:ea typeface="+mn-ea"/>
                <a:cs typeface="+mn-cs"/>
              </a:rPr>
              <a:t>Educate users about </a:t>
            </a:r>
            <a:r>
              <a:rPr lang="en-US" sz="1200" b="0" i="0" kern="1200" dirty="0" err="1">
                <a:solidFill>
                  <a:schemeClr val="tx1"/>
                </a:solidFill>
                <a:effectLst/>
                <a:latin typeface="+mn-lt"/>
                <a:ea typeface="+mn-ea"/>
                <a:cs typeface="+mn-cs"/>
              </a:rPr>
              <a:t>recognising</a:t>
            </a:r>
            <a:r>
              <a:rPr lang="en-US" sz="1200" b="0" i="0" kern="1200" dirty="0">
                <a:solidFill>
                  <a:schemeClr val="tx1"/>
                </a:solidFill>
                <a:effectLst/>
                <a:latin typeface="+mn-lt"/>
                <a:ea typeface="+mn-ea"/>
                <a:cs typeface="+mn-cs"/>
              </a:rPr>
              <a:t> suspicious emails and links, even with technical protections in place.</a:t>
            </a:r>
          </a:p>
          <a:p>
            <a:r>
              <a:rPr lang="en-US" sz="1200" b="1" i="0" kern="1200" dirty="0">
                <a:solidFill>
                  <a:schemeClr val="tx1"/>
                </a:solidFill>
                <a:effectLst/>
                <a:latin typeface="+mn-lt"/>
                <a:ea typeface="+mn-ea"/>
                <a:cs typeface="+mn-cs"/>
              </a:rPr>
              <a:t>References for Further Study:</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3"/>
              </a:rPr>
              <a:t>https://learn.microsoft.com/en-us/training/modules/examine-exchange-online-protection/#:~:text=,spam%20protection</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4"/>
              </a:rPr>
              <a:t>https://learn.microsoft.com/en-us/training/modules/examine-microsoft-defender-office-365/#:~:text=,in%20email%20attachments%20and%20documents</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5"/>
              </a:rPr>
              <a:t>https://learn.microsoft.com/en-us/training/modules/manage-safe-attachments-microsoft-365/#:~:text=Learning%20objectives</a:t>
            </a:r>
            <a:endParaRPr lang="en-US" sz="1200" b="0" i="0" kern="1200" dirty="0">
              <a:solidFill>
                <a:schemeClr val="tx1"/>
              </a:solidFill>
              <a:effectLst/>
              <a:latin typeface="+mn-lt"/>
              <a:ea typeface="+mn-ea"/>
              <a:cs typeface="+mn-cs"/>
            </a:endParaRPr>
          </a:p>
          <a:p>
            <a:r>
              <a:rPr lang="en-US" sz="1200" b="0" i="0" u="none" strike="noStrike" kern="1200">
                <a:solidFill>
                  <a:schemeClr val="tx1"/>
                </a:solidFill>
                <a:effectLst/>
                <a:latin typeface="+mn-lt"/>
                <a:ea typeface="+mn-ea"/>
                <a:cs typeface="+mn-cs"/>
                <a:hlinkClick r:id="rId6"/>
              </a:rPr>
              <a:t>https://learn.microsoft.com/en-us/training/modules/manage-safe-links-microsoft-365/#:~:text=By%20the%20end%20of%20this,you%20should%20be%20able%20to</a:t>
            </a:r>
            <a:endParaRPr lang="en-US" sz="1200" b="0" i="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Notes for “Modules Overview”</a:t>
            </a:r>
          </a:p>
          <a:p>
            <a:r>
              <a:rPr lang="en-US" sz="1200" b="1" i="0" kern="1200" dirty="0">
                <a:solidFill>
                  <a:schemeClr val="tx1"/>
                </a:solidFill>
                <a:effectLst/>
                <a:latin typeface="+mn-lt"/>
                <a:ea typeface="+mn-ea"/>
                <a:cs typeface="+mn-cs"/>
              </a:rPr>
              <a:t>Purpose of This Slide: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slide provides a structured overview of the key modules covered in the learning path. It helps learners understand the main topics and how each module contributes to building a comprehensive security strategy using Microsoft Defender XDR.</a:t>
            </a:r>
          </a:p>
          <a:p>
            <a:r>
              <a:rPr lang="en-US" sz="1200" b="1" i="0" kern="1200" dirty="0">
                <a:solidFill>
                  <a:schemeClr val="tx1"/>
                </a:solidFill>
                <a:effectLst/>
                <a:latin typeface="+mn-lt"/>
                <a:ea typeface="+mn-ea"/>
                <a:cs typeface="+mn-cs"/>
              </a:rPr>
              <a:t>Module Breakdown and Key Topics: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Exchange Online Protection (EOP):</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Focuses on anti-spam and anti-malware filtering to protect inbound and outbound email.</a:t>
            </a:r>
          </a:p>
          <a:p>
            <a:pPr lvl="1"/>
            <a:r>
              <a:rPr lang="en-US" sz="1200" b="0" i="0" kern="1200" dirty="0">
                <a:solidFill>
                  <a:schemeClr val="tx1"/>
                </a:solidFill>
                <a:effectLst/>
                <a:latin typeface="+mn-lt"/>
                <a:ea typeface="+mn-ea"/>
                <a:cs typeface="+mn-cs"/>
              </a:rPr>
              <a:t>Outbound spam control ensures your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email reputation is maintained and prevents compromised accounts from sending malicious emails.</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3"/>
              </a:rPr>
              <a:t>https://learn.microsoft.com/en-us/training/modules/examine-exchange-online-protection/#:~:text=,spam%20protection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Defender for Office 365 – Overview:</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Introduces advanced security features like Safe Attachments and Safe Links.</a:t>
            </a:r>
          </a:p>
          <a:p>
            <a:pPr lvl="1"/>
            <a:r>
              <a:rPr lang="en-US" sz="1200" b="0" i="0" kern="1200" dirty="0">
                <a:solidFill>
                  <a:schemeClr val="tx1"/>
                </a:solidFill>
                <a:effectLst/>
                <a:latin typeface="+mn-lt"/>
                <a:ea typeface="+mn-ea"/>
                <a:cs typeface="+mn-cs"/>
              </a:rPr>
              <a:t>Covers spam filtering policies and how to submit suspicious content to Microsoft for further analysis.</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4"/>
              </a:rPr>
              <a:t>https://learn.microsoft.com/en-us/training/modules/examine-microsoft-defender-office-365/#:~:text=,in%20email%20attachments%20and%20documents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Manage Safe Attachments: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Explains how to create and configure Safe Attachments policies.</a:t>
            </a:r>
          </a:p>
          <a:p>
            <a:pPr lvl="1"/>
            <a:r>
              <a:rPr lang="en-US" sz="1200" b="0" i="0" kern="1200" dirty="0">
                <a:solidFill>
                  <a:schemeClr val="tx1"/>
                </a:solidFill>
                <a:effectLst/>
                <a:latin typeface="+mn-lt"/>
                <a:ea typeface="+mn-ea"/>
                <a:cs typeface="+mn-cs"/>
              </a:rPr>
              <a:t>Discusses user experience and how transport rules can be used to apply policies to specific scenarios.</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5"/>
              </a:rPr>
              <a:t>https://learn.microsoft.com/en-us/training/modules/manage-safe-attachments-microsoft-365/#:~:text=Learning%20objectives</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Manage Safe Links:</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Details the process of creating and configuring Safe Links policies.</a:t>
            </a:r>
          </a:p>
          <a:p>
            <a:pPr lvl="1"/>
            <a:r>
              <a:rPr lang="en-US" sz="1200" b="0" i="0" kern="1200" dirty="0">
                <a:solidFill>
                  <a:schemeClr val="tx1"/>
                </a:solidFill>
                <a:effectLst/>
                <a:latin typeface="+mn-lt"/>
                <a:ea typeface="+mn-ea"/>
                <a:cs typeface="+mn-cs"/>
              </a:rPr>
              <a:t>Covers user experience and the use of transport rules to protect users from malicious URLs across different workloads (email, Teams, SharePoint).</a:t>
            </a:r>
          </a:p>
          <a:p>
            <a:pPr lvl="1"/>
            <a:r>
              <a:rPr lang="en-US" sz="1200" b="0" i="0" kern="1200" dirty="0">
                <a:solidFill>
                  <a:schemeClr val="tx1"/>
                </a:solidFill>
                <a:effectLst/>
                <a:latin typeface="+mn-lt"/>
                <a:ea typeface="+mn-ea"/>
                <a:cs typeface="+mn-cs"/>
              </a:rPr>
              <a:t>Learn more: </a:t>
            </a:r>
            <a:r>
              <a:rPr lang="en-US" sz="1200" b="0" i="0" u="none" strike="noStrike" kern="1200" dirty="0">
                <a:solidFill>
                  <a:schemeClr val="tx1"/>
                </a:solidFill>
                <a:effectLst/>
                <a:latin typeface="+mn-lt"/>
                <a:ea typeface="+mn-ea"/>
                <a:cs typeface="+mn-cs"/>
                <a:hlinkClick r:id="rId6"/>
              </a:rPr>
              <a:t>https://learn.microsoft.com/en-us/training/modules/manage-safe-links-microsoft-365/#:~:text=By%20the%20end%20of%20this,you%20should%20be%20able%20to</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How to Use This Slide: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Use this overview to set expectations for the learning path and to help learners track their progress.</a:t>
            </a:r>
          </a:p>
          <a:p>
            <a:r>
              <a:rPr lang="en-US" sz="1200" b="0" i="0" kern="1200" dirty="0">
                <a:solidFill>
                  <a:schemeClr val="tx1"/>
                </a:solidFill>
                <a:effectLst/>
                <a:latin typeface="+mn-lt"/>
                <a:ea typeface="+mn-ea"/>
                <a:cs typeface="+mn-cs"/>
              </a:rPr>
              <a:t>Refer back to this slide as you move through each module to reinforce how each topic fits into the overall security strategy.</a:t>
            </a:r>
          </a:p>
          <a:p>
            <a:r>
              <a:rPr lang="en-US" sz="1200" b="1" i="0" kern="1200" dirty="0">
                <a:solidFill>
                  <a:schemeClr val="tx1"/>
                </a:solidFill>
                <a:effectLst/>
                <a:latin typeface="+mn-lt"/>
                <a:ea typeface="+mn-ea"/>
                <a:cs typeface="+mn-cs"/>
              </a:rPr>
              <a:t>Additional Resources:</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3"/>
              </a:rPr>
              <a:t>https://learn.microsoft.com/en-us/training/modules/examine-exchange-online-protection/#:~:text=,spam%20protection</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4"/>
              </a:rPr>
              <a:t>https://learn.microsoft.com/en-us/training/modules/examine-microsoft-defender-office-365/#:~:text=,in%20email%20attachments%20and%20documents</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5"/>
              </a:rPr>
              <a:t>https://learn.microsoft.com/en-us/training/modules/manage-safe-attachments-microsoft-365/#:~:text=Learning%20objectives</a:t>
            </a:r>
            <a:endParaRPr lang="en-US" sz="1200" b="0" i="0"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hlinkClick r:id="rId6"/>
              </a:rPr>
              <a:t>https://learn.microsoft.com/en-us/training/modules/manage-safe-links-microsoft-365/#:~:text=By%20the%20end%20of%20this,you%20should%20be%20able%20to</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pPr>
              <a:lnSpc>
                <a:spcPts val="1500"/>
              </a:lnSpc>
              <a:buNone/>
            </a:pPr>
            <a:r>
              <a:rPr lang="en-US" b="1" i="0" dirty="0">
                <a:effectLst/>
                <a:latin typeface="Segoe UI" panose="020B0502040204020203" pitchFamily="34" charset="0"/>
              </a:rPr>
              <a:t>Notes for “Summary &amp; Next Steps”</a:t>
            </a:r>
          </a:p>
          <a:p>
            <a:pPr>
              <a:lnSpc>
                <a:spcPts val="1500"/>
              </a:lnSpc>
              <a:buNone/>
            </a:pPr>
            <a:r>
              <a:rPr lang="en-US" b="1" i="0" dirty="0">
                <a:effectLst/>
                <a:latin typeface="Segoe UI" panose="020B0502040204020203" pitchFamily="34" charset="0"/>
              </a:rPr>
              <a:t>Purpose of This Slide:</a:t>
            </a:r>
            <a:br>
              <a:rPr lang="en-US" b="0" i="0" dirty="0">
                <a:effectLst/>
                <a:latin typeface="Segoe UI" panose="020B0502040204020203" pitchFamily="34" charset="0"/>
              </a:rPr>
            </a:br>
            <a:r>
              <a:rPr lang="en-US" b="0" i="0" dirty="0">
                <a:effectLst/>
                <a:latin typeface="Segoe UI" panose="020B0502040204020203" pitchFamily="34" charset="0"/>
              </a:rPr>
              <a:t>This slide wraps up the initial learning path, </a:t>
            </a:r>
            <a:r>
              <a:rPr lang="en-US" b="0" i="0" dirty="0" err="1">
                <a:effectLst/>
                <a:latin typeface="Segoe UI" panose="020B0502040204020203" pitchFamily="34" charset="0"/>
              </a:rPr>
              <a:t>summarising</a:t>
            </a:r>
            <a:r>
              <a:rPr lang="en-US" b="0" i="0" dirty="0">
                <a:effectLst/>
                <a:latin typeface="Segoe UI" panose="020B0502040204020203" pitchFamily="34" charset="0"/>
              </a:rPr>
              <a:t> the key security concepts and outlining what to do next. It’s designed to reinforce the importance of proactive email protection and guide you towards implementing broader threat protection.</a:t>
            </a:r>
          </a:p>
          <a:p>
            <a:pPr>
              <a:lnSpc>
                <a:spcPts val="1500"/>
              </a:lnSpc>
              <a:buNone/>
            </a:pPr>
            <a:r>
              <a:rPr lang="en-US" b="1" i="0" dirty="0">
                <a:effectLst/>
                <a:latin typeface="Segoe UI" panose="020B0502040204020203" pitchFamily="34" charset="0"/>
              </a:rPr>
              <a:t>Key Points </a:t>
            </a:r>
            <a:r>
              <a:rPr lang="en-US" b="1" i="0" dirty="0" err="1">
                <a:effectLst/>
                <a:latin typeface="Segoe UI" panose="020B0502040204020203" pitchFamily="34" charset="0"/>
              </a:rPr>
              <a:t>Summarised</a:t>
            </a:r>
            <a:r>
              <a:rPr lang="en-US" b="1" i="0" dirty="0">
                <a:effectLst/>
                <a:latin typeface="Segoe UI" panose="020B0502040204020203" pitchFamily="34" charset="0"/>
              </a:rPr>
              <a:t>:</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1" i="0" dirty="0">
                <a:effectLst/>
                <a:latin typeface="Segoe UI" panose="020B0502040204020203" pitchFamily="34" charset="0"/>
              </a:rPr>
              <a:t>Exchange Online Protection (EOP):</a:t>
            </a:r>
            <a:br>
              <a:rPr lang="en-US" b="0" i="0" dirty="0">
                <a:effectLst/>
                <a:latin typeface="Segoe UI" panose="020B0502040204020203" pitchFamily="34" charset="0"/>
              </a:rPr>
            </a:br>
            <a:r>
              <a:rPr lang="en-US" b="0" i="0" dirty="0">
                <a:effectLst/>
                <a:latin typeface="Segoe UI" panose="020B0502040204020203" pitchFamily="34" charset="0"/>
              </a:rPr>
              <a:t>Acts as the first line of </a:t>
            </a:r>
            <a:r>
              <a:rPr lang="en-US" b="0" i="0" dirty="0" err="1">
                <a:effectLst/>
                <a:latin typeface="Segoe UI" panose="020B0502040204020203" pitchFamily="34" charset="0"/>
              </a:rPr>
              <a:t>defence</a:t>
            </a:r>
            <a:r>
              <a:rPr lang="en-US" b="0" i="0" dirty="0">
                <a:effectLst/>
                <a:latin typeface="Segoe UI" panose="020B0502040204020203" pitchFamily="34" charset="0"/>
              </a:rPr>
              <a:t> for your </a:t>
            </a:r>
            <a:r>
              <a:rPr lang="en-US" b="0" i="0" dirty="0" err="1">
                <a:effectLst/>
                <a:latin typeface="Segoe UI" panose="020B0502040204020203" pitchFamily="34" charset="0"/>
              </a:rPr>
              <a:t>organisation’s</a:t>
            </a:r>
            <a:r>
              <a:rPr lang="en-US" b="0" i="0" dirty="0">
                <a:effectLst/>
                <a:latin typeface="Segoe UI" panose="020B0502040204020203" pitchFamily="34" charset="0"/>
              </a:rPr>
              <a:t> email. It filters out spam, malware, and phishing attempts before they reach users. EOP’s multi-layered approach helps ensure only safe messages are delivered.</a:t>
            </a:r>
            <a:br>
              <a:rPr lang="en-US" b="0" i="0" dirty="0">
                <a:effectLst/>
                <a:latin typeface="Segoe UI" panose="020B0502040204020203" pitchFamily="34" charset="0"/>
              </a:rPr>
            </a:br>
            <a:r>
              <a:rPr lang="en-US" b="0" i="0" u="none" strike="noStrike" dirty="0">
                <a:solidFill>
                  <a:srgbClr val="464FEB"/>
                </a:solidFill>
                <a:effectLst/>
                <a:latin typeface="Segoe UI" panose="020B0502040204020203" pitchFamily="34" charset="0"/>
              </a:rPr>
              <a:t>https://learn.microsoft.com/en-us/training/modules/examine-exchange-online-protection/#:~:text=,spam%20protection</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1" i="0" dirty="0">
                <a:effectLst/>
                <a:latin typeface="Segoe UI" panose="020B0502040204020203" pitchFamily="34" charset="0"/>
              </a:rPr>
              <a:t>Safe Attachments &amp; Safe Links:</a:t>
            </a:r>
            <a:br>
              <a:rPr lang="en-US" b="0" i="0" dirty="0">
                <a:effectLst/>
                <a:latin typeface="Segoe UI" panose="020B0502040204020203" pitchFamily="34" charset="0"/>
              </a:rPr>
            </a:br>
            <a:r>
              <a:rPr lang="en-US" b="0" i="0" dirty="0">
                <a:effectLst/>
                <a:latin typeface="Segoe UI" panose="020B0502040204020203" pitchFamily="34" charset="0"/>
              </a:rPr>
              <a:t>These features provide advanced, proactive protection against zero-day threats.</a:t>
            </a:r>
          </a:p>
          <a:p>
            <a:pPr marL="742950" lvl="1" indent="-285750">
              <a:lnSpc>
                <a:spcPts val="1500"/>
              </a:lnSpc>
              <a:buFont typeface="Arial" panose="020B0604020202020204" pitchFamily="34" charset="0"/>
              <a:buChar char="•"/>
            </a:pPr>
            <a:r>
              <a:rPr lang="en-US" b="1" i="0" dirty="0">
                <a:effectLst/>
                <a:latin typeface="Segoe UI" panose="020B0502040204020203" pitchFamily="34" charset="0"/>
              </a:rPr>
              <a:t>Safe Attachments</a:t>
            </a:r>
            <a:r>
              <a:rPr lang="en-US" b="0" i="0" dirty="0">
                <a:effectLst/>
                <a:latin typeface="Segoe UI" panose="020B0502040204020203" pitchFamily="34" charset="0"/>
              </a:rPr>
              <a:t> scans files in emails before users can open them, blocking anything suspicious.</a:t>
            </a:r>
            <a:br>
              <a:rPr lang="en-US" b="0" i="0" dirty="0">
                <a:effectLst/>
                <a:latin typeface="Segoe UI" panose="020B0502040204020203" pitchFamily="34" charset="0"/>
              </a:rPr>
            </a:br>
            <a:r>
              <a:rPr lang="en-US" b="0" i="0" u="none" strike="noStrike" dirty="0">
                <a:solidFill>
                  <a:srgbClr val="464FEB"/>
                </a:solidFill>
                <a:effectLst/>
                <a:latin typeface="Segoe UI" panose="020B0502040204020203" pitchFamily="34" charset="0"/>
              </a:rPr>
              <a:t>https://learn.microsoft.com/en-us/training/modules/manage-safe-attachments-microsoft-365/#:~:text=Learning%20objectives</a:t>
            </a:r>
            <a:endParaRPr lang="en-US" b="0" i="0" dirty="0">
              <a:effectLst/>
              <a:latin typeface="Segoe UI" panose="020B0502040204020203" pitchFamily="34" charset="0"/>
            </a:endParaRPr>
          </a:p>
          <a:p>
            <a:pPr marL="742950" lvl="1" indent="-285750">
              <a:lnSpc>
                <a:spcPts val="1500"/>
              </a:lnSpc>
              <a:buFont typeface="Arial" panose="020B0604020202020204" pitchFamily="34" charset="0"/>
              <a:buChar char="•"/>
            </a:pPr>
            <a:r>
              <a:rPr lang="en-US" b="1" i="0" dirty="0">
                <a:effectLst/>
                <a:latin typeface="Segoe UI" panose="020B0502040204020203" pitchFamily="34" charset="0"/>
              </a:rPr>
              <a:t>Safe Links</a:t>
            </a:r>
            <a:r>
              <a:rPr lang="en-US" b="0" i="0" dirty="0">
                <a:effectLst/>
                <a:latin typeface="Segoe UI" panose="020B0502040204020203" pitchFamily="34" charset="0"/>
              </a:rPr>
              <a:t> checks URLs in real time, preventing users from accessing dangerous websites.</a:t>
            </a:r>
            <a:br>
              <a:rPr lang="en-US" b="0" i="0" dirty="0">
                <a:effectLst/>
                <a:latin typeface="Segoe UI" panose="020B0502040204020203" pitchFamily="34" charset="0"/>
              </a:rPr>
            </a:br>
            <a:r>
              <a:rPr lang="en-US" b="0" i="0" u="none" strike="noStrike" dirty="0">
                <a:solidFill>
                  <a:srgbClr val="464FEB"/>
                </a:solidFill>
                <a:effectLst/>
                <a:latin typeface="Segoe UI" panose="020B0502040204020203" pitchFamily="34" charset="0"/>
              </a:rPr>
              <a:t>https://learn.microsoft.com/en-us/training/modules/manage-safe-links-microsoft-365/#:~:text=By%20the%20end%20of%20this,you%20should%20be%20able%20to</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1" i="0" dirty="0" err="1">
                <a:effectLst/>
                <a:latin typeface="Segoe UI" panose="020B0502040204020203" pitchFamily="34" charset="0"/>
              </a:rPr>
              <a:t>Customisation</a:t>
            </a:r>
            <a:r>
              <a:rPr lang="en-US" b="1" i="0" dirty="0">
                <a:effectLst/>
                <a:latin typeface="Segoe UI" panose="020B0502040204020203" pitchFamily="34" charset="0"/>
              </a:rPr>
              <a:t>:</a:t>
            </a:r>
            <a:br>
              <a:rPr lang="en-US" b="0" i="0" dirty="0">
                <a:effectLst/>
                <a:latin typeface="Segoe UI" panose="020B0502040204020203" pitchFamily="34" charset="0"/>
              </a:rPr>
            </a:br>
            <a:r>
              <a:rPr lang="en-US" b="0" i="0" dirty="0">
                <a:effectLst/>
                <a:latin typeface="Segoe UI" panose="020B0502040204020203" pitchFamily="34" charset="0"/>
              </a:rPr>
              <a:t>Security policies for attachments and links can be tailored to match your </a:t>
            </a:r>
            <a:r>
              <a:rPr lang="en-US" b="0" i="0" dirty="0" err="1">
                <a:effectLst/>
                <a:latin typeface="Segoe UI" panose="020B0502040204020203" pitchFamily="34" charset="0"/>
              </a:rPr>
              <a:t>organisation’s</a:t>
            </a:r>
            <a:r>
              <a:rPr lang="en-US" b="0" i="0" dirty="0">
                <a:effectLst/>
                <a:latin typeface="Segoe UI" panose="020B0502040204020203" pitchFamily="34" charset="0"/>
              </a:rPr>
              <a:t> risk tolerance and user experience needs. Regularly review and adjust these policies as threats evolve.</a:t>
            </a:r>
          </a:p>
          <a:p>
            <a:pPr>
              <a:lnSpc>
                <a:spcPts val="1500"/>
              </a:lnSpc>
              <a:buNone/>
            </a:pPr>
            <a:r>
              <a:rPr lang="en-US" b="1" i="0" dirty="0">
                <a:effectLst/>
                <a:latin typeface="Segoe UI" panose="020B0502040204020203" pitchFamily="34" charset="0"/>
              </a:rPr>
              <a:t>Practical Guidance:</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1" i="0" dirty="0">
                <a:effectLst/>
                <a:latin typeface="Segoe UI" panose="020B0502040204020203" pitchFamily="34" charset="0"/>
              </a:rPr>
              <a:t>Regular Policy Reviews:</a:t>
            </a:r>
            <a:br>
              <a:rPr lang="en-US" b="0" i="0" dirty="0">
                <a:effectLst/>
                <a:latin typeface="Segoe UI" panose="020B0502040204020203" pitchFamily="34" charset="0"/>
              </a:rPr>
            </a:br>
            <a:r>
              <a:rPr lang="en-US" b="0" i="0" dirty="0">
                <a:effectLst/>
                <a:latin typeface="Segoe UI" panose="020B0502040204020203" pitchFamily="34" charset="0"/>
              </a:rPr>
              <a:t>Schedule periodic reviews of your security settings to ensure they remain effective against new threats.</a:t>
            </a:r>
          </a:p>
          <a:p>
            <a:pPr>
              <a:lnSpc>
                <a:spcPts val="1500"/>
              </a:lnSpc>
              <a:buFont typeface="Arial" panose="020B0604020202020204" pitchFamily="34" charset="0"/>
              <a:buChar char="•"/>
            </a:pPr>
            <a:r>
              <a:rPr lang="en-US" b="1" i="0" dirty="0">
                <a:effectLst/>
                <a:latin typeface="Segoe UI" panose="020B0502040204020203" pitchFamily="34" charset="0"/>
              </a:rPr>
              <a:t>User Education:</a:t>
            </a:r>
            <a:br>
              <a:rPr lang="en-US" b="0" i="0" dirty="0">
                <a:effectLst/>
                <a:latin typeface="Segoe UI" panose="020B0502040204020203" pitchFamily="34" charset="0"/>
              </a:rPr>
            </a:br>
            <a:r>
              <a:rPr lang="en-US" b="0" i="0" dirty="0">
                <a:effectLst/>
                <a:latin typeface="Segoe UI" panose="020B0502040204020203" pitchFamily="34" charset="0"/>
              </a:rPr>
              <a:t>Train staff to </a:t>
            </a:r>
            <a:r>
              <a:rPr lang="en-US" b="0" i="0" dirty="0" err="1">
                <a:effectLst/>
                <a:latin typeface="Segoe UI" panose="020B0502040204020203" pitchFamily="34" charset="0"/>
              </a:rPr>
              <a:t>recognise</a:t>
            </a:r>
            <a:r>
              <a:rPr lang="en-US" b="0" i="0" dirty="0">
                <a:effectLst/>
                <a:latin typeface="Segoe UI" panose="020B0502040204020203" pitchFamily="34" charset="0"/>
              </a:rPr>
              <a:t> suspicious emails and links, even with technical protections in place.</a:t>
            </a:r>
          </a:p>
          <a:p>
            <a:pPr>
              <a:lnSpc>
                <a:spcPts val="1500"/>
              </a:lnSpc>
              <a:buFont typeface="Arial" panose="020B0604020202020204" pitchFamily="34" charset="0"/>
              <a:buChar char="•"/>
            </a:pPr>
            <a:r>
              <a:rPr lang="en-US" b="1" i="0" dirty="0">
                <a:effectLst/>
                <a:latin typeface="Segoe UI" panose="020B0502040204020203" pitchFamily="34" charset="0"/>
              </a:rPr>
              <a:t>Monitoring &amp; Analytics:</a:t>
            </a:r>
            <a:br>
              <a:rPr lang="en-US" b="0" i="0" dirty="0">
                <a:effectLst/>
                <a:latin typeface="Segoe UI" panose="020B0502040204020203" pitchFamily="34" charset="0"/>
              </a:rPr>
            </a:br>
            <a:r>
              <a:rPr lang="en-US" b="0" i="0" dirty="0">
                <a:effectLst/>
                <a:latin typeface="Segoe UI" panose="020B0502040204020203" pitchFamily="34" charset="0"/>
              </a:rPr>
              <a:t>Use Microsoft Defender XDR’s reporting tools to track threats and measure the effectiveness of your policies.</a:t>
            </a:r>
          </a:p>
          <a:p>
            <a:pPr>
              <a:lnSpc>
                <a:spcPts val="1500"/>
              </a:lnSpc>
              <a:buNone/>
            </a:pPr>
            <a:r>
              <a:rPr lang="en-US" b="1" i="0" dirty="0">
                <a:effectLst/>
                <a:latin typeface="Segoe UI" panose="020B0502040204020203" pitchFamily="34" charset="0"/>
              </a:rPr>
              <a:t>Next Steps:</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1" i="0" dirty="0">
                <a:effectLst/>
                <a:latin typeface="Segoe UI" panose="020B0502040204020203" pitchFamily="34" charset="0"/>
              </a:rPr>
              <a:t>Implement Threat Protection:</a:t>
            </a:r>
            <a:br>
              <a:rPr lang="en-US" b="0" i="0" dirty="0">
                <a:effectLst/>
                <a:latin typeface="Segoe UI" panose="020B0502040204020203" pitchFamily="34" charset="0"/>
              </a:rPr>
            </a:br>
            <a:r>
              <a:rPr lang="en-US" b="0" i="0" dirty="0">
                <a:effectLst/>
                <a:latin typeface="Segoe UI" panose="020B0502040204020203" pitchFamily="34" charset="0"/>
              </a:rPr>
              <a:t>Move beyond email security by deploying Microsoft Defender XDR across all apps, endpoints, and email systems. This will help protect your organisation from a wider range of cyber threats.</a:t>
            </a:r>
          </a:p>
          <a:p>
            <a:pPr>
              <a:lnSpc>
                <a:spcPts val="1500"/>
              </a:lnSpc>
              <a:buFont typeface="Arial" panose="020B0604020202020204" pitchFamily="34" charset="0"/>
              <a:buChar char="•"/>
            </a:pPr>
            <a:r>
              <a:rPr lang="en-US" b="1" i="0" dirty="0">
                <a:effectLst/>
                <a:latin typeface="Segoe UI" panose="020B0502040204020203" pitchFamily="34" charset="0"/>
              </a:rPr>
              <a:t>Explore Further Learning:</a:t>
            </a:r>
            <a:br>
              <a:rPr lang="en-US" b="0" i="0" dirty="0">
                <a:effectLst/>
                <a:latin typeface="Segoe UI" panose="020B0502040204020203" pitchFamily="34" charset="0"/>
              </a:rPr>
            </a:br>
            <a:r>
              <a:rPr lang="en-US" b="0" i="0" dirty="0">
                <a:effectLst/>
                <a:latin typeface="Segoe UI" panose="020B0502040204020203" pitchFamily="34" charset="0"/>
              </a:rPr>
              <a:t>Continue with the next modules to learn how to set up and manage threat protection in detail.</a:t>
            </a:r>
          </a:p>
          <a:p>
            <a:pPr>
              <a:lnSpc>
                <a:spcPts val="1500"/>
              </a:lnSpc>
              <a:buNone/>
            </a:pPr>
            <a:r>
              <a:rPr lang="en-US" b="1" i="0" dirty="0">
                <a:effectLst/>
                <a:latin typeface="Segoe UI" panose="020B0502040204020203" pitchFamily="34" charset="0"/>
              </a:rPr>
              <a:t>References for Further Study:</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0" i="0" u="none" strike="noStrike" dirty="0">
                <a:solidFill>
                  <a:srgbClr val="464FEB"/>
                </a:solidFill>
                <a:effectLst/>
                <a:latin typeface="Segoe UI" panose="020B0502040204020203" pitchFamily="34" charset="0"/>
              </a:rPr>
              <a:t>https://learn.microsoft.com/en-us/training/modules/examine-exchange-online-protection/#:~:text=,spam%20protection</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0" i="0" u="none" strike="noStrike" dirty="0">
                <a:solidFill>
                  <a:srgbClr val="464FEB"/>
                </a:solidFill>
                <a:effectLst/>
                <a:latin typeface="Segoe UI" panose="020B0502040204020203" pitchFamily="34" charset="0"/>
              </a:rPr>
              <a:t>https://learn.microsoft.com/en-us/training/modules/examine-microsoft-defender-office-365/#:~:text=,in%20email%20attachments%20and%20documents</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0" i="0" u="none" strike="noStrike" dirty="0">
                <a:solidFill>
                  <a:srgbClr val="464FEB"/>
                </a:solidFill>
                <a:effectLst/>
                <a:latin typeface="Segoe UI" panose="020B0502040204020203" pitchFamily="34" charset="0"/>
              </a:rPr>
              <a:t>https://learn.microsoft.com/en-us/training/modules/manage-safe-attachments-microsoft-365/#:~:text=Learning%20objectives</a:t>
            </a:r>
            <a:endParaRPr lang="en-US" b="0" i="0" dirty="0">
              <a:effectLst/>
              <a:latin typeface="Segoe UI" panose="020B0502040204020203" pitchFamily="34" charset="0"/>
            </a:endParaRPr>
          </a:p>
          <a:p>
            <a:pPr>
              <a:lnSpc>
                <a:spcPts val="1500"/>
              </a:lnSpc>
              <a:buFont typeface="Arial" panose="020B0604020202020204" pitchFamily="34" charset="0"/>
              <a:buChar char="•"/>
            </a:pPr>
            <a:r>
              <a:rPr lang="en-US" b="0" i="0" u="none" strike="noStrike" dirty="0">
                <a:solidFill>
                  <a:srgbClr val="464FEB"/>
                </a:solidFill>
                <a:effectLst/>
                <a:latin typeface="Segoe UI" panose="020B0502040204020203" pitchFamily="34" charset="0"/>
              </a:rPr>
              <a:t>https://learn.microsoft.com/en-us/training/modules/manage-safe-links-microsoft-365/#:~:text=By%20the%20end%20of%20this,you%20should%20be%20able%20to</a:t>
            </a:r>
            <a:endParaRPr lang="en-US" b="0" i="0" dirty="0">
              <a:effectLst/>
              <a:latin typeface="Segoe UI" panose="020B0502040204020203" pitchFamily="34"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learn.microsoft.com/en-us/training/modules/examine-exchange-online-protection/#:~:text=,spam%20protection"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training/modules/examine-exchange-online-protection/#:~:text=,spam%20protecti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training/modules/manage-safe-links-microsoft-365/#:~:text=By%20the%20end%20of%20this,you%20should%20be%20able%20to" TargetMode="External"/><Relationship Id="rId5" Type="http://schemas.openxmlformats.org/officeDocument/2006/relationships/hyperlink" Target="https://learn.microsoft.com/en-us/training/modules/manage-safe-attachments-microsoft-365/#:~:text=Learning%20objectives" TargetMode="External"/><Relationship Id="rId4" Type="http://schemas.openxmlformats.org/officeDocument/2006/relationships/hyperlink" Target="https://learn.microsoft.com/en-us/training/modules/examine-microsoft-defender-office-365/#:~:text=,in%20email%20attachments%20and%20documents"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training/modules/examine-exchange-online-protection/#:~:text=,spam%20protection"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learn.microsoft.com/en-us/training/modules/manage-safe-links-microsoft-365/#:~:text=By%20the%20end%20of%20this,you%20should%20be%20able%20to" TargetMode="External"/><Relationship Id="rId5" Type="http://schemas.openxmlformats.org/officeDocument/2006/relationships/hyperlink" Target="https://learn.microsoft.com/en-us/training/modules/manage-safe-attachments-microsoft-365/#:~:text=Learning%20objectives" TargetMode="External"/><Relationship Id="rId4" Type="http://schemas.openxmlformats.org/officeDocument/2006/relationships/hyperlink" Target="https://learn.microsoft.com/en-us/training/modules/examine-microsoft-defender-office-365/#:~:text=,in%20email%20attachments%20and%20documents"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learn.microsoft.com/en-us/training/modules/manage-safe-links-microsoft-365/#:~:text=By%20the%20end%20of%20this,you%20should%20be%20able%20to"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learn.microsoft.com/en-us/training/modules/manage-safe-attachments-microsoft-365/#:~:text=Learning%20objectives" TargetMode="External"/><Relationship Id="rId5" Type="http://schemas.openxmlformats.org/officeDocument/2006/relationships/hyperlink" Target="https://learn.microsoft.com/en-us/training/modules/examine-microsoft-defender-office-365/#:~:text=,in%20email%20attachments%20and%20documents" TargetMode="External"/><Relationship Id="rId4" Type="http://schemas.openxmlformats.org/officeDocument/2006/relationships/hyperlink" Target="https://learn.microsoft.com/en-us/training/modules/examine-exchange-online-protection/#:~:text=,spam%20prote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A4588A-55D5-49B8-BE41-54ACDCFF2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0" descr="preencoded.png"/>
          <p:cNvPicPr>
            <a:picLocks noChangeAspect="1"/>
          </p:cNvPicPr>
          <p:nvPr/>
        </p:nvPicPr>
        <p:blipFill>
          <a:blip r:embed="rId3"/>
          <a:srcRect t="19524" b="25548"/>
          <a:stretch>
            <a:fillRect/>
          </a:stretch>
        </p:blipFill>
        <p:spPr>
          <a:xfrm>
            <a:off x="20" y="10"/>
            <a:ext cx="9143980" cy="3352578"/>
          </a:xfrm>
          <a:prstGeom prst="rect">
            <a:avLst/>
          </a:prstGeom>
        </p:spPr>
      </p:pic>
      <p:sp>
        <p:nvSpPr>
          <p:cNvPr id="12" name="Rectangle: Rounded Corners 11">
            <a:extLst>
              <a:ext uri="{FF2B5EF4-FFF2-40B4-BE49-F238E27FC236}">
                <a16:creationId xmlns:a16="http://schemas.microsoft.com/office/drawing/2014/main" id="{F97E7EA2-EDCD-47E9-81BC-415C606D1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92524"/>
            <a:ext cx="7036903" cy="514827"/>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 0"/>
          <p:cNvSpPr/>
          <p:nvPr/>
        </p:nvSpPr>
        <p:spPr>
          <a:xfrm>
            <a:off x="425196" y="3155377"/>
            <a:ext cx="6417894" cy="402419"/>
          </a:xfrm>
          <a:prstGeom prst="rect">
            <a:avLst/>
          </a:prstGeom>
        </p:spPr>
        <p:txBody>
          <a:bodyPr vert="horz" lIns="91440" tIns="45720" rIns="91440" bIns="45720" rtlCol="0" anchor="ctr">
            <a:noAutofit/>
          </a:bodyPr>
          <a:lstStyle/>
          <a:p>
            <a:pPr marL="0" indent="0">
              <a:spcBef>
                <a:spcPct val="0"/>
              </a:spcBef>
            </a:pPr>
            <a:r>
              <a:rPr lang="en-US" sz="1200" b="1" dirty="0">
                <a:solidFill>
                  <a:schemeClr val="bg1"/>
                </a:solidFill>
              </a:rPr>
              <a:t>Manage your security services in Microsoft Defender XDR</a:t>
            </a:r>
          </a:p>
          <a:p>
            <a:pPr marL="0" indent="0">
              <a:spcBef>
                <a:spcPct val="0"/>
              </a:spcBef>
            </a:pPr>
            <a:r>
              <a:rPr lang="en-US" sz="1200" b="1" dirty="0">
                <a:solidFill>
                  <a:schemeClr val="bg1"/>
                </a:solidFill>
              </a:rPr>
              <a:t>Learning Path Overview</a:t>
            </a:r>
          </a:p>
        </p:txBody>
      </p:sp>
      <p:sp>
        <p:nvSpPr>
          <p:cNvPr id="3" name="Text 1"/>
          <p:cNvSpPr/>
          <p:nvPr/>
        </p:nvSpPr>
        <p:spPr>
          <a:xfrm>
            <a:off x="425196" y="3720677"/>
            <a:ext cx="8293608" cy="980720"/>
          </a:xfrm>
          <a:prstGeom prst="rect">
            <a:avLst/>
          </a:prstGeom>
        </p:spPr>
        <p:txBody>
          <a:bodyPr vert="horz" lIns="91440" tIns="45720" rIns="91440" bIns="45720" rtlCol="0">
            <a:normAutofit/>
          </a:bodyPr>
          <a:lstStyle/>
          <a:p>
            <a:pPr>
              <a:lnSpc>
                <a:spcPct val="90000"/>
              </a:lnSpc>
              <a:spcAft>
                <a:spcPts val="600"/>
              </a:spcAft>
            </a:pPr>
            <a:r>
              <a:rPr lang="en-US" sz="1300" dirty="0"/>
              <a:t>Learn how to protect email and collaboration with Exchange Online Protection, Safe Attachments and Safe Links.</a:t>
            </a:r>
          </a:p>
        </p:txBody>
      </p:sp>
      <p:sp>
        <p:nvSpPr>
          <p:cNvPr id="5" name="Text 2"/>
          <p:cNvSpPr/>
          <p:nvPr/>
        </p:nvSpPr>
        <p:spPr>
          <a:xfrm>
            <a:off x="457200" y="4745549"/>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4"/>
              </a:rPr>
              <a:t>[1]</a:t>
            </a:r>
            <a:endParaRPr lang="en-US" sz="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4" y="1059943"/>
            <a:ext cx="5148263"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45" y="1067553"/>
            <a:ext cx="5148262"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575074" y="2694958"/>
            <a:ext cx="1878222"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727961"/>
            <a:ext cx="2925267" cy="3137121"/>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59951" y="1052331"/>
            <a:ext cx="5148265"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350041" y="440548"/>
            <a:ext cx="2401025" cy="2542975"/>
          </a:xfrm>
          <a:prstGeom prst="rect">
            <a:avLst/>
          </a:prstGeom>
        </p:spPr>
        <p:txBody>
          <a:bodyPr vert="horz" lIns="91440" tIns="45720" rIns="91440" bIns="45720" rtlCol="0" anchor="b">
            <a:normAutofit/>
          </a:bodyPr>
          <a:lstStyle/>
          <a:p>
            <a:pPr marL="0" indent="0" algn="r">
              <a:lnSpc>
                <a:spcPct val="90000"/>
              </a:lnSpc>
              <a:spcBef>
                <a:spcPct val="0"/>
              </a:spcBef>
              <a:spcAft>
                <a:spcPts val="600"/>
              </a:spcAft>
            </a:pPr>
            <a:r>
              <a:rPr lang="en-US" sz="3000" kern="1200">
                <a:solidFill>
                  <a:srgbClr val="FFFFFF"/>
                </a:solidFill>
                <a:latin typeface="+mj-lt"/>
                <a:ea typeface="+mj-ea"/>
                <a:cs typeface="+mj-cs"/>
              </a:rPr>
              <a:t>Learning Objectives</a:t>
            </a:r>
          </a:p>
        </p:txBody>
      </p:sp>
      <p:sp>
        <p:nvSpPr>
          <p:cNvPr id="4" name="Text 2"/>
          <p:cNvSpPr/>
          <p:nvPr/>
        </p:nvSpPr>
        <p:spPr>
          <a:xfrm>
            <a:off x="3607694" y="487561"/>
            <a:ext cx="4916510" cy="4163386"/>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sz="1500"/>
              <a:t>Understand how Exchange Online Protection filters spam and malware and protects outbound email.</a:t>
            </a:r>
            <a:br>
              <a:rPr lang="en-US" sz="1500"/>
            </a:br>
            <a:r>
              <a:rPr lang="en-US" sz="1500"/>
              <a:t>Enhance email security with Safe Attachments and Safe Links in Defender for Office 365.</a:t>
            </a:r>
          </a:p>
          <a:p>
            <a:pPr marL="285750" indent="-228600">
              <a:lnSpc>
                <a:spcPct val="90000"/>
              </a:lnSpc>
              <a:spcAft>
                <a:spcPts val="600"/>
              </a:spcAft>
              <a:buFont typeface="Arial" panose="020B0604020202020204" pitchFamily="34" charset="0"/>
              <a:buChar char="•"/>
            </a:pPr>
            <a:r>
              <a:rPr lang="en-US" sz="1500"/>
              <a:t>Create and modify Safe Attachments policies and understand the end‑user experience.</a:t>
            </a:r>
          </a:p>
          <a:p>
            <a:pPr marL="285750" indent="-228600">
              <a:lnSpc>
                <a:spcPct val="90000"/>
              </a:lnSpc>
              <a:spcAft>
                <a:spcPts val="600"/>
              </a:spcAft>
              <a:buFont typeface="Arial" panose="020B0604020202020204" pitchFamily="34" charset="0"/>
              <a:buChar char="•"/>
            </a:pPr>
            <a:r>
              <a:rPr lang="en-US" sz="1500"/>
              <a:t>Configure Safe Links policies and protect users from malicious URLs across workloads.</a:t>
            </a:r>
          </a:p>
        </p:txBody>
      </p:sp>
      <p:sp>
        <p:nvSpPr>
          <p:cNvPr id="11" name="Text 9"/>
          <p:cNvSpPr/>
          <p:nvPr/>
        </p:nvSpPr>
        <p:spPr>
          <a:xfrm>
            <a:off x="457200" y="4754880"/>
            <a:ext cx="8229600" cy="274320"/>
          </a:xfrm>
          <a:prstGeom prst="rect">
            <a:avLst/>
          </a:prstGeom>
          <a:noFill/>
          <a:ln/>
        </p:spPr>
        <p:txBody>
          <a:bodyPr wrap="square" lIns="0" tIns="0" rIns="0" bIns="0" rtlCol="0" anchor="ctr"/>
          <a:lstStyle/>
          <a:p>
            <a:pPr marL="0" indent="0" algn="l">
              <a:spcAft>
                <a:spcPts val="600"/>
              </a:spcAft>
              <a:buNone/>
            </a:pPr>
            <a:r>
              <a:rPr lang="en-US" sz="600" u="sng" dirty="0">
                <a:solidFill>
                  <a:srgbClr val="4472C4"/>
                </a:solidFill>
                <a:hlinkClick r:id="rId3"/>
              </a:rPr>
              <a:t>[2]</a:t>
            </a:r>
            <a:r>
              <a:rPr lang="en-US" sz="600" dirty="0">
                <a:solidFill>
                  <a:srgbClr val="000000"/>
                </a:solidFill>
              </a:rPr>
              <a:t>  </a:t>
            </a:r>
            <a:r>
              <a:rPr lang="en-US" sz="600" u="sng" dirty="0">
                <a:solidFill>
                  <a:srgbClr val="4472C4"/>
                </a:solidFill>
                <a:hlinkClick r:id="rId4"/>
              </a:rPr>
              <a:t>[3]</a:t>
            </a:r>
            <a:r>
              <a:rPr lang="en-US" sz="600" dirty="0">
                <a:solidFill>
                  <a:srgbClr val="000000"/>
                </a:solidFill>
              </a:rPr>
              <a:t>  </a:t>
            </a:r>
            <a:r>
              <a:rPr lang="en-US" sz="600" u="sng" dirty="0">
                <a:solidFill>
                  <a:srgbClr val="4472C4"/>
                </a:solidFill>
                <a:hlinkClick r:id="rId5"/>
              </a:rPr>
              <a:t>[4]</a:t>
            </a:r>
            <a:r>
              <a:rPr lang="en-US" sz="600" dirty="0">
                <a:solidFill>
                  <a:srgbClr val="000000"/>
                </a:solidFill>
              </a:rPr>
              <a:t>  </a:t>
            </a:r>
            <a:r>
              <a:rPr lang="en-US" sz="600" u="sng" dirty="0">
                <a:solidFill>
                  <a:srgbClr val="4472C4"/>
                </a:solidFill>
                <a:hlinkClick r:id="rId6"/>
              </a:rPr>
              <a:t>[5]</a:t>
            </a:r>
            <a:endParaRPr lang="en-US" sz="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8262"/>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183060"/>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182689"/>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9144001" cy="1181825"/>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24784" y="186200"/>
            <a:ext cx="5297791" cy="870205"/>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b="1" kern="1200">
                <a:solidFill>
                  <a:srgbClr val="FFFFFF"/>
                </a:solidFill>
                <a:latin typeface="+mj-lt"/>
                <a:ea typeface="+mj-ea"/>
                <a:cs typeface="+mj-cs"/>
              </a:rPr>
              <a:t>Modules Overview</a:t>
            </a:r>
            <a:endParaRPr lang="en-US" sz="3000" kern="1200">
              <a:solidFill>
                <a:srgbClr val="FFFFFF"/>
              </a:solidFill>
              <a:latin typeface="+mj-lt"/>
              <a:ea typeface="+mj-ea"/>
              <a:cs typeface="+mj-cs"/>
            </a:endParaRPr>
          </a:p>
        </p:txBody>
      </p:sp>
      <p:sp>
        <p:nvSpPr>
          <p:cNvPr id="3" name="Text 1"/>
          <p:cNvSpPr/>
          <p:nvPr/>
        </p:nvSpPr>
        <p:spPr>
          <a:xfrm>
            <a:off x="6429374" y="293395"/>
            <a:ext cx="2425189" cy="655816"/>
          </a:xfrm>
          <a:prstGeom prst="rect">
            <a:avLst/>
          </a:prstGeom>
        </p:spPr>
        <p:txBody>
          <a:bodyPr vert="horz" lIns="91440" tIns="45720" rIns="91440" bIns="45720" rtlCol="0" anchor="ctr">
            <a:normAutofit/>
          </a:bodyPr>
          <a:lstStyle/>
          <a:p>
            <a:pPr>
              <a:lnSpc>
                <a:spcPct val="90000"/>
              </a:lnSpc>
              <a:spcBef>
                <a:spcPts val="1000"/>
              </a:spcBef>
            </a:pPr>
            <a:r>
              <a:rPr lang="en-US" sz="1500" u="sng" kern="1200">
                <a:solidFill>
                  <a:srgbClr val="FFFFFF"/>
                </a:solidFill>
                <a:latin typeface="+mn-lt"/>
                <a:ea typeface="+mn-ea"/>
                <a:cs typeface="+mn-cs"/>
                <a:hlinkClick r:id="rId3"/>
              </a:rPr>
              <a:t>[6]</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4"/>
              </a:rPr>
              <a:t>[7]</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5"/>
              </a:rPr>
              <a:t>[8]</a:t>
            </a:r>
            <a:r>
              <a:rPr lang="en-US" sz="1500" kern="1200">
                <a:solidFill>
                  <a:srgbClr val="FFFFFF"/>
                </a:solidFill>
                <a:latin typeface="+mn-lt"/>
                <a:ea typeface="+mn-ea"/>
                <a:cs typeface="+mn-cs"/>
              </a:rPr>
              <a:t>  </a:t>
            </a:r>
            <a:r>
              <a:rPr lang="en-US" sz="1500" u="sng" kern="1200">
                <a:solidFill>
                  <a:srgbClr val="FFFFFF"/>
                </a:solidFill>
                <a:latin typeface="+mn-lt"/>
                <a:ea typeface="+mn-ea"/>
                <a:cs typeface="+mn-cs"/>
                <a:hlinkClick r:id="rId6"/>
              </a:rPr>
              <a:t>[9]</a:t>
            </a:r>
            <a:endParaRPr lang="en-US" sz="1500" kern="1200">
              <a:solidFill>
                <a:srgbClr val="FFFFFF"/>
              </a:solidFill>
              <a:latin typeface="+mn-lt"/>
              <a:ea typeface="+mn-ea"/>
              <a:cs typeface="+mn-cs"/>
            </a:endParaRPr>
          </a:p>
        </p:txBody>
      </p:sp>
      <p:graphicFrame>
        <p:nvGraphicFramePr>
          <p:cNvPr id="4" name="Table 0"/>
          <p:cNvGraphicFramePr>
            <a:graphicFrameLocks noGrp="1"/>
          </p:cNvGraphicFramePr>
          <p:nvPr>
            <p:extLst>
              <p:ext uri="{D42A27DB-BD31-4B8C-83A1-F6EECF244321}">
                <p14:modId xmlns:p14="http://schemas.microsoft.com/office/powerpoint/2010/main" val="2029231832"/>
              </p:ext>
            </p:extLst>
          </p:nvPr>
        </p:nvGraphicFramePr>
        <p:xfrm>
          <a:off x="324168" y="1494516"/>
          <a:ext cx="8495663" cy="3305354"/>
        </p:xfrm>
        <a:graphic>
          <a:graphicData uri="http://schemas.openxmlformats.org/drawingml/2006/table">
            <a:tbl>
              <a:tblPr firstRow="1" bandRow="1"/>
              <a:tblGrid>
                <a:gridCol w="3732583">
                  <a:extLst>
                    <a:ext uri="{9D8B030D-6E8A-4147-A177-3AD203B41FA5}">
                      <a16:colId xmlns:a16="http://schemas.microsoft.com/office/drawing/2014/main" val="20000"/>
                    </a:ext>
                  </a:extLst>
                </a:gridCol>
                <a:gridCol w="4763080">
                  <a:extLst>
                    <a:ext uri="{9D8B030D-6E8A-4147-A177-3AD203B41FA5}">
                      <a16:colId xmlns:a16="http://schemas.microsoft.com/office/drawing/2014/main" val="20001"/>
                    </a:ext>
                  </a:extLst>
                </a:gridCol>
              </a:tblGrid>
              <a:tr h="474854">
                <a:tc>
                  <a:txBody>
                    <a:bodyPr/>
                    <a:lstStyle/>
                    <a:p>
                      <a:pPr marL="0" indent="0" algn="l">
                        <a:buNone/>
                      </a:pPr>
                      <a:r>
                        <a:rPr lang="en-US" sz="1800" b="1">
                          <a:solidFill>
                            <a:srgbClr val="FFFFFF"/>
                          </a:solidFill>
                        </a:rPr>
                        <a:t>Module</a:t>
                      </a:r>
                      <a:endParaRPr lang="en-US" sz="1800"/>
                    </a:p>
                  </a:txBody>
                  <a:tcPr marL="139663" marR="139663" marT="69831" marB="69831">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tc>
                  <a:txBody>
                    <a:bodyPr/>
                    <a:lstStyle/>
                    <a:p>
                      <a:pPr marL="0" indent="0" algn="l">
                        <a:buNone/>
                      </a:pPr>
                      <a:r>
                        <a:rPr lang="en-US" sz="1800" b="1">
                          <a:solidFill>
                            <a:srgbClr val="FFFFFF"/>
                          </a:solidFill>
                        </a:rPr>
                        <a:t>Key topics</a:t>
                      </a:r>
                      <a:endParaRPr lang="en-US" sz="1800"/>
                    </a:p>
                  </a:txBody>
                  <a:tcPr marL="139663" marR="139663" marT="69831" marB="69831">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07625">
                <a:tc>
                  <a:txBody>
                    <a:bodyPr/>
                    <a:lstStyle/>
                    <a:p>
                      <a:pPr marL="0" indent="0" algn="l">
                        <a:buNone/>
                      </a:pPr>
                      <a:r>
                        <a:rPr lang="en-US" sz="1700">
                          <a:solidFill>
                            <a:srgbClr val="1F4E79"/>
                          </a:solidFill>
                        </a:rPr>
                        <a:t>Exchange Online Protection</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700">
                          <a:solidFill>
                            <a:srgbClr val="35547B"/>
                          </a:solidFill>
                        </a:rPr>
                        <a:t>Anti‑spam &amp; anti‑malware filtering; outbound spam control</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1"/>
                  </a:ext>
                </a:extLst>
              </a:tr>
              <a:tr h="707625">
                <a:tc>
                  <a:txBody>
                    <a:bodyPr/>
                    <a:lstStyle/>
                    <a:p>
                      <a:pPr marL="0" indent="0" algn="l">
                        <a:buNone/>
                      </a:pPr>
                      <a:r>
                        <a:rPr lang="en-US" sz="1700">
                          <a:solidFill>
                            <a:srgbClr val="1F4E79"/>
                          </a:solidFill>
                        </a:rPr>
                        <a:t>Defender for Office 365 – overview</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700">
                          <a:solidFill>
                            <a:srgbClr val="35547B"/>
                          </a:solidFill>
                        </a:rPr>
                        <a:t>Safe Attachments &amp; Safe Links; spam filtering policies; submission to Microsoft</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7625">
                <a:tc>
                  <a:txBody>
                    <a:bodyPr/>
                    <a:lstStyle/>
                    <a:p>
                      <a:pPr marL="0" indent="0" algn="l">
                        <a:buNone/>
                      </a:pPr>
                      <a:r>
                        <a:rPr lang="en-US" sz="1700">
                          <a:solidFill>
                            <a:srgbClr val="1F4E79"/>
                          </a:solidFill>
                        </a:rPr>
                        <a:t>Manage Safe Attachments</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tc>
                  <a:txBody>
                    <a:bodyPr/>
                    <a:lstStyle/>
                    <a:p>
                      <a:pPr marL="0" indent="0" algn="l">
                        <a:buNone/>
                      </a:pPr>
                      <a:r>
                        <a:rPr lang="en-US" sz="1700">
                          <a:solidFill>
                            <a:srgbClr val="35547B"/>
                          </a:solidFill>
                        </a:rPr>
                        <a:t>Create policies, configure options, user experience, transport rules</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6F9FC"/>
                    </a:solidFill>
                  </a:tcPr>
                </a:tc>
                <a:extLst>
                  <a:ext uri="{0D108BD9-81ED-4DB2-BD59-A6C34878D82A}">
                    <a16:rowId xmlns:a16="http://schemas.microsoft.com/office/drawing/2014/main" val="10003"/>
                  </a:ext>
                </a:extLst>
              </a:tr>
              <a:tr h="707625">
                <a:tc>
                  <a:txBody>
                    <a:bodyPr/>
                    <a:lstStyle/>
                    <a:p>
                      <a:pPr marL="0" indent="0" algn="l">
                        <a:buNone/>
                      </a:pPr>
                      <a:r>
                        <a:rPr lang="en-US" sz="1700">
                          <a:solidFill>
                            <a:srgbClr val="1F4E79"/>
                          </a:solidFill>
                        </a:rPr>
                        <a:t>Manage Safe Links</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tc>
                  <a:txBody>
                    <a:bodyPr/>
                    <a:lstStyle/>
                    <a:p>
                      <a:pPr marL="0" indent="0" algn="l">
                        <a:buNone/>
                      </a:pPr>
                      <a:r>
                        <a:rPr lang="en-US" sz="1700">
                          <a:solidFill>
                            <a:srgbClr val="35547B"/>
                          </a:solidFill>
                        </a:rPr>
                        <a:t>Create policies, configure options, user experience, transport rules</a:t>
                      </a:r>
                      <a:endParaRPr lang="en-US" sz="1700"/>
                    </a:p>
                  </a:txBody>
                  <a:tcPr marL="139663" marR="139663" marT="69831" marB="69831" anchor="ctr">
                    <a:lnL w="3810" cap="flat" cmpd="sng" algn="ctr">
                      <a:solidFill>
                        <a:srgbClr val="D9E2EF"/>
                      </a:solidFill>
                      <a:prstDash val="solid"/>
                      <a:round/>
                      <a:headEnd type="none" w="med" len="med"/>
                      <a:tailEnd type="none" w="med" len="med"/>
                    </a:lnL>
                    <a:lnR w="3810" cap="flat" cmpd="sng" algn="ctr">
                      <a:solidFill>
                        <a:srgbClr val="D9E2EF"/>
                      </a:solidFill>
                      <a:prstDash val="solid"/>
                      <a:round/>
                      <a:headEnd type="none" w="med" len="med"/>
                      <a:tailEnd type="none" w="med" len="med"/>
                    </a:lnR>
                    <a:lnT w="3810" cap="flat" cmpd="sng" algn="ctr">
                      <a:solidFill>
                        <a:srgbClr val="D9E2EF"/>
                      </a:solidFill>
                      <a:prstDash val="solid"/>
                      <a:round/>
                      <a:headEnd type="none" w="med" len="med"/>
                      <a:tailEnd type="none" w="med" len="med"/>
                    </a:lnT>
                    <a:lnB w="3810" cap="flat" cmpd="sng" algn="ctr">
                      <a:solidFill>
                        <a:srgbClr val="D9E2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buNone/>
            </a:pPr>
            <a:r>
              <a:rPr lang="en-US" sz="2600" b="1" dirty="0">
                <a:solidFill>
                  <a:srgbClr val="1F4E79"/>
                </a:solidFill>
              </a:rPr>
              <a:t>Summary &amp; Next Steps</a:t>
            </a:r>
            <a:endParaRPr lang="en-US" sz="2600" dirty="0"/>
          </a:p>
        </p:txBody>
      </p:sp>
      <p:sp>
        <p:nvSpPr>
          <p:cNvPr id="3" name="Text 1"/>
          <p:cNvSpPr/>
          <p:nvPr/>
        </p:nvSpPr>
        <p:spPr>
          <a:xfrm>
            <a:off x="548640" y="1188720"/>
            <a:ext cx="5120640" cy="2011680"/>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35547B"/>
                </a:solidFill>
              </a:rPr>
              <a:t>Exchange Online Protection acts as your first line of defence against spam, malware and phishing.</a:t>
            </a:r>
          </a:p>
          <a:p>
            <a:pPr marL="171450" indent="-171450">
              <a:buFont typeface="Arial" panose="020B0604020202020204" pitchFamily="34" charset="0"/>
              <a:buChar char="•"/>
            </a:pPr>
            <a:r>
              <a:rPr lang="en-US" sz="1200" dirty="0">
                <a:solidFill>
                  <a:srgbClr val="35547B"/>
                </a:solidFill>
              </a:rPr>
              <a:t>Safe Attachments and Safe Links policies provide proactive zero‑day protection for files and URLs.</a:t>
            </a:r>
          </a:p>
          <a:p>
            <a:pPr marL="171450" indent="-171450">
              <a:buFont typeface="Arial" panose="020B0604020202020204" pitchFamily="34" charset="0"/>
              <a:buChar char="•"/>
            </a:pPr>
            <a:r>
              <a:rPr lang="en-US" sz="1200" dirty="0" err="1">
                <a:solidFill>
                  <a:srgbClr val="35547B"/>
                </a:solidFill>
              </a:rPr>
              <a:t>Customise</a:t>
            </a:r>
            <a:r>
              <a:rPr lang="en-US" sz="1200" dirty="0">
                <a:solidFill>
                  <a:srgbClr val="35547B"/>
                </a:solidFill>
              </a:rPr>
              <a:t> policies to suit your organisation’s risk tolerance and end‑user experience.</a:t>
            </a:r>
            <a:endParaRPr lang="en-US" sz="1200" dirty="0"/>
          </a:p>
        </p:txBody>
      </p:sp>
      <p:sp>
        <p:nvSpPr>
          <p:cNvPr id="4" name="Shape 2"/>
          <p:cNvSpPr/>
          <p:nvPr/>
        </p:nvSpPr>
        <p:spPr>
          <a:xfrm>
            <a:off x="5852160" y="1188720"/>
            <a:ext cx="2926080" cy="1828800"/>
          </a:xfrm>
          <a:prstGeom prst="roundRect">
            <a:avLst>
              <a:gd name="adj" fmla="val 5000"/>
            </a:avLst>
          </a:prstGeom>
          <a:solidFill>
            <a:srgbClr val="E9F2FB"/>
          </a:solidFill>
          <a:ln w="12700">
            <a:solidFill>
              <a:srgbClr val="B3CCE6"/>
            </a:solidFill>
            <a:prstDash val="solid"/>
          </a:ln>
        </p:spPr>
        <p:txBody>
          <a:bodyPr/>
          <a:lstStyle/>
          <a:p>
            <a:endParaRPr/>
          </a:p>
        </p:txBody>
      </p:sp>
      <p:pic>
        <p:nvPicPr>
          <p:cNvPr id="5" name="Image 0" descr="preencoded.png"/>
          <p:cNvPicPr>
            <a:picLocks noChangeAspect="1"/>
          </p:cNvPicPr>
          <p:nvPr/>
        </p:nvPicPr>
        <p:blipFill>
          <a:blip r:embed="rId3"/>
          <a:stretch>
            <a:fillRect/>
          </a:stretch>
        </p:blipFill>
        <p:spPr>
          <a:xfrm>
            <a:off x="6035040" y="1371600"/>
            <a:ext cx="365760" cy="365760"/>
          </a:xfrm>
          <a:prstGeom prst="rect">
            <a:avLst/>
          </a:prstGeom>
        </p:spPr>
      </p:pic>
      <p:sp>
        <p:nvSpPr>
          <p:cNvPr id="6" name="Text 3"/>
          <p:cNvSpPr/>
          <p:nvPr/>
        </p:nvSpPr>
        <p:spPr>
          <a:xfrm>
            <a:off x="6492240" y="1371600"/>
            <a:ext cx="2103120" cy="731520"/>
          </a:xfrm>
          <a:prstGeom prst="rect">
            <a:avLst/>
          </a:prstGeom>
          <a:noFill/>
          <a:ln/>
        </p:spPr>
        <p:txBody>
          <a:bodyPr wrap="square" rtlCol="0" anchor="ctr"/>
          <a:lstStyle/>
          <a:p>
            <a:pPr marL="0" indent="0" algn="l">
              <a:buNone/>
            </a:pPr>
            <a:r>
              <a:rPr lang="en-US" sz="1200" b="1" dirty="0">
                <a:solidFill>
                  <a:srgbClr val="1F4E79"/>
                </a:solidFill>
              </a:rPr>
              <a:t>Proceed to 
</a:t>
            </a:r>
            <a:r>
              <a:rPr lang="en-US" sz="1200" i="1" dirty="0">
                <a:solidFill>
                  <a:srgbClr val="35547B"/>
                </a:solidFill>
              </a:rPr>
              <a:t>“Implement threat protection”</a:t>
            </a:r>
            <a:endParaRPr lang="en-US" sz="1200" dirty="0"/>
          </a:p>
        </p:txBody>
      </p:sp>
      <p:sp>
        <p:nvSpPr>
          <p:cNvPr id="7" name="Text 4"/>
          <p:cNvSpPr/>
          <p:nvPr/>
        </p:nvSpPr>
        <p:spPr>
          <a:xfrm>
            <a:off x="6035040" y="2194560"/>
            <a:ext cx="2651760" cy="731520"/>
          </a:xfrm>
          <a:prstGeom prst="rect">
            <a:avLst/>
          </a:prstGeom>
          <a:noFill/>
          <a:ln/>
        </p:spPr>
        <p:txBody>
          <a:bodyPr wrap="square" rtlCol="0" anchor="ctr"/>
          <a:lstStyle/>
          <a:p>
            <a:pPr marL="0" indent="0">
              <a:buNone/>
            </a:pPr>
            <a:r>
              <a:rPr lang="en-US" sz="1000" dirty="0">
                <a:solidFill>
                  <a:srgbClr val="4A6588"/>
                </a:solidFill>
              </a:rPr>
              <a:t>Next, you will implement threat protection by using Microsoft Defender XDR across apps, endpoints and email.</a:t>
            </a:r>
            <a:endParaRPr lang="en-US" sz="1000" dirty="0"/>
          </a:p>
        </p:txBody>
      </p:sp>
      <p:sp>
        <p:nvSpPr>
          <p:cNvPr id="8" name="Text 5"/>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600" u="sng" dirty="0">
                <a:solidFill>
                  <a:srgbClr val="4472C4"/>
                </a:solidFill>
                <a:hlinkClick r:id="rId4"/>
              </a:rPr>
              <a:t>[10]</a:t>
            </a:r>
            <a:r>
              <a:rPr lang="en-US" sz="600" dirty="0">
                <a:solidFill>
                  <a:srgbClr val="000000"/>
                </a:solidFill>
              </a:rPr>
              <a:t>  </a:t>
            </a:r>
            <a:r>
              <a:rPr lang="en-US" sz="600" u="sng" dirty="0">
                <a:solidFill>
                  <a:srgbClr val="4472C4"/>
                </a:solidFill>
                <a:hlinkClick r:id="rId5"/>
              </a:rPr>
              <a:t>[11]</a:t>
            </a:r>
            <a:r>
              <a:rPr lang="en-US" sz="600" dirty="0">
                <a:solidFill>
                  <a:srgbClr val="000000"/>
                </a:solidFill>
              </a:rPr>
              <a:t>  </a:t>
            </a:r>
            <a:r>
              <a:rPr lang="en-US" sz="600" u="sng" dirty="0">
                <a:solidFill>
                  <a:srgbClr val="4472C4"/>
                </a:solidFill>
                <a:hlinkClick r:id="rId6"/>
              </a:rPr>
              <a:t>[12]</a:t>
            </a:r>
            <a:r>
              <a:rPr lang="en-US" sz="600" dirty="0">
                <a:solidFill>
                  <a:srgbClr val="000000"/>
                </a:solidFill>
              </a:rPr>
              <a:t>  </a:t>
            </a:r>
            <a:r>
              <a:rPr lang="en-US" sz="600" u="sng" dirty="0">
                <a:solidFill>
                  <a:srgbClr val="4472C4"/>
                </a:solidFill>
                <a:hlinkClick r:id="rId7"/>
              </a:rPr>
              <a:t>[13]</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2291</Words>
  <Application>Microsoft Office PowerPoint</Application>
  <PresentationFormat>Custom</PresentationFormat>
  <Paragraphs>137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Segoe UI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Raydo</cp:lastModifiedBy>
  <cp:revision>1</cp:revision>
  <dcterms:created xsi:type="dcterms:W3CDTF">2025-12-18T20:25:28Z</dcterms:created>
  <dcterms:modified xsi:type="dcterms:W3CDTF">2025-12-18T22:20:59Z</dcterms:modified>
</cp:coreProperties>
</file>